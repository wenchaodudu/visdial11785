
<file path=[Content_Types].xml><?xml version="1.0" encoding="utf-8"?>
<Types xmlns="http://schemas.openxmlformats.org/package/2006/content-types">
  <Default Extension="xml" ContentType="application/xml"/>
  <Default Extension="wmf" ContentType="image/x-wmf"/>
  <Default Extension="jpeg" ContentType="image/jpeg"/>
  <Default Extension="rels" ContentType="application/vnd.openxmlformats-package.relationships+xml"/>
  <Default Extension="vml" ContentType="application/vnd.openxmlformats-officedocument.vmlDrawing"/>
  <Default Extension="bin" ContentType="application/vnd.openxmlformats-officedocument.oleObject"/>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4" Type="http://schemas.openxmlformats.org/officeDocument/2006/relationships/extended-properties" Target="docProps/app.xml"/><Relationship Id="rId1" Type="http://schemas.openxmlformats.org/officeDocument/2006/relationships/officeDocument" Target="ppt/presentation.xml"/><Relationship Id="rId2" Type="http://schemas.openxmlformats.org/package/2006/relationships/metadata/thumbnail" Target="docProps/thumbnail.jpeg"/></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1"/>
    <p:sldMasterId id="2147483653" r:id="rId2"/>
  </p:sldMasterIdLst>
  <p:notesMasterIdLst>
    <p:notesMasterId r:id="rId4"/>
  </p:notesMasterIdLst>
  <p:handoutMasterIdLst>
    <p:handoutMasterId r:id="rId5"/>
  </p:handoutMasterIdLst>
  <p:sldIdLst>
    <p:sldId id="256" r:id="rId3"/>
  </p:sldIdLst>
  <p:sldSz cx="27432000" cy="32918400"/>
  <p:notesSz cx="6858000" cy="9144000"/>
  <p:defaultTextStyle>
    <a:defPPr>
      <a:defRPr lang="en-US"/>
    </a:defPPr>
    <a:lvl1pPr marL="0" algn="l" defTabSz="3765366" rtl="0" eaLnBrk="1" latinLnBrk="0" hangingPunct="1">
      <a:defRPr sz="7400" kern="1200">
        <a:solidFill>
          <a:schemeClr val="tx1"/>
        </a:solidFill>
        <a:latin typeface="+mn-lt"/>
        <a:ea typeface="+mn-ea"/>
        <a:cs typeface="+mn-cs"/>
      </a:defRPr>
    </a:lvl1pPr>
    <a:lvl2pPr marL="1882684" algn="l" defTabSz="3765366" rtl="0" eaLnBrk="1" latinLnBrk="0" hangingPunct="1">
      <a:defRPr sz="7400" kern="1200">
        <a:solidFill>
          <a:schemeClr val="tx1"/>
        </a:solidFill>
        <a:latin typeface="+mn-lt"/>
        <a:ea typeface="+mn-ea"/>
        <a:cs typeface="+mn-cs"/>
      </a:defRPr>
    </a:lvl2pPr>
    <a:lvl3pPr marL="3765366" algn="l" defTabSz="3765366" rtl="0" eaLnBrk="1" latinLnBrk="0" hangingPunct="1">
      <a:defRPr sz="7400" kern="1200">
        <a:solidFill>
          <a:schemeClr val="tx1"/>
        </a:solidFill>
        <a:latin typeface="+mn-lt"/>
        <a:ea typeface="+mn-ea"/>
        <a:cs typeface="+mn-cs"/>
      </a:defRPr>
    </a:lvl3pPr>
    <a:lvl4pPr marL="5648049" algn="l" defTabSz="3765366" rtl="0" eaLnBrk="1" latinLnBrk="0" hangingPunct="1">
      <a:defRPr sz="7400" kern="1200">
        <a:solidFill>
          <a:schemeClr val="tx1"/>
        </a:solidFill>
        <a:latin typeface="+mn-lt"/>
        <a:ea typeface="+mn-ea"/>
        <a:cs typeface="+mn-cs"/>
      </a:defRPr>
    </a:lvl4pPr>
    <a:lvl5pPr marL="7530731" algn="l" defTabSz="3765366" rtl="0" eaLnBrk="1" latinLnBrk="0" hangingPunct="1">
      <a:defRPr sz="7400" kern="1200">
        <a:solidFill>
          <a:schemeClr val="tx1"/>
        </a:solidFill>
        <a:latin typeface="+mn-lt"/>
        <a:ea typeface="+mn-ea"/>
        <a:cs typeface="+mn-cs"/>
      </a:defRPr>
    </a:lvl5pPr>
    <a:lvl6pPr marL="9413415" algn="l" defTabSz="3765366" rtl="0" eaLnBrk="1" latinLnBrk="0" hangingPunct="1">
      <a:defRPr sz="7400" kern="1200">
        <a:solidFill>
          <a:schemeClr val="tx1"/>
        </a:solidFill>
        <a:latin typeface="+mn-lt"/>
        <a:ea typeface="+mn-ea"/>
        <a:cs typeface="+mn-cs"/>
      </a:defRPr>
    </a:lvl6pPr>
    <a:lvl7pPr marL="11296099" algn="l" defTabSz="3765366" rtl="0" eaLnBrk="1" latinLnBrk="0" hangingPunct="1">
      <a:defRPr sz="7400" kern="1200">
        <a:solidFill>
          <a:schemeClr val="tx1"/>
        </a:solidFill>
        <a:latin typeface="+mn-lt"/>
        <a:ea typeface="+mn-ea"/>
        <a:cs typeface="+mn-cs"/>
      </a:defRPr>
    </a:lvl7pPr>
    <a:lvl8pPr marL="13178781" algn="l" defTabSz="3765366" rtl="0" eaLnBrk="1" latinLnBrk="0" hangingPunct="1">
      <a:defRPr sz="7400" kern="1200">
        <a:solidFill>
          <a:schemeClr val="tx1"/>
        </a:solidFill>
        <a:latin typeface="+mn-lt"/>
        <a:ea typeface="+mn-ea"/>
        <a:cs typeface="+mn-cs"/>
      </a:defRPr>
    </a:lvl8pPr>
    <a:lvl9pPr marL="15061465" algn="l" defTabSz="3765366" rtl="0" eaLnBrk="1" latinLnBrk="0" hangingPunct="1">
      <a:defRPr sz="74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18" userDrawn="1">
          <p15:clr>
            <a:srgbClr val="A4A3A4"/>
          </p15:clr>
        </p15:guide>
        <p15:guide id="2" orient="horz" pos="288" userDrawn="1">
          <p15:clr>
            <a:srgbClr val="A4A3A4"/>
          </p15:clr>
        </p15:guide>
        <p15:guide id="3" orient="horz" pos="20160" userDrawn="1">
          <p15:clr>
            <a:srgbClr val="A4A3A4"/>
          </p15:clr>
        </p15:guide>
        <p15:guide id="4" orient="horz" userDrawn="1">
          <p15:clr>
            <a:srgbClr val="A4A3A4"/>
          </p15:clr>
        </p15:guide>
        <p15:guide id="5" pos="364" userDrawn="1">
          <p15:clr>
            <a:srgbClr val="A4A3A4"/>
          </p15:clr>
        </p15:guide>
        <p15:guide id="6" pos="16918"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KOTOULAS" initials="AK" lastIdx="2" clrIdx="0"/>
  <p:cmAuthor id="1" name="A.KOTOULAS" initials="HELP" lastIdx="1" clrIdx="1"/>
  <p:cmAuthor id="2" name="A.KOTOULAS" initials="HELP - " lastIdx="1" clrIdx="2"/>
  <p:cmAuthor id="3" name="PosterPresentations.com - 510.649.3001" initials="HELP - " lastIdx="1" clrIdx="3"/>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3F5FA"/>
    <a:srgbClr val="CDD2DE"/>
    <a:srgbClr val="E3E9E5"/>
    <a:srgbClr val="EAEAEA"/>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941" autoAdjust="0"/>
    <p:restoredTop sz="94828" autoAdjust="0"/>
  </p:normalViewPr>
  <p:slideViewPr>
    <p:cSldViewPr snapToGrid="0" snapToObjects="1" showGuides="1">
      <p:cViewPr>
        <p:scale>
          <a:sx n="53" d="100"/>
          <a:sy n="53" d="100"/>
        </p:scale>
        <p:origin x="-1736" y="-4840"/>
      </p:cViewPr>
      <p:guideLst>
        <p:guide orient="horz" pos="3318"/>
        <p:guide orient="horz" pos="288"/>
        <p:guide orient="horz" pos="20160"/>
        <p:guide orient="horz"/>
        <p:guide pos="364"/>
        <p:guide pos="16918"/>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83" d="100"/>
          <a:sy n="83" d="100"/>
        </p:scale>
        <p:origin x="-2730" y="-84"/>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slide" Target="slides/slide1.xml"/><Relationship Id="rId4" Type="http://schemas.openxmlformats.org/officeDocument/2006/relationships/notesMaster" Target="notesMasters/notesMaster1.xml"/><Relationship Id="rId5" Type="http://schemas.openxmlformats.org/officeDocument/2006/relationships/handoutMaster" Target="handoutMasters/handoutMaster1.xml"/><Relationship Id="rId6" Type="http://schemas.openxmlformats.org/officeDocument/2006/relationships/commentAuthors" Target="commentAuthors.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 Type="http://schemas.openxmlformats.org/officeDocument/2006/relationships/slideMaster" Target="slideMasters/slideMaster1.xml"/><Relationship Id="rId2" Type="http://schemas.openxmlformats.org/officeDocument/2006/relationships/slideMaster" Target="slideMasters/slideMaster2.xml"/></Relationships>
</file>

<file path=ppt/drawings/_rels/vmlDrawing1.vml.rels><?xml version="1.0" encoding="UTF-8" standalone="yes"?>
<Relationships xmlns="http://schemas.openxmlformats.org/package/2006/relationships"><Relationship Id="rId3" Type="http://schemas.openxmlformats.org/officeDocument/2006/relationships/image" Target="../media/image3.wmf"/><Relationship Id="rId4" Type="http://schemas.openxmlformats.org/officeDocument/2006/relationships/image" Target="../media/image4.wmf"/><Relationship Id="rId1" Type="http://schemas.openxmlformats.org/officeDocument/2006/relationships/image" Target="../media/image1.wmf"/><Relationship Id="rId2" Type="http://schemas.openxmlformats.org/officeDocument/2006/relationships/image" Target="../media/image2.wmf"/></Relationships>
</file>

<file path=ppt/drawings/_rels/vmlDrawing2.vml.rels><?xml version="1.0" encoding="UTF-8" standalone="yes"?>
<Relationships xmlns="http://schemas.openxmlformats.org/package/2006/relationships"><Relationship Id="rId3" Type="http://schemas.openxmlformats.org/officeDocument/2006/relationships/image" Target="../media/image3.wmf"/><Relationship Id="rId4" Type="http://schemas.openxmlformats.org/officeDocument/2006/relationships/image" Target="../media/image4.wmf"/><Relationship Id="rId1" Type="http://schemas.openxmlformats.org/officeDocument/2006/relationships/image" Target="../media/image1.wmf"/><Relationship Id="rId2" Type="http://schemas.openxmlformats.org/officeDocument/2006/relationships/image" Target="../media/image2.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0158C5BC-9A70-462C-B28D-9600239EAC64}" type="datetimeFigureOut">
              <a:rPr lang="en-US" smtClean="0"/>
              <a:pPr/>
              <a:t>5/6/18</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79C131B7-05CA-4AEE-9267-6D0ED4DC84F3}" type="slidenum">
              <a:rPr lang="en-US" smtClean="0"/>
              <a:pPr/>
              <a:t>‹#›</a:t>
            </a:fld>
            <a:endParaRPr lang="en-US"/>
          </a:p>
        </p:txBody>
      </p:sp>
    </p:spTree>
    <p:extLst>
      <p:ext uri="{BB962C8B-B14F-4D97-AF65-F5344CB8AC3E}">
        <p14:creationId xmlns:p14="http://schemas.microsoft.com/office/powerpoint/2010/main" val="153300662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6CC2317-6751-4CD4-9995-8782DD78E936}" type="datetimeFigureOut">
              <a:rPr lang="en-US" smtClean="0"/>
              <a:pPr/>
              <a:t>5/6/18</a:t>
            </a:fld>
            <a:endParaRPr lang="en-US" dirty="0"/>
          </a:p>
        </p:txBody>
      </p:sp>
      <p:sp>
        <p:nvSpPr>
          <p:cNvPr id="4" name="Slide Image Placeholder 3"/>
          <p:cNvSpPr>
            <a:spLocks noGrp="1" noRot="1" noChangeAspect="1"/>
          </p:cNvSpPr>
          <p:nvPr>
            <p:ph type="sldImg" idx="2"/>
          </p:nvPr>
        </p:nvSpPr>
        <p:spPr>
          <a:xfrm>
            <a:off x="2000250" y="685800"/>
            <a:ext cx="28575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6A1A87D-CAF7-4BDC-A0D3-C0DBEDE81619}" type="slidenum">
              <a:rPr lang="en-US" smtClean="0"/>
              <a:pPr/>
              <a:t>‹#›</a:t>
            </a:fld>
            <a:endParaRPr lang="en-US" dirty="0"/>
          </a:p>
        </p:txBody>
      </p:sp>
    </p:spTree>
    <p:extLst>
      <p:ext uri="{BB962C8B-B14F-4D97-AF65-F5344CB8AC3E}">
        <p14:creationId xmlns:p14="http://schemas.microsoft.com/office/powerpoint/2010/main" val="2675050545"/>
      </p:ext>
    </p:extLst>
  </p:cSld>
  <p:clrMap bg1="lt1" tx1="dk1" bg2="lt2" tx2="dk2" accent1="accent1" accent2="accent2" accent3="accent3" accent4="accent4" accent5="accent5" accent6="accent6" hlink="hlink" folHlink="folHlink"/>
  <p:notesStyle>
    <a:lvl1pPr marL="0" algn="l" defTabSz="3765366" rtl="0" eaLnBrk="1" latinLnBrk="0" hangingPunct="1">
      <a:defRPr sz="5000" kern="1200">
        <a:solidFill>
          <a:schemeClr val="tx1"/>
        </a:solidFill>
        <a:latin typeface="+mn-lt"/>
        <a:ea typeface="+mn-ea"/>
        <a:cs typeface="+mn-cs"/>
      </a:defRPr>
    </a:lvl1pPr>
    <a:lvl2pPr marL="1882684" algn="l" defTabSz="3765366" rtl="0" eaLnBrk="1" latinLnBrk="0" hangingPunct="1">
      <a:defRPr sz="5000" kern="1200">
        <a:solidFill>
          <a:schemeClr val="tx1"/>
        </a:solidFill>
        <a:latin typeface="+mn-lt"/>
        <a:ea typeface="+mn-ea"/>
        <a:cs typeface="+mn-cs"/>
      </a:defRPr>
    </a:lvl2pPr>
    <a:lvl3pPr marL="3765366" algn="l" defTabSz="3765366" rtl="0" eaLnBrk="1" latinLnBrk="0" hangingPunct="1">
      <a:defRPr sz="5000" kern="1200">
        <a:solidFill>
          <a:schemeClr val="tx1"/>
        </a:solidFill>
        <a:latin typeface="+mn-lt"/>
        <a:ea typeface="+mn-ea"/>
        <a:cs typeface="+mn-cs"/>
      </a:defRPr>
    </a:lvl3pPr>
    <a:lvl4pPr marL="5648049" algn="l" defTabSz="3765366" rtl="0" eaLnBrk="1" latinLnBrk="0" hangingPunct="1">
      <a:defRPr sz="5000" kern="1200">
        <a:solidFill>
          <a:schemeClr val="tx1"/>
        </a:solidFill>
        <a:latin typeface="+mn-lt"/>
        <a:ea typeface="+mn-ea"/>
        <a:cs typeface="+mn-cs"/>
      </a:defRPr>
    </a:lvl4pPr>
    <a:lvl5pPr marL="7530731" algn="l" defTabSz="3765366" rtl="0" eaLnBrk="1" latinLnBrk="0" hangingPunct="1">
      <a:defRPr sz="5000" kern="1200">
        <a:solidFill>
          <a:schemeClr val="tx1"/>
        </a:solidFill>
        <a:latin typeface="+mn-lt"/>
        <a:ea typeface="+mn-ea"/>
        <a:cs typeface="+mn-cs"/>
      </a:defRPr>
    </a:lvl5pPr>
    <a:lvl6pPr marL="9413415" algn="l" defTabSz="3765366" rtl="0" eaLnBrk="1" latinLnBrk="0" hangingPunct="1">
      <a:defRPr sz="5000" kern="1200">
        <a:solidFill>
          <a:schemeClr val="tx1"/>
        </a:solidFill>
        <a:latin typeface="+mn-lt"/>
        <a:ea typeface="+mn-ea"/>
        <a:cs typeface="+mn-cs"/>
      </a:defRPr>
    </a:lvl6pPr>
    <a:lvl7pPr marL="11296099" algn="l" defTabSz="3765366" rtl="0" eaLnBrk="1" latinLnBrk="0" hangingPunct="1">
      <a:defRPr sz="5000" kern="1200">
        <a:solidFill>
          <a:schemeClr val="tx1"/>
        </a:solidFill>
        <a:latin typeface="+mn-lt"/>
        <a:ea typeface="+mn-ea"/>
        <a:cs typeface="+mn-cs"/>
      </a:defRPr>
    </a:lvl7pPr>
    <a:lvl8pPr marL="13178781" algn="l" defTabSz="3765366" rtl="0" eaLnBrk="1" latinLnBrk="0" hangingPunct="1">
      <a:defRPr sz="5000" kern="1200">
        <a:solidFill>
          <a:schemeClr val="tx1"/>
        </a:solidFill>
        <a:latin typeface="+mn-lt"/>
        <a:ea typeface="+mn-ea"/>
        <a:cs typeface="+mn-cs"/>
      </a:defRPr>
    </a:lvl8pPr>
    <a:lvl9pPr marL="15061465" algn="l" defTabSz="3765366" rtl="0" eaLnBrk="1" latinLnBrk="0" hangingPunct="1">
      <a:defRPr sz="50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6A1A87D-CAF7-4BDC-A0D3-C0DBEDE81619}" type="slidenum">
              <a:rPr lang="en-US" smtClean="0"/>
              <a:pPr/>
              <a:t>1</a:t>
            </a:fld>
            <a:endParaRPr lang="en-US" dirty="0"/>
          </a:p>
        </p:txBody>
      </p:sp>
    </p:spTree>
    <p:extLst>
      <p:ext uri="{BB962C8B-B14F-4D97-AF65-F5344CB8AC3E}">
        <p14:creationId xmlns:p14="http://schemas.microsoft.com/office/powerpoint/2010/main" val="11207831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Standard 4 columns">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65119" y="5875819"/>
            <a:ext cx="12956288"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6" name="Text Placeholder 5"/>
          <p:cNvSpPr>
            <a:spLocks noGrp="1"/>
          </p:cNvSpPr>
          <p:nvPr>
            <p:ph type="body" sz="quarter" idx="11" hasCustomPrompt="1"/>
          </p:nvPr>
        </p:nvSpPr>
        <p:spPr>
          <a:xfrm>
            <a:off x="576466" y="5286040"/>
            <a:ext cx="12946061"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INTRODUCTION or ABSTRACT</a:t>
            </a:r>
            <a:endParaRPr lang="en-US" dirty="0"/>
          </a:p>
        </p:txBody>
      </p:sp>
      <p:sp>
        <p:nvSpPr>
          <p:cNvPr id="20" name="Text Placeholder 5"/>
          <p:cNvSpPr>
            <a:spLocks noGrp="1"/>
          </p:cNvSpPr>
          <p:nvPr>
            <p:ph type="body" sz="quarter" idx="20" hasCustomPrompt="1"/>
          </p:nvPr>
        </p:nvSpPr>
        <p:spPr>
          <a:xfrm>
            <a:off x="576462" y="14232814"/>
            <a:ext cx="12949224"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OBJECTIVES</a:t>
            </a:r>
            <a:endParaRPr lang="en-US" dirty="0"/>
          </a:p>
        </p:txBody>
      </p:sp>
      <p:sp>
        <p:nvSpPr>
          <p:cNvPr id="25" name="Text Placeholder 5"/>
          <p:cNvSpPr>
            <a:spLocks noGrp="1"/>
          </p:cNvSpPr>
          <p:nvPr>
            <p:ph type="body" sz="quarter" idx="25" hasCustomPrompt="1"/>
          </p:nvPr>
        </p:nvSpPr>
        <p:spPr>
          <a:xfrm>
            <a:off x="13856718" y="5286040"/>
            <a:ext cx="12945893"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CONCLUSIONS</a:t>
            </a:r>
            <a:endParaRPr lang="en-US" dirty="0"/>
          </a:p>
        </p:txBody>
      </p:sp>
      <p:sp>
        <p:nvSpPr>
          <p:cNvPr id="26" name="Text Placeholder 3"/>
          <p:cNvSpPr>
            <a:spLocks noGrp="1"/>
          </p:cNvSpPr>
          <p:nvPr>
            <p:ph type="body" sz="quarter" idx="26" hasCustomPrompt="1"/>
          </p:nvPr>
        </p:nvSpPr>
        <p:spPr>
          <a:xfrm>
            <a:off x="13856718" y="5875819"/>
            <a:ext cx="12945893"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27" name="Text Placeholder 5"/>
          <p:cNvSpPr>
            <a:spLocks noGrp="1"/>
          </p:cNvSpPr>
          <p:nvPr>
            <p:ph type="body" sz="quarter" idx="27" hasCustomPrompt="1"/>
          </p:nvPr>
        </p:nvSpPr>
        <p:spPr>
          <a:xfrm>
            <a:off x="13856717" y="14250177"/>
            <a:ext cx="1294233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REFERENCES</a:t>
            </a:r>
            <a:endParaRPr lang="en-US" dirty="0"/>
          </a:p>
        </p:txBody>
      </p:sp>
      <p:sp>
        <p:nvSpPr>
          <p:cNvPr id="28" name="Text Placeholder 3"/>
          <p:cNvSpPr>
            <a:spLocks noGrp="1"/>
          </p:cNvSpPr>
          <p:nvPr>
            <p:ph type="body" sz="quarter" idx="28" hasCustomPrompt="1"/>
          </p:nvPr>
        </p:nvSpPr>
        <p:spPr>
          <a:xfrm>
            <a:off x="13856717" y="14881760"/>
            <a:ext cx="12947298"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29" name="Text Placeholder 5"/>
          <p:cNvSpPr>
            <a:spLocks noGrp="1"/>
          </p:cNvSpPr>
          <p:nvPr>
            <p:ph type="body" sz="quarter" idx="29" hasCustomPrompt="1"/>
          </p:nvPr>
        </p:nvSpPr>
        <p:spPr>
          <a:xfrm>
            <a:off x="13856718" y="25657896"/>
            <a:ext cx="12935857"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ACKNOWLEDGEMENTS or  CONTACT</a:t>
            </a:r>
            <a:endParaRPr lang="en-US" dirty="0"/>
          </a:p>
        </p:txBody>
      </p:sp>
      <p:sp>
        <p:nvSpPr>
          <p:cNvPr id="30" name="Text Placeholder 3"/>
          <p:cNvSpPr>
            <a:spLocks noGrp="1"/>
          </p:cNvSpPr>
          <p:nvPr>
            <p:ph type="body" sz="quarter" idx="30" hasCustomPrompt="1"/>
          </p:nvPr>
        </p:nvSpPr>
        <p:spPr>
          <a:xfrm>
            <a:off x="13856717" y="26304861"/>
            <a:ext cx="12942336"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60" name="Text Placeholder 3"/>
          <p:cNvSpPr>
            <a:spLocks noGrp="1"/>
          </p:cNvSpPr>
          <p:nvPr>
            <p:ph type="body" sz="quarter" idx="96" hasCustomPrompt="1"/>
          </p:nvPr>
        </p:nvSpPr>
        <p:spPr>
          <a:xfrm>
            <a:off x="565119" y="14865828"/>
            <a:ext cx="12957406"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76" name="Text Placeholder 76"/>
          <p:cNvSpPr>
            <a:spLocks noGrp="1"/>
          </p:cNvSpPr>
          <p:nvPr>
            <p:ph type="body" sz="quarter" idx="150" hasCustomPrompt="1"/>
          </p:nvPr>
        </p:nvSpPr>
        <p:spPr>
          <a:xfrm>
            <a:off x="3505967" y="3198933"/>
            <a:ext cx="20420066" cy="1170587"/>
          </a:xfrm>
          <a:prstGeom prst="rect">
            <a:avLst/>
          </a:prstGeom>
        </p:spPr>
        <p:txBody>
          <a:bodyPr lIns="95646" tIns="47823" rIns="95646" bIns="47823">
            <a:normAutofit/>
          </a:bodyPr>
          <a:lstStyle>
            <a:lvl1pPr marL="0" indent="0" algn="ctr">
              <a:buFontTx/>
              <a:buNone/>
              <a:defRPr sz="567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affiliations</a:t>
            </a:r>
            <a:endParaRPr lang="en-US" dirty="0"/>
          </a:p>
        </p:txBody>
      </p:sp>
      <p:sp>
        <p:nvSpPr>
          <p:cNvPr id="79" name="Text Placeholder 76"/>
          <p:cNvSpPr>
            <a:spLocks noGrp="1"/>
          </p:cNvSpPr>
          <p:nvPr>
            <p:ph type="body" sz="quarter" idx="151" hasCustomPrompt="1"/>
          </p:nvPr>
        </p:nvSpPr>
        <p:spPr>
          <a:xfrm>
            <a:off x="3505967" y="2028346"/>
            <a:ext cx="20420066" cy="1170587"/>
          </a:xfrm>
          <a:prstGeom prst="rect">
            <a:avLst/>
          </a:prstGeom>
        </p:spPr>
        <p:txBody>
          <a:bodyPr lIns="95646" tIns="47823" rIns="95646" bIns="47823" anchor="t" anchorCtr="1">
            <a:normAutofit/>
          </a:bodyPr>
          <a:lstStyle>
            <a:lvl1pPr marL="0" indent="0" algn="ctr">
              <a:buFontTx/>
              <a:buNone/>
              <a:defRPr sz="828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authors</a:t>
            </a:r>
            <a:endParaRPr lang="en-US" dirty="0"/>
          </a:p>
        </p:txBody>
      </p:sp>
      <p:sp>
        <p:nvSpPr>
          <p:cNvPr id="80" name="Text Placeholder 76"/>
          <p:cNvSpPr>
            <a:spLocks noGrp="1"/>
          </p:cNvSpPr>
          <p:nvPr>
            <p:ph type="body" sz="quarter" idx="153" hasCustomPrompt="1"/>
          </p:nvPr>
        </p:nvSpPr>
        <p:spPr>
          <a:xfrm>
            <a:off x="3505967" y="530572"/>
            <a:ext cx="20420066" cy="1497774"/>
          </a:xfrm>
          <a:prstGeom prst="rect">
            <a:avLst/>
          </a:prstGeom>
        </p:spPr>
        <p:txBody>
          <a:bodyPr lIns="95646" tIns="47823" rIns="95646" bIns="47823" anchor="t" anchorCtr="1">
            <a:normAutofit/>
          </a:bodyPr>
          <a:lstStyle>
            <a:lvl1pPr marL="0" indent="0" algn="ctr">
              <a:buFontTx/>
              <a:buNone/>
              <a:defRPr sz="10800" b="1">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title</a:t>
            </a:r>
            <a:endParaRPr lang="en-US" dirty="0"/>
          </a:p>
        </p:txBody>
      </p:sp>
    </p:spTree>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Wide center column">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65119" y="5951495"/>
            <a:ext cx="6285508"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6" name="Text Placeholder 5"/>
          <p:cNvSpPr>
            <a:spLocks noGrp="1"/>
          </p:cNvSpPr>
          <p:nvPr>
            <p:ph type="body" sz="quarter" idx="11" hasCustomPrompt="1"/>
          </p:nvPr>
        </p:nvSpPr>
        <p:spPr>
          <a:xfrm>
            <a:off x="576465" y="5245583"/>
            <a:ext cx="6280548" cy="643172"/>
          </a:xfrm>
          <a:prstGeom prst="rect">
            <a:avLst/>
          </a:prstGeom>
          <a:noFill/>
        </p:spPr>
        <p:txBody>
          <a:bodyPr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INTRODUCTION</a:t>
            </a:r>
            <a:endParaRPr lang="en-US" dirty="0"/>
          </a:p>
        </p:txBody>
      </p:sp>
      <p:sp>
        <p:nvSpPr>
          <p:cNvPr id="19" name="Text Placeholder 3"/>
          <p:cNvSpPr>
            <a:spLocks noGrp="1"/>
          </p:cNvSpPr>
          <p:nvPr>
            <p:ph type="body" sz="quarter" idx="19" hasCustomPrompt="1"/>
          </p:nvPr>
        </p:nvSpPr>
        <p:spPr>
          <a:xfrm>
            <a:off x="564124" y="14790485"/>
            <a:ext cx="6286500"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0" name="Text Placeholder 5"/>
          <p:cNvSpPr>
            <a:spLocks noGrp="1"/>
          </p:cNvSpPr>
          <p:nvPr>
            <p:ph type="body" sz="quarter" idx="20" hasCustomPrompt="1"/>
          </p:nvPr>
        </p:nvSpPr>
        <p:spPr>
          <a:xfrm>
            <a:off x="576463" y="14191008"/>
            <a:ext cx="6281538"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OBJECTIVES</a:t>
            </a:r>
            <a:endParaRPr lang="en-US" dirty="0"/>
          </a:p>
        </p:txBody>
      </p:sp>
      <p:sp>
        <p:nvSpPr>
          <p:cNvPr id="21" name="Text Placeholder 3"/>
          <p:cNvSpPr>
            <a:spLocks noGrp="1"/>
          </p:cNvSpPr>
          <p:nvPr>
            <p:ph type="body" sz="quarter" idx="21" hasCustomPrompt="1"/>
          </p:nvPr>
        </p:nvSpPr>
        <p:spPr>
          <a:xfrm>
            <a:off x="7241977" y="5951495"/>
            <a:ext cx="12950030"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2" name="Text Placeholder 5"/>
          <p:cNvSpPr>
            <a:spLocks noGrp="1"/>
          </p:cNvSpPr>
          <p:nvPr>
            <p:ph type="body" sz="quarter" idx="22" hasCustomPrompt="1"/>
          </p:nvPr>
        </p:nvSpPr>
        <p:spPr>
          <a:xfrm>
            <a:off x="7241979" y="5244234"/>
            <a:ext cx="12950031"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(header)  MATERIALS &amp; METHODS</a:t>
            </a:r>
            <a:endParaRPr lang="en-US" dirty="0"/>
          </a:p>
        </p:txBody>
      </p:sp>
      <p:sp>
        <p:nvSpPr>
          <p:cNvPr id="23" name="Text Placeholder 3"/>
          <p:cNvSpPr>
            <a:spLocks noGrp="1"/>
          </p:cNvSpPr>
          <p:nvPr>
            <p:ph type="body" sz="quarter" idx="23" hasCustomPrompt="1"/>
          </p:nvPr>
        </p:nvSpPr>
        <p:spPr>
          <a:xfrm>
            <a:off x="7241979" y="21684824"/>
            <a:ext cx="12950031"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4" name="Text Placeholder 5"/>
          <p:cNvSpPr>
            <a:spLocks noGrp="1"/>
          </p:cNvSpPr>
          <p:nvPr>
            <p:ph type="body" sz="quarter" idx="24" hasCustomPrompt="1"/>
          </p:nvPr>
        </p:nvSpPr>
        <p:spPr>
          <a:xfrm>
            <a:off x="7241979" y="21053241"/>
            <a:ext cx="12950031"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RESULTS</a:t>
            </a:r>
            <a:endParaRPr lang="en-US" dirty="0"/>
          </a:p>
        </p:txBody>
      </p:sp>
      <p:sp>
        <p:nvSpPr>
          <p:cNvPr id="25" name="Text Placeholder 5"/>
          <p:cNvSpPr>
            <a:spLocks noGrp="1"/>
          </p:cNvSpPr>
          <p:nvPr>
            <p:ph type="body" sz="quarter" idx="25" hasCustomPrompt="1"/>
          </p:nvPr>
        </p:nvSpPr>
        <p:spPr>
          <a:xfrm>
            <a:off x="20571964" y="5244234"/>
            <a:ext cx="627938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CONCLUSIONS</a:t>
            </a:r>
            <a:endParaRPr lang="en-US" dirty="0"/>
          </a:p>
        </p:txBody>
      </p:sp>
      <p:sp>
        <p:nvSpPr>
          <p:cNvPr id="26" name="Text Placeholder 3"/>
          <p:cNvSpPr>
            <a:spLocks noGrp="1"/>
          </p:cNvSpPr>
          <p:nvPr>
            <p:ph type="body" sz="quarter" idx="26" hasCustomPrompt="1"/>
          </p:nvPr>
        </p:nvSpPr>
        <p:spPr>
          <a:xfrm>
            <a:off x="20571964" y="5951495"/>
            <a:ext cx="6279386"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7" name="Text Placeholder 5"/>
          <p:cNvSpPr>
            <a:spLocks noGrp="1"/>
          </p:cNvSpPr>
          <p:nvPr>
            <p:ph type="body" sz="quarter" idx="27" hasCustomPrompt="1"/>
          </p:nvPr>
        </p:nvSpPr>
        <p:spPr>
          <a:xfrm>
            <a:off x="20571964" y="14251233"/>
            <a:ext cx="627938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REFERENCES</a:t>
            </a:r>
            <a:endParaRPr lang="en-US" dirty="0"/>
          </a:p>
        </p:txBody>
      </p:sp>
      <p:sp>
        <p:nvSpPr>
          <p:cNvPr id="28" name="Text Placeholder 3"/>
          <p:cNvSpPr>
            <a:spLocks noGrp="1"/>
          </p:cNvSpPr>
          <p:nvPr>
            <p:ph type="body" sz="quarter" idx="28" hasCustomPrompt="1"/>
          </p:nvPr>
        </p:nvSpPr>
        <p:spPr>
          <a:xfrm>
            <a:off x="20594754" y="14882817"/>
            <a:ext cx="6233811"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9" name="Text Placeholder 5"/>
          <p:cNvSpPr>
            <a:spLocks noGrp="1"/>
          </p:cNvSpPr>
          <p:nvPr>
            <p:ph type="body" sz="quarter" idx="29" hasCustomPrompt="1"/>
          </p:nvPr>
        </p:nvSpPr>
        <p:spPr>
          <a:xfrm>
            <a:off x="20571964" y="26114085"/>
            <a:ext cx="627938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CONTACT</a:t>
            </a:r>
            <a:endParaRPr lang="en-US" dirty="0"/>
          </a:p>
        </p:txBody>
      </p:sp>
      <p:sp>
        <p:nvSpPr>
          <p:cNvPr id="30" name="Text Placeholder 3"/>
          <p:cNvSpPr>
            <a:spLocks noGrp="1"/>
          </p:cNvSpPr>
          <p:nvPr>
            <p:ph type="body" sz="quarter" idx="30" hasCustomPrompt="1"/>
          </p:nvPr>
        </p:nvSpPr>
        <p:spPr>
          <a:xfrm>
            <a:off x="20570392" y="26820427"/>
            <a:ext cx="6282532"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84" name="Text Placeholder 76"/>
          <p:cNvSpPr>
            <a:spLocks noGrp="1"/>
          </p:cNvSpPr>
          <p:nvPr>
            <p:ph type="body" sz="quarter" idx="150" hasCustomPrompt="1"/>
          </p:nvPr>
        </p:nvSpPr>
        <p:spPr>
          <a:xfrm>
            <a:off x="3505967" y="3198933"/>
            <a:ext cx="20420066" cy="1170587"/>
          </a:xfrm>
          <a:prstGeom prst="rect">
            <a:avLst/>
          </a:prstGeom>
        </p:spPr>
        <p:txBody>
          <a:bodyPr lIns="95646" tIns="47823" rIns="95646" bIns="47823">
            <a:normAutofit/>
          </a:bodyPr>
          <a:lstStyle>
            <a:lvl1pPr marL="0" indent="0" algn="ctr">
              <a:buFontTx/>
              <a:buNone/>
              <a:defRPr sz="567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affiliations</a:t>
            </a:r>
            <a:endParaRPr lang="en-US" dirty="0"/>
          </a:p>
        </p:txBody>
      </p:sp>
      <p:sp>
        <p:nvSpPr>
          <p:cNvPr id="85" name="Text Placeholder 76"/>
          <p:cNvSpPr>
            <a:spLocks noGrp="1"/>
          </p:cNvSpPr>
          <p:nvPr>
            <p:ph type="body" sz="quarter" idx="151" hasCustomPrompt="1"/>
          </p:nvPr>
        </p:nvSpPr>
        <p:spPr>
          <a:xfrm>
            <a:off x="3505967" y="2028346"/>
            <a:ext cx="20420066" cy="1170587"/>
          </a:xfrm>
          <a:prstGeom prst="rect">
            <a:avLst/>
          </a:prstGeom>
        </p:spPr>
        <p:txBody>
          <a:bodyPr lIns="95646" tIns="47823" rIns="95646" bIns="47823" anchor="t" anchorCtr="1">
            <a:normAutofit/>
          </a:bodyPr>
          <a:lstStyle>
            <a:lvl1pPr marL="0" indent="0" algn="ctr">
              <a:buFontTx/>
              <a:buNone/>
              <a:defRPr sz="828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authors</a:t>
            </a:r>
            <a:endParaRPr lang="en-US" dirty="0"/>
          </a:p>
        </p:txBody>
      </p:sp>
      <p:sp>
        <p:nvSpPr>
          <p:cNvPr id="86" name="Text Placeholder 76"/>
          <p:cNvSpPr>
            <a:spLocks noGrp="1"/>
          </p:cNvSpPr>
          <p:nvPr>
            <p:ph type="body" sz="quarter" idx="178" hasCustomPrompt="1"/>
          </p:nvPr>
        </p:nvSpPr>
        <p:spPr>
          <a:xfrm>
            <a:off x="3505967" y="530572"/>
            <a:ext cx="20420066" cy="1497774"/>
          </a:xfrm>
          <a:prstGeom prst="rect">
            <a:avLst/>
          </a:prstGeom>
        </p:spPr>
        <p:txBody>
          <a:bodyPr lIns="95646" tIns="47823" rIns="95646" bIns="47823" anchor="t" anchorCtr="1">
            <a:normAutofit/>
          </a:bodyPr>
          <a:lstStyle>
            <a:lvl1pPr marL="0" indent="0" algn="ctr">
              <a:buFontTx/>
              <a:buNone/>
              <a:defRPr sz="10800" b="1">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title</a:t>
            </a:r>
            <a:endParaRPr lang="en-US" dirty="0"/>
          </a:p>
        </p:txBody>
      </p:sp>
    </p:spTree>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11" Type="http://schemas.openxmlformats.org/officeDocument/2006/relationships/image" Target="../media/image2.wmf"/><Relationship Id="rId12" Type="http://schemas.openxmlformats.org/officeDocument/2006/relationships/oleObject" Target="../embeddings/oleObject3.bin"/><Relationship Id="rId13" Type="http://schemas.openxmlformats.org/officeDocument/2006/relationships/image" Target="../media/image3.wmf"/><Relationship Id="rId14" Type="http://schemas.openxmlformats.org/officeDocument/2006/relationships/image" Target="../media/image9.png"/><Relationship Id="rId15" Type="http://schemas.openxmlformats.org/officeDocument/2006/relationships/oleObject" Target="../embeddings/oleObject4.bin"/><Relationship Id="rId16" Type="http://schemas.openxmlformats.org/officeDocument/2006/relationships/image" Target="../media/image4.wmf"/><Relationship Id="rId17" Type="http://schemas.openxmlformats.org/officeDocument/2006/relationships/hyperlink" Target="http://www.facebook.com/pages/PosterPresentationscom/217914411419?v=app_4949752878&amp;ref=ts" TargetMode="External"/><Relationship Id="rId18" Type="http://schemas.openxmlformats.org/officeDocument/2006/relationships/image" Target="../media/image10.jpeg"/><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vmlDrawing" Target="../drawings/vmlDrawing1.vml"/><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oleObject" Target="../embeddings/oleObject1.bin"/><Relationship Id="rId9" Type="http://schemas.openxmlformats.org/officeDocument/2006/relationships/image" Target="../media/image1.wmf"/><Relationship Id="rId10" Type="http://schemas.openxmlformats.org/officeDocument/2006/relationships/oleObject" Target="../embeddings/oleObject2.bin"/></Relationships>
</file>

<file path=ppt/slideMasters/_rels/slideMaster2.xml.rels><?xml version="1.0" encoding="UTF-8" standalone="yes"?>
<Relationships xmlns="http://schemas.openxmlformats.org/package/2006/relationships"><Relationship Id="rId11" Type="http://schemas.openxmlformats.org/officeDocument/2006/relationships/image" Target="../media/image2.wmf"/><Relationship Id="rId12" Type="http://schemas.openxmlformats.org/officeDocument/2006/relationships/oleObject" Target="../embeddings/oleObject7.bin"/><Relationship Id="rId13" Type="http://schemas.openxmlformats.org/officeDocument/2006/relationships/image" Target="../media/image3.wmf"/><Relationship Id="rId14" Type="http://schemas.openxmlformats.org/officeDocument/2006/relationships/image" Target="../media/image9.png"/><Relationship Id="rId15" Type="http://schemas.openxmlformats.org/officeDocument/2006/relationships/oleObject" Target="../embeddings/oleObject8.bin"/><Relationship Id="rId16" Type="http://schemas.openxmlformats.org/officeDocument/2006/relationships/image" Target="../media/image4.wmf"/><Relationship Id="rId17" Type="http://schemas.openxmlformats.org/officeDocument/2006/relationships/hyperlink" Target="http://www.facebook.com/pages/PosterPresentationscom/217914411419?v=app_4949752878&amp;ref=ts" TargetMode="External"/><Relationship Id="rId18" Type="http://schemas.openxmlformats.org/officeDocument/2006/relationships/image" Target="../media/image10.jpeg"/><Relationship Id="rId1" Type="http://schemas.openxmlformats.org/officeDocument/2006/relationships/slideLayout" Target="../slideLayouts/slideLayout2.xml"/><Relationship Id="rId2" Type="http://schemas.openxmlformats.org/officeDocument/2006/relationships/theme" Target="../theme/theme2.xml"/><Relationship Id="rId3" Type="http://schemas.openxmlformats.org/officeDocument/2006/relationships/vmlDrawing" Target="../drawings/vmlDrawing2.vml"/><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oleObject" Target="../embeddings/oleObject5.bin"/><Relationship Id="rId9" Type="http://schemas.openxmlformats.org/officeDocument/2006/relationships/image" Target="../media/image1.wmf"/><Relationship Id="rId10" Type="http://schemas.openxmlformats.org/officeDocument/2006/relationships/oleObject" Target="../embeddings/oleObject6.bin"/></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50000">
              <a:schemeClr val="accent5">
                <a:lumMod val="60000"/>
                <a:lumOff val="4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0" y="0"/>
            <a:ext cx="27432000" cy="4800600"/>
          </a:xfrm>
          <a:prstGeom prst="rect">
            <a:avLst/>
          </a:prstGeom>
          <a:solidFill>
            <a:schemeClr val="accent5">
              <a:lumMod val="75000"/>
            </a:schemeClr>
          </a:solidFill>
          <a:ln w="9525">
            <a:solidFill>
              <a:schemeClr val="tx1"/>
            </a:solidFill>
            <a:miter lim="800000"/>
            <a:headEnd/>
            <a:tailEnd/>
          </a:ln>
          <a:effectLst/>
        </p:spPr>
        <p:txBody>
          <a:bodyPr wrap="none" lIns="70601" tIns="35300" rIns="70601" bIns="35300" anchor="ctr"/>
          <a:lstStyle/>
          <a:p>
            <a:pPr>
              <a:defRPr/>
            </a:pPr>
            <a:endParaRPr lang="en-US" sz="6660" dirty="0"/>
          </a:p>
        </p:txBody>
      </p:sp>
      <p:sp>
        <p:nvSpPr>
          <p:cNvPr id="9" name="Rectangle 9"/>
          <p:cNvSpPr>
            <a:spLocks noChangeArrowheads="1"/>
          </p:cNvSpPr>
          <p:nvPr/>
        </p:nvSpPr>
        <p:spPr bwMode="auto">
          <a:xfrm>
            <a:off x="0" y="4805365"/>
            <a:ext cx="27432000" cy="152400"/>
          </a:xfrm>
          <a:prstGeom prst="rect">
            <a:avLst/>
          </a:prstGeom>
          <a:solidFill>
            <a:schemeClr val="accent5">
              <a:lumMod val="50000"/>
            </a:schemeClr>
          </a:solidFill>
          <a:ln w="152400">
            <a:noFill/>
            <a:miter lim="800000"/>
            <a:headEnd/>
            <a:tailEnd/>
          </a:ln>
          <a:effectLst/>
        </p:spPr>
        <p:txBody>
          <a:bodyPr wrap="none" lIns="70601" tIns="35300" rIns="70601" bIns="35300" anchor="ctr"/>
          <a:lstStyle/>
          <a:p>
            <a:pPr>
              <a:defRPr/>
            </a:pPr>
            <a:endParaRPr lang="en-US" sz="6660" dirty="0"/>
          </a:p>
        </p:txBody>
      </p:sp>
      <p:sp>
        <p:nvSpPr>
          <p:cNvPr id="16" name="Rectangle 33"/>
          <p:cNvSpPr>
            <a:spLocks noChangeArrowheads="1"/>
          </p:cNvSpPr>
          <p:nvPr/>
        </p:nvSpPr>
        <p:spPr bwMode="auto">
          <a:xfrm>
            <a:off x="572142" y="5257679"/>
            <a:ext cx="12949039" cy="26746200"/>
          </a:xfrm>
          <a:prstGeom prst="roundRect">
            <a:avLst>
              <a:gd name="adj" fmla="val 5902"/>
            </a:avLst>
          </a:prstGeom>
          <a:gradFill>
            <a:gsLst>
              <a:gs pos="0">
                <a:schemeClr val="accent1">
                  <a:tint val="66000"/>
                  <a:satMod val="160000"/>
                </a:schemeClr>
              </a:gs>
              <a:gs pos="0">
                <a:srgbClr val="CDD2DE"/>
              </a:gs>
              <a:gs pos="100000">
                <a:srgbClr val="F3F5FA"/>
              </a:gs>
            </a:gsLst>
            <a:lin ang="16200000" scaled="1"/>
          </a:gradFill>
          <a:ln w="9525">
            <a:solidFill>
              <a:schemeClr val="tx2"/>
            </a:solidFill>
            <a:miter lim="800000"/>
            <a:headEnd/>
            <a:tailEnd/>
          </a:ln>
          <a:effectLst/>
        </p:spPr>
        <p:txBody>
          <a:bodyPr wrap="none" lIns="70601" tIns="35300" rIns="70601" bIns="35300" anchor="ctr"/>
          <a:lstStyle/>
          <a:p>
            <a:pPr>
              <a:defRPr/>
            </a:pPr>
            <a:endParaRPr lang="en-US" sz="6660" dirty="0"/>
          </a:p>
        </p:txBody>
      </p:sp>
      <p:sp>
        <p:nvSpPr>
          <p:cNvPr id="21" name="Rectangle 33"/>
          <p:cNvSpPr>
            <a:spLocks noChangeArrowheads="1"/>
          </p:cNvSpPr>
          <p:nvPr userDrawn="1"/>
        </p:nvSpPr>
        <p:spPr bwMode="auto">
          <a:xfrm>
            <a:off x="13811250" y="5257679"/>
            <a:ext cx="12949039" cy="26746200"/>
          </a:xfrm>
          <a:prstGeom prst="roundRect">
            <a:avLst>
              <a:gd name="adj" fmla="val 5902"/>
            </a:avLst>
          </a:prstGeom>
          <a:gradFill flip="none" rotWithShape="1">
            <a:gsLst>
              <a:gs pos="0">
                <a:schemeClr val="accent1">
                  <a:tint val="66000"/>
                  <a:satMod val="160000"/>
                </a:schemeClr>
              </a:gs>
              <a:gs pos="0">
                <a:srgbClr val="CDD2DE"/>
              </a:gs>
              <a:gs pos="100000">
                <a:srgbClr val="F3F5FA"/>
              </a:gs>
            </a:gsLst>
            <a:lin ang="16200000" scaled="1"/>
            <a:tileRect/>
          </a:gradFill>
          <a:ln w="9525">
            <a:solidFill>
              <a:schemeClr val="tx2"/>
            </a:solidFill>
            <a:miter lim="800000"/>
            <a:headEnd/>
            <a:tailEnd/>
          </a:ln>
          <a:effectLst/>
        </p:spPr>
        <p:txBody>
          <a:bodyPr wrap="none" lIns="70601" tIns="35300" rIns="70601" bIns="35300" anchor="ctr"/>
          <a:lstStyle/>
          <a:p>
            <a:pPr>
              <a:defRPr/>
            </a:pPr>
            <a:endParaRPr lang="en-US" sz="6660" dirty="0"/>
          </a:p>
        </p:txBody>
      </p:sp>
      <p:grpSp>
        <p:nvGrpSpPr>
          <p:cNvPr id="23" name="Group 22"/>
          <p:cNvGrpSpPr/>
          <p:nvPr userDrawn="1"/>
        </p:nvGrpSpPr>
        <p:grpSpPr>
          <a:xfrm>
            <a:off x="-12658121" y="-43314"/>
            <a:ext cx="12259293" cy="32961714"/>
            <a:chOff x="-11225189" y="-1"/>
            <a:chExt cx="11018865" cy="32918401"/>
          </a:xfrm>
        </p:grpSpPr>
        <p:sp>
          <p:nvSpPr>
            <p:cNvPr id="24" name="Rectangle 23"/>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1366507" rtl="0" eaLnBrk="1" fontAlgn="auto" latinLnBrk="0" hangingPunct="1">
                <a:lnSpc>
                  <a:spcPct val="100000"/>
                </a:lnSpc>
                <a:spcBef>
                  <a:spcPts val="0"/>
                </a:spcBef>
                <a:spcAft>
                  <a:spcPts val="0"/>
                </a:spcAft>
                <a:buClrTx/>
                <a:buSzTx/>
                <a:buFontTx/>
                <a:buNone/>
                <a:tabLst/>
                <a:defRPr/>
              </a:pPr>
              <a:r>
                <a:rPr lang="en-US" sz="2880" b="1" spc="0" dirty="0" smtClean="0">
                  <a:solidFill>
                    <a:srgbClr val="FF0000"/>
                  </a:solidFill>
                  <a:latin typeface="Trebuchet MS" pitchFamily="34" charset="0"/>
                </a:rPr>
                <a:t>(—THIS SIDEBAR DOES NOT PRINT—)</a:t>
              </a:r>
              <a:endParaRPr lang="en-US" sz="2880" b="1" spc="540"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DESIGN</a:t>
              </a:r>
              <a:r>
                <a:rPr lang="en-US" sz="3600" b="1" spc="540" baseline="0" dirty="0" smtClean="0">
                  <a:solidFill>
                    <a:schemeClr val="bg1"/>
                  </a:solidFill>
                  <a:latin typeface="Trebuchet MS" pitchFamily="34" charset="0"/>
                </a:rPr>
                <a:t> </a:t>
              </a:r>
              <a:r>
                <a:rPr lang="en-US" sz="3600" b="1" spc="540" dirty="0" smtClean="0">
                  <a:solidFill>
                    <a:schemeClr val="bg1"/>
                  </a:solidFill>
                  <a:latin typeface="Trebuchet MS" pitchFamily="34" charset="0"/>
                </a:rPr>
                <a:t>GUIDE</a:t>
              </a:r>
            </a:p>
            <a:p>
              <a:pPr algn="ctr"/>
              <a:endParaRPr lang="en-US" sz="2520" b="1" dirty="0" smtClean="0">
                <a:latin typeface="Trebuchet MS" pitchFamily="34" charset="0"/>
              </a:endParaRPr>
            </a:p>
            <a:p>
              <a:pPr defTabSz="3389075"/>
              <a:r>
                <a:rPr lang="en-US" sz="2520" i="0" dirty="0" smtClean="0">
                  <a:latin typeface="Trebuchet MS" pitchFamily="34" charset="0"/>
                </a:rPr>
                <a:t>This PowerPoint</a:t>
              </a:r>
              <a:r>
                <a:rPr lang="en-US" sz="2520" i="0" baseline="0" dirty="0" smtClean="0">
                  <a:latin typeface="Trebuchet MS" pitchFamily="34" charset="0"/>
                </a:rPr>
                <a:t> </a:t>
              </a:r>
              <a:r>
                <a:rPr lang="en-US" sz="2520" i="0" dirty="0" smtClean="0">
                  <a:latin typeface="Trebuchet MS" pitchFamily="34" charset="0"/>
                </a:rPr>
                <a:t>2007 template produces</a:t>
              </a:r>
              <a:r>
                <a:rPr lang="en-US" sz="2520" i="0" baseline="0" dirty="0" smtClean="0">
                  <a:latin typeface="Trebuchet MS" pitchFamily="34" charset="0"/>
                </a:rPr>
                <a:t> </a:t>
              </a:r>
              <a:r>
                <a:rPr lang="en-US" sz="2520" i="0" dirty="0" smtClean="0">
                  <a:latin typeface="Trebuchet MS" pitchFamily="34" charset="0"/>
                </a:rPr>
                <a:t>a 30”x40” presentation poster. </a:t>
              </a:r>
              <a:r>
                <a:rPr lang="en-US" sz="2520" dirty="0" smtClean="0">
                  <a:latin typeface="Trebuchet MS" pitchFamily="34" charset="0"/>
                </a:rPr>
                <a:t>You</a:t>
              </a:r>
              <a:r>
                <a:rPr lang="en-US" sz="2520" baseline="0" dirty="0" smtClean="0">
                  <a:latin typeface="Trebuchet MS" pitchFamily="34" charset="0"/>
                </a:rPr>
                <a:t> can u</a:t>
              </a:r>
              <a:r>
                <a:rPr lang="en-US" sz="2520" dirty="0" smtClean="0">
                  <a:latin typeface="Trebuchet MS" pitchFamily="34" charset="0"/>
                </a:rPr>
                <a:t>se</a:t>
              </a:r>
              <a:r>
                <a:rPr lang="en-US" sz="2520" baseline="0" dirty="0" smtClean="0">
                  <a:latin typeface="Trebuchet MS" pitchFamily="34" charset="0"/>
                </a:rPr>
                <a:t> it to create your research poster and </a:t>
              </a:r>
              <a:r>
                <a:rPr lang="en-US" sz="2520" dirty="0" smtClean="0">
                  <a:latin typeface="Trebuchet MS" pitchFamily="34" charset="0"/>
                </a:rPr>
                <a:t>save valuable time placing titles, subtitles,</a:t>
              </a:r>
              <a:r>
                <a:rPr lang="en-US" sz="2520" baseline="0" dirty="0" smtClean="0">
                  <a:latin typeface="Trebuchet MS" pitchFamily="34" charset="0"/>
                </a:rPr>
                <a:t> text, and graphics</a:t>
              </a:r>
              <a:r>
                <a:rPr lang="en-US" sz="2520" dirty="0" smtClean="0">
                  <a:latin typeface="Trebuchet MS" pitchFamily="34" charset="0"/>
                </a:rPr>
                <a:t>. </a:t>
              </a:r>
            </a:p>
            <a:p>
              <a:pPr defTabSz="3389075"/>
              <a:endParaRPr lang="en-US" sz="2520" dirty="0" smtClean="0">
                <a:latin typeface="Trebuchet MS" pitchFamily="34" charset="0"/>
              </a:endParaRPr>
            </a:p>
            <a:p>
              <a:pPr defTabSz="3950297"/>
              <a:r>
                <a:rPr lang="en-US" sz="2520" dirty="0" smtClean="0">
                  <a:latin typeface="Trebuchet MS" pitchFamily="34" charset="0"/>
                </a:rPr>
                <a:t>We provide a series of online tutorials that will guide you through the poster design process and answer your poster production questions. To view our template tutorials, go online to </a:t>
              </a:r>
              <a:r>
                <a:rPr lang="en-US" sz="2520" b="1" dirty="0" smtClean="0">
                  <a:solidFill>
                    <a:srgbClr val="FFC000"/>
                  </a:solidFill>
                  <a:latin typeface="Trebuchet MS" pitchFamily="34" charset="0"/>
                </a:rPr>
                <a:t>PosterPresentations.com</a:t>
              </a:r>
              <a:r>
                <a:rPr lang="en-US" sz="2520" b="1" dirty="0" smtClean="0">
                  <a:solidFill>
                    <a:schemeClr val="bg1"/>
                  </a:solidFill>
                  <a:latin typeface="Trebuchet MS" pitchFamily="34" charset="0"/>
                </a:rPr>
                <a:t> </a:t>
              </a:r>
              <a:r>
                <a:rPr lang="en-US" sz="2520" dirty="0" smtClean="0">
                  <a:solidFill>
                    <a:schemeClr val="bg1"/>
                  </a:solidFill>
                  <a:latin typeface="Trebuchet MS" pitchFamily="34" charset="0"/>
                </a:rPr>
                <a:t>and click on HELP DESK.</a:t>
              </a:r>
            </a:p>
            <a:p>
              <a:pPr defTabSz="3950297"/>
              <a:endParaRPr lang="en-US" sz="2520" dirty="0" smtClean="0">
                <a:latin typeface="Trebuchet MS" pitchFamily="34" charset="0"/>
              </a:endParaRPr>
            </a:p>
            <a:p>
              <a:pPr defTabSz="3950297"/>
              <a:r>
                <a:rPr lang="en-US" sz="2520" dirty="0" smtClean="0">
                  <a:solidFill>
                    <a:schemeClr val="bg1"/>
                  </a:solidFill>
                  <a:latin typeface="Trebuchet MS" pitchFamily="34" charset="0"/>
                </a:rPr>
                <a:t>When</a:t>
              </a:r>
              <a:r>
                <a:rPr lang="en-US" sz="2520" baseline="0" dirty="0" smtClean="0">
                  <a:solidFill>
                    <a:schemeClr val="bg1"/>
                  </a:solidFill>
                  <a:latin typeface="Trebuchet MS" pitchFamily="34" charset="0"/>
                </a:rPr>
                <a:t> you are ready to print your poster</a:t>
              </a:r>
              <a:r>
                <a:rPr lang="en-US" sz="2520" dirty="0" smtClean="0">
                  <a:solidFill>
                    <a:schemeClr val="bg1"/>
                  </a:solidFill>
                  <a:latin typeface="Trebuchet MS" pitchFamily="34" charset="0"/>
                </a:rPr>
                <a:t>,</a:t>
              </a:r>
              <a:r>
                <a:rPr lang="en-US" sz="2520" baseline="0" dirty="0" smtClean="0">
                  <a:solidFill>
                    <a:schemeClr val="bg1"/>
                  </a:solidFill>
                  <a:latin typeface="Trebuchet MS" pitchFamily="34" charset="0"/>
                </a:rPr>
                <a:t> go online to </a:t>
              </a:r>
              <a:r>
                <a:rPr lang="en-US" sz="2520" b="0" dirty="0" smtClean="0">
                  <a:solidFill>
                    <a:schemeClr val="bg1"/>
                  </a:solidFill>
                  <a:latin typeface="Trebuchet MS" pitchFamily="34" charset="0"/>
                </a:rPr>
                <a:t>PosterPresentations.com</a:t>
              </a:r>
              <a:r>
                <a:rPr lang="en-US" sz="2520" dirty="0" smtClean="0">
                  <a:solidFill>
                    <a:schemeClr val="bg1"/>
                  </a:solidFill>
                  <a:latin typeface="Trebuchet MS" pitchFamily="34" charset="0"/>
                </a:rPr>
                <a:t/>
              </a:r>
              <a:br>
                <a:rPr lang="en-US" sz="2520" dirty="0" smtClean="0">
                  <a:solidFill>
                    <a:schemeClr val="bg1"/>
                  </a:solidFill>
                  <a:latin typeface="Trebuchet MS" pitchFamily="34" charset="0"/>
                </a:rPr>
              </a:br>
              <a:endParaRPr lang="en-US" sz="2520" dirty="0" smtClean="0">
                <a:solidFill>
                  <a:schemeClr val="bg1"/>
                </a:solidFill>
                <a:latin typeface="Trebuchet MS" pitchFamily="34" charset="0"/>
              </a:endParaRPr>
            </a:p>
            <a:p>
              <a:pPr algn="l" defTabSz="3389075"/>
              <a:r>
                <a:rPr lang="en-US" sz="2520" b="0" dirty="0" smtClean="0">
                  <a:solidFill>
                    <a:schemeClr val="bg1"/>
                  </a:solidFill>
                  <a:latin typeface="Trebuchet MS" pitchFamily="34" charset="0"/>
                </a:rPr>
                <a:t>Need</a:t>
              </a:r>
              <a:r>
                <a:rPr lang="en-US" sz="2520" b="0" baseline="0" dirty="0" smtClean="0">
                  <a:solidFill>
                    <a:schemeClr val="bg1"/>
                  </a:solidFill>
                  <a:latin typeface="Trebuchet MS" pitchFamily="34" charset="0"/>
                </a:rPr>
                <a:t> assistance? Call us at </a:t>
              </a:r>
              <a:r>
                <a:rPr lang="en-US" sz="2520" b="0" dirty="0" smtClean="0">
                  <a:solidFill>
                    <a:srgbClr val="FFC000"/>
                  </a:solidFill>
                  <a:latin typeface="Trebuchet MS" pitchFamily="34" charset="0"/>
                </a:rPr>
                <a:t>1.510.649.3001</a:t>
              </a:r>
            </a:p>
            <a:p>
              <a:pPr algn="l" defTabSz="3389075"/>
              <a:endParaRPr lang="en-US" sz="3240" b="1" dirty="0" smtClean="0">
                <a:solidFill>
                  <a:srgbClr val="FFFF00"/>
                </a:solidFill>
                <a:latin typeface="Trebuchet MS" pitchFamily="34" charset="0"/>
              </a:endParaRPr>
            </a:p>
            <a:p>
              <a:pPr algn="ctr"/>
              <a:endParaRPr lang="en-US" sz="2160" b="1"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QUICK START</a:t>
              </a:r>
            </a:p>
            <a:p>
              <a:pPr algn="ctr"/>
              <a:endParaRPr lang="en-US" sz="288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Zoom in and out</a:t>
              </a:r>
            </a:p>
            <a:p>
              <a:pPr marL="2274570" indent="-585788" algn="l" defTabSz="765810">
                <a:tabLst/>
              </a:pPr>
              <a:r>
                <a:rPr lang="en-US" sz="2160" b="0" baseline="0" dirty="0" smtClean="0">
                  <a:solidFill>
                    <a:schemeClr val="bg1"/>
                  </a:solidFill>
                  <a:latin typeface="Trebuchet MS" pitchFamily="34" charset="0"/>
                </a:rPr>
                <a:t>	</a:t>
              </a:r>
              <a:r>
                <a:rPr lang="en-US" sz="2160" b="0" baseline="0" dirty="0" smtClean="0">
                  <a:solidFill>
                    <a:schemeClr val="bg1">
                      <a:lumMod val="75000"/>
                    </a:schemeClr>
                  </a:solidFill>
                  <a:latin typeface="Trebuchet MS" pitchFamily="34" charset="0"/>
                </a:rPr>
                <a:t>As you work on your poster zoom in and out to the level that is more comfortable to you. Go to VIEW &gt; ZOOM.</a:t>
              </a:r>
            </a:p>
            <a:p>
              <a:pPr algn="l"/>
              <a:endParaRPr lang="en-US" sz="2520" b="0"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Title, Authors, and Affiliations</a:t>
              </a:r>
            </a:p>
            <a:p>
              <a:pPr algn="l"/>
              <a:r>
                <a:rPr lang="en-US" sz="2160" b="0" baseline="0" dirty="0" smtClean="0">
                  <a:solidFill>
                    <a:schemeClr val="bg1">
                      <a:lumMod val="75000"/>
                    </a:schemeClr>
                  </a:solidFill>
                  <a:latin typeface="Trebuchet MS" pitchFamily="34" charset="0"/>
                </a:rPr>
                <a:t>Start designing your poster by adding the title, the names of the authors, and the affiliated institutions. </a:t>
              </a:r>
              <a:r>
                <a:rPr lang="en-US" sz="2160" b="0" spc="0" baseline="0" dirty="0" smtClean="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2160" b="0" spc="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The font size of your title should be bigger than your name(s) and institution name(s).</a:t>
              </a:r>
            </a:p>
            <a:p>
              <a:pPr algn="l"/>
              <a:r>
                <a:rPr lang="en-US" sz="2520" b="1" baseline="0" dirty="0" smtClean="0">
                  <a:solidFill>
                    <a:schemeClr val="bg1"/>
                  </a:solidFill>
                  <a:latin typeface="Trebuchet MS" pitchFamily="34" charset="0"/>
                </a:rPr>
                <a:t/>
              </a:r>
              <a:br>
                <a:rPr lang="en-US" sz="2520" b="1" baseline="0" dirty="0" smtClean="0">
                  <a:solidFill>
                    <a:schemeClr val="bg1"/>
                  </a:solidFill>
                  <a:latin typeface="Trebuchet MS" pitchFamily="34" charset="0"/>
                </a:rPr>
              </a:br>
              <a:endParaRPr lang="en-US" sz="2520" b="1" dirty="0" smtClean="0">
                <a:solidFill>
                  <a:schemeClr val="bg1"/>
                </a:solidFill>
                <a:latin typeface="Trebuchet MS" pitchFamily="34" charset="0"/>
              </a:endParaRPr>
            </a:p>
            <a:p>
              <a:pPr algn="ctr"/>
              <a:endParaRPr lang="en-US" sz="2520" b="1" dirty="0" smtClean="0">
                <a:solidFill>
                  <a:srgbClr val="FFC000"/>
                </a:solidFill>
                <a:latin typeface="Trebuchet MS" pitchFamily="34" charset="0"/>
              </a:endParaRPr>
            </a:p>
            <a:p>
              <a:pPr algn="ctr"/>
              <a:endParaRPr lang="en-US" sz="2520" b="1" dirty="0" smtClean="0">
                <a:solidFill>
                  <a:srgbClr val="FFC000"/>
                </a:solidFill>
                <a:latin typeface="Trebuchet MS" pitchFamily="34" charset="0"/>
              </a:endParaRPr>
            </a:p>
            <a:p>
              <a:pPr algn="ctr"/>
              <a:r>
                <a:rPr lang="en-US" sz="2880" b="1" dirty="0" smtClean="0">
                  <a:solidFill>
                    <a:srgbClr val="FFC000"/>
                  </a:solidFill>
                  <a:latin typeface="Trebuchet MS" pitchFamily="34" charset="0"/>
                </a:rPr>
                <a:t>Adding Logos</a:t>
              </a:r>
              <a:r>
                <a:rPr lang="en-US" sz="2880" b="1" baseline="0" dirty="0" smtClean="0">
                  <a:solidFill>
                    <a:srgbClr val="FFC000"/>
                  </a:solidFill>
                  <a:latin typeface="Trebuchet MS" pitchFamily="34" charset="0"/>
                </a:rPr>
                <a:t> / Seals</a:t>
              </a:r>
            </a:p>
            <a:p>
              <a:pPr algn="l"/>
              <a:r>
                <a:rPr lang="en-US" sz="2160" b="0" baseline="0" dirty="0" smtClean="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2160" b="0" spc="27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spc="0"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See if your school’s logo is available on our free poster templates page.</a:t>
              </a:r>
            </a:p>
            <a:p>
              <a:pPr algn="l"/>
              <a:endParaRPr lang="en-US" sz="2160" b="0" baseline="0" dirty="0" smtClean="0">
                <a:latin typeface="Trebuchet MS" pitchFamily="34" charset="0"/>
              </a:endParaRPr>
            </a:p>
            <a:p>
              <a:pPr algn="ctr"/>
              <a:r>
                <a:rPr lang="en-US" sz="2880" b="1" baseline="0" dirty="0" smtClean="0">
                  <a:solidFill>
                    <a:srgbClr val="FFC000"/>
                  </a:solidFill>
                  <a:latin typeface="Trebuchet MS" pitchFamily="34" charset="0"/>
                </a:rPr>
                <a:t>Photographs / Graphics</a:t>
              </a:r>
            </a:p>
            <a:p>
              <a:pPr algn="l" defTabSz="880110"/>
              <a:r>
                <a:rPr lang="en-US" sz="2160" b="0" baseline="0" dirty="0" smtClean="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2160" b="0" spc="0" baseline="0" dirty="0" smtClean="0">
                  <a:solidFill>
                    <a:schemeClr val="bg1">
                      <a:lumMod val="75000"/>
                    </a:schemeClr>
                  </a:solidFill>
                  <a:latin typeface="Trebuchet MS" pitchFamily="34" charset="0"/>
                </a:rPr>
                <a:t>disproportionally.</a:t>
              </a:r>
            </a:p>
            <a:p>
              <a:pPr algn="l" defTabSz="880110"/>
              <a:endParaRPr lang="en-US" sz="2160" b="0" baseline="0" dirty="0" smtClean="0">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r>
                <a:rPr lang="en-US" sz="2880" b="1" baseline="0" dirty="0" smtClean="0">
                  <a:solidFill>
                    <a:srgbClr val="FFC000"/>
                  </a:solidFill>
                  <a:latin typeface="Trebuchet MS" pitchFamily="34" charset="0"/>
                </a:rPr>
                <a:t>Image Quality Check</a:t>
              </a:r>
            </a:p>
            <a:p>
              <a:pPr lvl="0" algn="l" defTabSz="880110"/>
              <a:r>
                <a:rPr lang="en-US" sz="2160" b="0" baseline="0" dirty="0" smtClean="0">
                  <a:solidFill>
                    <a:schemeClr val="bg1">
                      <a:lumMod val="75000"/>
                    </a:schemeClr>
                  </a:solidFill>
                  <a:latin typeface="Trebuchet MS" pitchFamily="34" charset="0"/>
                </a:rPr>
                <a:t>Zoom in and look at your images at 100% magnification. If they look good they will print well. </a:t>
              </a:r>
              <a:endParaRPr lang="en-US" sz="2520" b="0" dirty="0" smtClean="0">
                <a:latin typeface="Trebuchet MS" pitchFamily="34" charset="0"/>
              </a:endParaRPr>
            </a:p>
          </p:txBody>
        </p:sp>
        <p:cxnSp>
          <p:nvCxnSpPr>
            <p:cNvPr id="25" name="Straight Connector 24"/>
            <p:cNvCxnSpPr/>
            <p:nvPr/>
          </p:nvCxnSpPr>
          <p:spPr>
            <a:xfrm>
              <a:off x="-11225189" y="7240467"/>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26" name="Picture 25"/>
            <p:cNvPicPr>
              <a:picLocks noChangeAspect="1"/>
            </p:cNvPicPr>
            <p:nvPr userDrawn="1"/>
          </p:nvPicPr>
          <p:blipFill>
            <a:blip r:embed="rId4"/>
            <a:stretch>
              <a:fillRect/>
            </a:stretch>
          </p:blipFill>
          <p:spPr>
            <a:xfrm>
              <a:off x="-10479105" y="8732868"/>
              <a:ext cx="1597666" cy="1201935"/>
            </a:xfrm>
            <a:prstGeom prst="rect">
              <a:avLst/>
            </a:prstGeom>
          </p:spPr>
        </p:pic>
        <p:pic>
          <p:nvPicPr>
            <p:cNvPr id="30" name="Picture 29"/>
            <p:cNvPicPr>
              <a:picLocks noChangeAspect="1"/>
            </p:cNvPicPr>
            <p:nvPr userDrawn="1"/>
          </p:nvPicPr>
          <p:blipFill>
            <a:blip r:embed="rId5"/>
            <a:stretch>
              <a:fillRect/>
            </a:stretch>
          </p:blipFill>
          <p:spPr>
            <a:xfrm>
              <a:off x="-10732765" y="13076183"/>
              <a:ext cx="9986808" cy="1053596"/>
            </a:xfrm>
            <a:prstGeom prst="rect">
              <a:avLst/>
            </a:prstGeom>
          </p:spPr>
        </p:pic>
        <p:grpSp>
          <p:nvGrpSpPr>
            <p:cNvPr id="32" name="Group 31"/>
            <p:cNvGrpSpPr/>
            <p:nvPr userDrawn="1"/>
          </p:nvGrpSpPr>
          <p:grpSpPr>
            <a:xfrm>
              <a:off x="-9744993" y="19604586"/>
              <a:ext cx="7531182" cy="2094921"/>
              <a:chOff x="-4470427" y="9208123"/>
              <a:chExt cx="3470785" cy="962496"/>
            </a:xfrm>
          </p:grpSpPr>
          <p:grpSp>
            <p:nvGrpSpPr>
              <p:cNvPr id="46" name="Group 45"/>
              <p:cNvGrpSpPr/>
              <p:nvPr userDrawn="1"/>
            </p:nvGrpSpPr>
            <p:grpSpPr>
              <a:xfrm>
                <a:off x="-2783495" y="9252354"/>
                <a:ext cx="624431" cy="907396"/>
                <a:chOff x="-3958697" y="8525819"/>
                <a:chExt cx="779338" cy="1300292"/>
              </a:xfrm>
            </p:grpSpPr>
            <p:pic>
              <p:nvPicPr>
                <p:cNvPr id="52" name="Picture 51"/>
                <p:cNvPicPr>
                  <a:picLocks noChangeAspect="1"/>
                </p:cNvPicPr>
                <p:nvPr userDrawn="1"/>
              </p:nvPicPr>
              <p:blipFill>
                <a:blip r:embed="rId6"/>
                <a:stretch>
                  <a:fillRect/>
                </a:stretch>
              </p:blipFill>
              <p:spPr>
                <a:xfrm>
                  <a:off x="-3948160" y="8525819"/>
                  <a:ext cx="768801" cy="1090857"/>
                </a:xfrm>
                <a:prstGeom prst="rect">
                  <a:avLst/>
                </a:prstGeom>
              </p:spPr>
            </p:pic>
            <p:sp>
              <p:nvSpPr>
                <p:cNvPr id="53" name="TextBox 52"/>
                <p:cNvSpPr txBox="1"/>
                <p:nvPr userDrawn="1"/>
              </p:nvSpPr>
              <p:spPr>
                <a:xfrm>
                  <a:off x="-3958697" y="9522560"/>
                  <a:ext cx="779337" cy="303551"/>
                </a:xfrm>
                <a:prstGeom prst="rect">
                  <a:avLst/>
                </a:prstGeom>
                <a:solidFill>
                  <a:schemeClr val="accent1"/>
                </a:solidFill>
                <a:ln>
                  <a:noFill/>
                </a:ln>
              </p:spPr>
              <p:txBody>
                <a:bodyPr wrap="square" lIns="91440" tIns="91440" rIns="91440" bIns="91440" rtlCol="0">
                  <a:spAutoFit/>
                </a:bodyPr>
                <a:lstStyle/>
                <a:p>
                  <a:pPr algn="ctr"/>
                  <a:r>
                    <a:rPr lang="en-US" sz="1800" b="1" dirty="0" smtClean="0">
                      <a:solidFill>
                        <a:schemeClr val="tx1"/>
                      </a:solidFill>
                    </a:rPr>
                    <a:t>ORIGINAL</a:t>
                  </a:r>
                  <a:endParaRPr lang="en-US" sz="1800" b="1" dirty="0">
                    <a:solidFill>
                      <a:schemeClr val="tx1"/>
                    </a:solidFill>
                  </a:endParaRPr>
                </a:p>
              </p:txBody>
            </p:sp>
          </p:grpSp>
          <p:grpSp>
            <p:nvGrpSpPr>
              <p:cNvPr id="47" name="Group 46"/>
              <p:cNvGrpSpPr/>
              <p:nvPr userDrawn="1"/>
            </p:nvGrpSpPr>
            <p:grpSpPr>
              <a:xfrm>
                <a:off x="-2033159" y="9252359"/>
                <a:ext cx="1033517" cy="907388"/>
                <a:chOff x="-2921738" y="8714808"/>
                <a:chExt cx="1420279" cy="1246948"/>
              </a:xfrm>
            </p:grpSpPr>
            <p:pic>
              <p:nvPicPr>
                <p:cNvPr id="50" name="Picture 49"/>
                <p:cNvPicPr>
                  <a:picLocks noChangeAspect="1"/>
                </p:cNvPicPr>
                <p:nvPr userDrawn="1"/>
              </p:nvPicPr>
              <p:blipFill>
                <a:blip r:embed="rId6"/>
                <a:stretch>
                  <a:fillRect/>
                </a:stretch>
              </p:blipFill>
              <p:spPr>
                <a:xfrm>
                  <a:off x="-2921738" y="8714808"/>
                  <a:ext cx="1420279" cy="1029694"/>
                </a:xfrm>
                <a:prstGeom prst="rect">
                  <a:avLst/>
                </a:prstGeom>
              </p:spPr>
            </p:pic>
            <p:sp>
              <p:nvSpPr>
                <p:cNvPr id="51" name="TextBox 50"/>
                <p:cNvSpPr txBox="1"/>
                <p:nvPr userDrawn="1"/>
              </p:nvSpPr>
              <p:spPr>
                <a:xfrm>
                  <a:off x="-2918991" y="9670656"/>
                  <a:ext cx="1417532" cy="291100"/>
                </a:xfrm>
                <a:prstGeom prst="rect">
                  <a:avLst/>
                </a:prstGeom>
                <a:solidFill>
                  <a:srgbClr val="FF0000"/>
                </a:solidFill>
              </p:spPr>
              <p:txBody>
                <a:bodyPr wrap="square" lIns="457200" tIns="91440" rIns="457200" bIns="91440" rtlCol="0">
                  <a:spAutoFit/>
                </a:bodyPr>
                <a:lstStyle/>
                <a:p>
                  <a:pPr algn="ctr"/>
                  <a:r>
                    <a:rPr lang="en-US" sz="1800" b="1" dirty="0" smtClean="0">
                      <a:solidFill>
                        <a:schemeClr val="bg1"/>
                      </a:solidFill>
                    </a:rPr>
                    <a:t>DISTORTED</a:t>
                  </a:r>
                  <a:endParaRPr lang="en-US" sz="810" b="1" dirty="0">
                    <a:solidFill>
                      <a:schemeClr val="bg1"/>
                    </a:solidFill>
                  </a:endParaRPr>
                </a:p>
              </p:txBody>
            </p:sp>
          </p:grpSp>
          <p:pic>
            <p:nvPicPr>
              <p:cNvPr id="48" name="Picture 47"/>
              <p:cNvPicPr>
                <a:picLocks noChangeAspect="1"/>
              </p:cNvPicPr>
              <p:nvPr userDrawn="1"/>
            </p:nvPicPr>
            <p:blipFill>
              <a:blip r:embed="rId7"/>
              <a:stretch>
                <a:fillRect/>
              </a:stretch>
            </p:blipFill>
            <p:spPr>
              <a:xfrm>
                <a:off x="-4470427" y="9208123"/>
                <a:ext cx="1098742" cy="847761"/>
              </a:xfrm>
              <a:prstGeom prst="rect">
                <a:avLst/>
              </a:prstGeom>
            </p:spPr>
          </p:pic>
          <p:sp>
            <p:nvSpPr>
              <p:cNvPr id="49" name="TextBox 48"/>
              <p:cNvSpPr txBox="1"/>
              <p:nvPr userDrawn="1"/>
            </p:nvSpPr>
            <p:spPr>
              <a:xfrm>
                <a:off x="-4440600" y="9857111"/>
                <a:ext cx="1035685" cy="313508"/>
              </a:xfrm>
              <a:prstGeom prst="rect">
                <a:avLst/>
              </a:prstGeom>
              <a:noFill/>
            </p:spPr>
            <p:txBody>
              <a:bodyPr wrap="square" lIns="457200" tIns="457200" rIns="457200" bIns="0" rtlCol="0">
                <a:spAutoFit/>
              </a:bodyPr>
              <a:lstStyle/>
              <a:p>
                <a:pPr algn="ctr"/>
                <a:r>
                  <a:rPr lang="en-US" sz="1440" dirty="0" smtClean="0">
                    <a:solidFill>
                      <a:schemeClr val="bg1"/>
                    </a:solidFill>
                  </a:rPr>
                  <a:t>Corner</a:t>
                </a:r>
                <a:r>
                  <a:rPr lang="en-US" sz="1440" baseline="0" dirty="0" smtClean="0">
                    <a:solidFill>
                      <a:schemeClr val="bg1"/>
                    </a:solidFill>
                  </a:rPr>
                  <a:t> handles</a:t>
                </a:r>
                <a:endParaRPr lang="en-US" sz="1440" dirty="0">
                  <a:solidFill>
                    <a:schemeClr val="bg1"/>
                  </a:solidFill>
                </a:endParaRPr>
              </a:p>
            </p:txBody>
          </p:sp>
        </p:grpSp>
        <p:grpSp>
          <p:nvGrpSpPr>
            <p:cNvPr id="37" name="Group 36"/>
            <p:cNvGrpSpPr/>
            <p:nvPr userDrawn="1"/>
          </p:nvGrpSpPr>
          <p:grpSpPr>
            <a:xfrm>
              <a:off x="-10395497" y="23738190"/>
              <a:ext cx="9316420" cy="2453251"/>
              <a:chOff x="-4753477" y="10890292"/>
              <a:chExt cx="4293521" cy="1127128"/>
            </a:xfrm>
          </p:grpSpPr>
          <p:graphicFrame>
            <p:nvGraphicFramePr>
              <p:cNvPr id="38" name="Object 37"/>
              <p:cNvGraphicFramePr>
                <a:graphicFrameLocks noChangeAspect="1"/>
              </p:cNvGraphicFramePr>
              <p:nvPr userDrawn="1">
                <p:extLst>
                  <p:ext uri="{D42A27DB-BD31-4B8C-83A1-F6EECF244321}">
                    <p14:modId xmlns:p14="http://schemas.microsoft.com/office/powerpoint/2010/main" val="3213247783"/>
                  </p:ext>
                </p:extLst>
              </p:nvPr>
            </p:nvGraphicFramePr>
            <p:xfrm>
              <a:off x="-4533347" y="10890299"/>
              <a:ext cx="1828800" cy="1117600"/>
            </p:xfrm>
            <a:graphic>
              <a:graphicData uri="http://schemas.openxmlformats.org/presentationml/2006/ole">
                <mc:AlternateContent xmlns:mc="http://schemas.openxmlformats.org/markup-compatibility/2006">
                  <mc:Choice xmlns:v="urn:schemas-microsoft-com:vml" Requires="v">
                    <p:oleObj spid="_x0000_s1188" name="Image" r:id="rId8" imgW="1828440" imgH="1117440" progId="Photoshop.Image.13">
                      <p:embed/>
                    </p:oleObj>
                  </mc:Choice>
                  <mc:Fallback>
                    <p:oleObj name="Image" r:id="rId8" imgW="1828440" imgH="1117440" progId="Photoshop.Image.13">
                      <p:embed/>
                      <p:pic>
                        <p:nvPicPr>
                          <p:cNvPr id="0" name=""/>
                          <p:cNvPicPr/>
                          <p:nvPr/>
                        </p:nvPicPr>
                        <p:blipFill>
                          <a:blip r:embed="rId9"/>
                          <a:stretch>
                            <a:fillRect/>
                          </a:stretch>
                        </p:blipFill>
                        <p:spPr>
                          <a:xfrm>
                            <a:off x="-4533347" y="10890299"/>
                            <a:ext cx="1828800" cy="1117600"/>
                          </a:xfrm>
                          <a:prstGeom prst="rect">
                            <a:avLst/>
                          </a:prstGeom>
                        </p:spPr>
                      </p:pic>
                    </p:oleObj>
                  </mc:Fallback>
                </mc:AlternateContent>
              </a:graphicData>
            </a:graphic>
          </p:graphicFrame>
          <p:graphicFrame>
            <p:nvGraphicFramePr>
              <p:cNvPr id="39" name="Object 38"/>
              <p:cNvGraphicFramePr>
                <a:graphicFrameLocks noChangeAspect="1"/>
              </p:cNvGraphicFramePr>
              <p:nvPr userDrawn="1">
                <p:extLst>
                  <p:ext uri="{D42A27DB-BD31-4B8C-83A1-F6EECF244321}">
                    <p14:modId xmlns:p14="http://schemas.microsoft.com/office/powerpoint/2010/main" val="3514347268"/>
                  </p:ext>
                </p:extLst>
              </p:nvPr>
            </p:nvGraphicFramePr>
            <p:xfrm>
              <a:off x="-2456641" y="10893992"/>
              <a:ext cx="1828800" cy="1117600"/>
            </p:xfrm>
            <a:graphic>
              <a:graphicData uri="http://schemas.openxmlformats.org/presentationml/2006/ole">
                <mc:AlternateContent xmlns:mc="http://schemas.openxmlformats.org/markup-compatibility/2006">
                  <mc:Choice xmlns:v="urn:schemas-microsoft-com:vml" Requires="v">
                    <p:oleObj spid="_x0000_s1189" name="Image" r:id="rId10" imgW="1828440" imgH="1117440" progId="Photoshop.Image.13">
                      <p:embed/>
                    </p:oleObj>
                  </mc:Choice>
                  <mc:Fallback>
                    <p:oleObj name="Image" r:id="rId10" imgW="1828440" imgH="1117440" progId="Photoshop.Image.13">
                      <p:embed/>
                      <p:pic>
                        <p:nvPicPr>
                          <p:cNvPr id="0" name=""/>
                          <p:cNvPicPr/>
                          <p:nvPr/>
                        </p:nvPicPr>
                        <p:blipFill>
                          <a:blip r:embed="rId11"/>
                          <a:stretch>
                            <a:fillRect/>
                          </a:stretch>
                        </p:blipFill>
                        <p:spPr>
                          <a:xfrm>
                            <a:off x="-2456641" y="10893992"/>
                            <a:ext cx="1828800" cy="1117600"/>
                          </a:xfrm>
                          <a:prstGeom prst="rect">
                            <a:avLst/>
                          </a:prstGeom>
                        </p:spPr>
                      </p:pic>
                    </p:oleObj>
                  </mc:Fallback>
                </mc:AlternateContent>
              </a:graphicData>
            </a:graphic>
          </p:graphicFrame>
          <p:sp>
            <p:nvSpPr>
              <p:cNvPr id="41" name="TextBox 40"/>
              <p:cNvSpPr txBox="1"/>
              <p:nvPr userDrawn="1"/>
            </p:nvSpPr>
            <p:spPr>
              <a:xfrm rot="16200000">
                <a:off x="-5235785" y="11372600"/>
                <a:ext cx="1117601" cy="152986"/>
              </a:xfrm>
              <a:prstGeom prst="rect">
                <a:avLst/>
              </a:prstGeom>
              <a:noFill/>
            </p:spPr>
            <p:txBody>
              <a:bodyPr wrap="square" lIns="91440" tIns="91440" rIns="91440" bIns="0" rtlCol="0">
                <a:spAutoFit/>
              </a:bodyPr>
              <a:lstStyle/>
              <a:p>
                <a:pPr algn="ctr"/>
                <a:r>
                  <a:rPr lang="en-US" sz="1800" dirty="0" smtClean="0">
                    <a:solidFill>
                      <a:srgbClr val="92D050"/>
                    </a:solidFill>
                  </a:rPr>
                  <a:t>Good</a:t>
                </a:r>
                <a:r>
                  <a:rPr lang="en-US" sz="1800" baseline="0" dirty="0" smtClean="0">
                    <a:solidFill>
                      <a:srgbClr val="92D050"/>
                    </a:solidFill>
                  </a:rPr>
                  <a:t> </a:t>
                </a:r>
                <a:r>
                  <a:rPr lang="en-US" sz="1800" baseline="0" dirty="0" smtClean="0">
                    <a:solidFill>
                      <a:schemeClr val="bg1"/>
                    </a:solidFill>
                  </a:rPr>
                  <a:t>printing quality</a:t>
                </a:r>
                <a:endParaRPr lang="en-US" sz="1800" dirty="0">
                  <a:solidFill>
                    <a:schemeClr val="bg1"/>
                  </a:solidFill>
                </a:endParaRPr>
              </a:p>
            </p:txBody>
          </p:sp>
          <p:sp>
            <p:nvSpPr>
              <p:cNvPr id="45" name="TextBox 44"/>
              <p:cNvSpPr txBox="1"/>
              <p:nvPr userDrawn="1"/>
            </p:nvSpPr>
            <p:spPr>
              <a:xfrm rot="16200000">
                <a:off x="-1095250" y="11382127"/>
                <a:ext cx="1117601" cy="152986"/>
              </a:xfrm>
              <a:prstGeom prst="rect">
                <a:avLst/>
              </a:prstGeom>
              <a:noFill/>
            </p:spPr>
            <p:txBody>
              <a:bodyPr wrap="square" lIns="91440" tIns="91440" rIns="91440" bIns="0" rtlCol="0">
                <a:spAutoFit/>
              </a:bodyPr>
              <a:lstStyle/>
              <a:p>
                <a:pPr algn="ctr"/>
                <a:r>
                  <a:rPr lang="en-US" sz="1800" dirty="0" smtClean="0">
                    <a:solidFill>
                      <a:srgbClr val="FF0000"/>
                    </a:solidFill>
                  </a:rPr>
                  <a:t>Bad </a:t>
                </a:r>
                <a:r>
                  <a:rPr lang="en-US" sz="1800" dirty="0" smtClean="0">
                    <a:solidFill>
                      <a:schemeClr val="bg1"/>
                    </a:solidFill>
                  </a:rPr>
                  <a:t>printing quality</a:t>
                </a:r>
                <a:endParaRPr lang="en-US" sz="1800" dirty="0">
                  <a:solidFill>
                    <a:schemeClr val="bg1"/>
                  </a:solidFill>
                </a:endParaRPr>
              </a:p>
            </p:txBody>
          </p:sp>
        </p:grpSp>
      </p:grpSp>
      <p:grpSp>
        <p:nvGrpSpPr>
          <p:cNvPr id="54" name="Group 53"/>
          <p:cNvGrpSpPr/>
          <p:nvPr userDrawn="1"/>
        </p:nvGrpSpPr>
        <p:grpSpPr>
          <a:xfrm>
            <a:off x="27804389" y="1"/>
            <a:ext cx="12284832" cy="32956206"/>
            <a:chOff x="44157839" y="-55065"/>
            <a:chExt cx="11062139" cy="32973465"/>
          </a:xfrm>
        </p:grpSpPr>
        <p:sp>
          <p:nvSpPr>
            <p:cNvPr id="55" name="Rectangle 54"/>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3600" b="1" spc="540" dirty="0" smtClean="0">
                  <a:solidFill>
                    <a:schemeClr val="bg1"/>
                  </a:solidFill>
                  <a:latin typeface="Trebuchet MS" pitchFamily="34" charset="0"/>
                </a:rPr>
                <a:t>QUICK START (cont.)</a:t>
              </a:r>
            </a:p>
            <a:p>
              <a:pPr algn="ctr"/>
              <a:endParaRPr lang="en-US" sz="324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How to change the template color theme</a:t>
              </a:r>
            </a:p>
            <a:p>
              <a:pPr marL="0" marR="0" lvl="2" indent="0" algn="l" defTabSz="102870"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2160" b="0" spc="0" baseline="0" dirty="0" smtClean="0">
                  <a:solidFill>
                    <a:schemeClr val="bg1">
                      <a:lumMod val="75000"/>
                    </a:schemeClr>
                  </a:solidFill>
                  <a:latin typeface="Trebuchet MS" pitchFamily="34" charset="0"/>
                </a:rPr>
                <a:t>also create your own color theme.</a:t>
              </a:r>
            </a:p>
            <a:p>
              <a:pPr marL="0" marR="0" lvl="2"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r>
                <a:rPr lang="en-US" sz="2160" b="0" baseline="0" dirty="0" smtClean="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Text</a:t>
              </a:r>
            </a:p>
            <a:p>
              <a:pPr marL="3086100" lvl="2" indent="0" algn="l" defTabSz="102870"/>
              <a:r>
                <a:rPr lang="en-US" sz="2160" b="0" baseline="0" dirty="0" smtClean="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1366507" lvl="2"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 </a:t>
              </a:r>
              <a:r>
                <a:rPr kumimoji="0" lang="en-US" sz="2880" b="1" i="0" u="none" strike="noStrike" kern="1200" cap="none" spc="0" normalizeH="0" baseline="0" noProof="0" dirty="0" smtClean="0">
                  <a:ln>
                    <a:noFill/>
                  </a:ln>
                  <a:solidFill>
                    <a:srgbClr val="FFC000"/>
                  </a:solidFill>
                  <a:effectLst/>
                  <a:uLnTx/>
                  <a:uFillTx/>
                  <a:latin typeface="Trebuchet MS" pitchFamily="34" charset="0"/>
                </a:rPr>
                <a:t>Text size</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Adjust the size of your text based on how much content you have to present. </a:t>
              </a:r>
              <a:b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b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The default template text offers a good starting point. Follow the conference requirements.</a:t>
              </a:r>
              <a:endParaRPr lang="en-US" sz="2160" b="0" baseline="0" dirty="0" smtClean="0">
                <a:solidFill>
                  <a:schemeClr val="bg1">
                    <a:lumMod val="75000"/>
                  </a:schemeClr>
                </a:solidFill>
                <a:latin typeface="Trebuchet MS" pitchFamily="34" charset="0"/>
              </a:endParaRPr>
            </a:p>
            <a:p>
              <a:pPr marL="1366507" lvl="2"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Tables</a:t>
              </a:r>
            </a:p>
            <a:p>
              <a:pPr marL="1800225" lvl="1" indent="0" algn="l" defTabSz="102870"/>
              <a:r>
                <a:rPr lang="en-US" sz="2160" b="0" baseline="0" dirty="0" smtClean="0">
                  <a:solidFill>
                    <a:schemeClr val="bg1">
                      <a:lumMod val="75000"/>
                    </a:schemeClr>
                  </a:solidFill>
                  <a:latin typeface="Trebuchet MS" pitchFamily="34" charset="0"/>
                </a:rPr>
                <a:t>To add a table from scratch go to the INSERT menu and </a:t>
              </a:r>
              <a:br>
                <a:rPr lang="en-US" sz="2160" b="0" baseline="0" dirty="0" smtClean="0">
                  <a:solidFill>
                    <a:schemeClr val="bg1">
                      <a:lumMod val="75000"/>
                    </a:schemeClr>
                  </a:solidFill>
                  <a:latin typeface="Trebuchet MS" pitchFamily="34" charset="0"/>
                </a:rPr>
              </a:br>
              <a:r>
                <a:rPr lang="en-US" sz="2160" b="0" baseline="0" dirty="0" smtClean="0">
                  <a:solidFill>
                    <a:schemeClr val="bg1">
                      <a:lumMod val="75000"/>
                    </a:schemeClr>
                  </a:solidFill>
                  <a:latin typeface="Trebuchet MS" pitchFamily="34" charset="0"/>
                </a:rPr>
                <a:t>click on TABLE. A drop-down box will help you select rows and columns. </a:t>
              </a:r>
            </a:p>
            <a:p>
              <a:pPr marL="0" lvl="0" indent="0" algn="l" defTabSz="102870"/>
              <a:r>
                <a:rPr lang="en-US" sz="2160" b="0" baseline="0" dirty="0" smtClean="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Graphs / Charts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change the column configuration</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1366507" rtl="0" eaLnBrk="1" fontAlgn="auto" latinLnBrk="0" hangingPunct="1">
                <a:lnSpc>
                  <a:spcPct val="100000"/>
                </a:lnSpc>
                <a:spcBef>
                  <a:spcPts val="0"/>
                </a:spcBef>
                <a:spcAft>
                  <a:spcPts val="0"/>
                </a:spcAft>
                <a:buClrTx/>
                <a:buSzTx/>
                <a:buFontTx/>
                <a:buNone/>
                <a:tabLst/>
                <a:defRPr/>
              </a:pPr>
              <a:endParaRPr kumimoji="0" lang="en-US" sz="2880" b="1" i="0" u="none" strike="noStrike" kern="1200" cap="none" spc="0" normalizeH="0" baseline="0" noProof="0" dirty="0" smtClean="0">
                <a:ln>
                  <a:noFill/>
                </a:ln>
                <a:solidFill>
                  <a:srgbClr val="FFC000"/>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remove the info bars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Save your work</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Print your poster</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520" b="0" i="0" u="none" strike="noStrike" kern="1200" cap="none" spc="0" normalizeH="0" baseline="0" noProof="0" dirty="0" smtClean="0">
                <a:ln>
                  <a:noFill/>
                </a:ln>
                <a:solidFill>
                  <a:prstClr val="white">
                    <a:lumMod val="75000"/>
                  </a:prstClr>
                </a:solidFill>
                <a:effectLst/>
                <a:uLnTx/>
                <a:uFillTx/>
                <a:latin typeface="Trebuchet MS" pitchFamily="34" charset="0"/>
              </a:endParaRPr>
            </a:p>
          </p:txBody>
        </p:sp>
        <p:graphicFrame>
          <p:nvGraphicFramePr>
            <p:cNvPr id="56" name="Object 55"/>
            <p:cNvGraphicFramePr>
              <a:graphicFrameLocks noChangeAspect="1"/>
            </p:cNvGraphicFramePr>
            <p:nvPr userDrawn="1">
              <p:extLst>
                <p:ext uri="{D42A27DB-BD31-4B8C-83A1-F6EECF244321}">
                  <p14:modId xmlns:p14="http://schemas.microsoft.com/office/powerpoint/2010/main" val="2737471570"/>
                </p:ext>
              </p:extLst>
            </p:nvPr>
          </p:nvGraphicFramePr>
          <p:xfrm>
            <a:off x="46871237" y="3286607"/>
            <a:ext cx="5586150" cy="2063772"/>
          </p:xfrm>
          <a:graphic>
            <a:graphicData uri="http://schemas.openxmlformats.org/presentationml/2006/ole">
              <mc:AlternateContent xmlns:mc="http://schemas.openxmlformats.org/markup-compatibility/2006">
                <mc:Choice xmlns:v="urn:schemas-microsoft-com:vml" Requires="v">
                  <p:oleObj spid="_x0000_s1190" name="Image" r:id="rId12" imgW="4571280" imgH="1688760" progId="Photoshop.Image.13">
                    <p:embed/>
                  </p:oleObj>
                </mc:Choice>
                <mc:Fallback>
                  <p:oleObj name="Image" r:id="rId12" imgW="4571280" imgH="1688760" progId="Photoshop.Image.13">
                    <p:embed/>
                    <p:pic>
                      <p:nvPicPr>
                        <p:cNvPr id="0" name=""/>
                        <p:cNvPicPr/>
                        <p:nvPr/>
                      </p:nvPicPr>
                      <p:blipFill>
                        <a:blip r:embed="rId13"/>
                        <a:stretch>
                          <a:fillRect/>
                        </a:stretch>
                      </p:blipFill>
                      <p:spPr>
                        <a:xfrm>
                          <a:off x="46871237" y="3286607"/>
                          <a:ext cx="5586150" cy="2063772"/>
                        </a:xfrm>
                        <a:prstGeom prst="rect">
                          <a:avLst/>
                        </a:prstGeom>
                      </p:spPr>
                    </p:pic>
                  </p:oleObj>
                </mc:Fallback>
              </mc:AlternateContent>
            </a:graphicData>
          </a:graphic>
        </p:graphicFrame>
        <p:pic>
          <p:nvPicPr>
            <p:cNvPr id="57" name="Picture 56"/>
            <p:cNvPicPr>
              <a:picLocks noChangeAspect="1"/>
            </p:cNvPicPr>
            <p:nvPr userDrawn="1"/>
          </p:nvPicPr>
          <p:blipFill>
            <a:blip r:embed="rId14"/>
            <a:stretch>
              <a:fillRect/>
            </a:stretch>
          </p:blipFill>
          <p:spPr>
            <a:xfrm>
              <a:off x="44487207" y="7579895"/>
              <a:ext cx="2969584" cy="1370577"/>
            </a:xfrm>
            <a:prstGeom prst="rect">
              <a:avLst/>
            </a:prstGeom>
            <a:ln>
              <a:noFill/>
            </a:ln>
          </p:spPr>
        </p:pic>
        <p:graphicFrame>
          <p:nvGraphicFramePr>
            <p:cNvPr id="58" name="Object 57"/>
            <p:cNvGraphicFramePr>
              <a:graphicFrameLocks noChangeAspect="1"/>
            </p:cNvGraphicFramePr>
            <p:nvPr userDrawn="1">
              <p:extLst>
                <p:ext uri="{D42A27DB-BD31-4B8C-83A1-F6EECF244321}">
                  <p14:modId xmlns:p14="http://schemas.microsoft.com/office/powerpoint/2010/main" val="2662991869"/>
                </p:ext>
              </p:extLst>
            </p:nvPr>
          </p:nvGraphicFramePr>
          <p:xfrm>
            <a:off x="44629619" y="11328671"/>
            <a:ext cx="1482266" cy="992162"/>
          </p:xfrm>
          <a:graphic>
            <a:graphicData uri="http://schemas.openxmlformats.org/presentationml/2006/ole">
              <mc:AlternateContent xmlns:mc="http://schemas.openxmlformats.org/markup-compatibility/2006">
                <mc:Choice xmlns:v="urn:schemas-microsoft-com:vml" Requires="v">
                  <p:oleObj spid="_x0000_s1191" name="Image" r:id="rId15" imgW="1574280" imgH="1053720" progId="Photoshop.Image.13">
                    <p:embed/>
                  </p:oleObj>
                </mc:Choice>
                <mc:Fallback>
                  <p:oleObj name="Image" r:id="rId15" imgW="1574280" imgH="1053720" progId="Photoshop.Image.13">
                    <p:embed/>
                    <p:pic>
                      <p:nvPicPr>
                        <p:cNvPr id="0" name=""/>
                        <p:cNvPicPr/>
                        <p:nvPr/>
                      </p:nvPicPr>
                      <p:blipFill>
                        <a:blip r:embed="rId16"/>
                        <a:stretch>
                          <a:fillRect/>
                        </a:stretch>
                      </p:blipFill>
                      <p:spPr>
                        <a:xfrm>
                          <a:off x="44629619" y="11328671"/>
                          <a:ext cx="1482266" cy="992162"/>
                        </a:xfrm>
                        <a:prstGeom prst="rect">
                          <a:avLst/>
                        </a:prstGeom>
                      </p:spPr>
                    </p:pic>
                  </p:oleObj>
                </mc:Fallback>
              </mc:AlternateContent>
            </a:graphicData>
          </a:graphic>
        </p:graphicFrame>
        <p:grpSp>
          <p:nvGrpSpPr>
            <p:cNvPr id="59" name="Group 58"/>
            <p:cNvGrpSpPr/>
            <p:nvPr userDrawn="1"/>
          </p:nvGrpSpPr>
          <p:grpSpPr>
            <a:xfrm>
              <a:off x="44487207" y="29414560"/>
              <a:ext cx="10354213" cy="1265612"/>
              <a:chOff x="44200453" y="28362386"/>
              <a:chExt cx="9771399" cy="1090622"/>
            </a:xfrm>
          </p:grpSpPr>
          <p:sp>
            <p:nvSpPr>
              <p:cNvPr id="61" name="Rounded Rectangle 60"/>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6660"/>
              </a:p>
            </p:txBody>
          </p:sp>
          <p:pic>
            <p:nvPicPr>
              <p:cNvPr id="62" name="Picture 7" descr="http://t2.gstatic.com/images?q=tbn:ANd9GcR4APHC6TT9w54M2zn_pvCiBxUNcspYPoVxirLRphBoJabfSvu7zw">
                <a:hlinkClick r:id="rId17"/>
              </p:cNvPr>
              <p:cNvPicPr>
                <a:picLocks noChangeAspect="1" noChangeArrowheads="1"/>
              </p:cNvPicPr>
              <p:nvPr userDrawn="1"/>
            </p:nvPicPr>
            <p:blipFill>
              <a:blip r:embed="rId18" cstate="print"/>
              <a:srcRect/>
              <a:stretch>
                <a:fillRect/>
              </a:stretch>
            </p:blipFill>
            <p:spPr bwMode="auto">
              <a:xfrm>
                <a:off x="44326393" y="28460718"/>
                <a:ext cx="914401" cy="914399"/>
              </a:xfrm>
              <a:prstGeom prst="rect">
                <a:avLst/>
              </a:prstGeom>
              <a:noFill/>
              <a:ln>
                <a:noFill/>
              </a:ln>
            </p:spPr>
          </p:pic>
          <p:sp>
            <p:nvSpPr>
              <p:cNvPr id="63" name="TextBox 62"/>
              <p:cNvSpPr txBox="1"/>
              <p:nvPr userDrawn="1"/>
            </p:nvSpPr>
            <p:spPr>
              <a:xfrm>
                <a:off x="45300663" y="28552305"/>
                <a:ext cx="8671189" cy="652787"/>
              </a:xfrm>
              <a:prstGeom prst="rect">
                <a:avLst/>
              </a:prstGeom>
              <a:noFill/>
              <a:ln>
                <a:noFill/>
              </a:ln>
            </p:spPr>
            <p:txBody>
              <a:bodyPr wrap="square" rtlCol="0">
                <a:spAutoFit/>
              </a:bodyPr>
              <a:lstStyle/>
              <a:p>
                <a:r>
                  <a:rPr lang="en-US" sz="2160" dirty="0" smtClean="0">
                    <a:solidFill>
                      <a:schemeClr val="tx2"/>
                    </a:solidFill>
                    <a:latin typeface="Trebuchet MS" pitchFamily="34" charset="0"/>
                  </a:rPr>
                  <a:t>Student</a:t>
                </a:r>
                <a:r>
                  <a:rPr lang="en-US" sz="2160" baseline="0" dirty="0" smtClean="0">
                    <a:solidFill>
                      <a:schemeClr val="tx2"/>
                    </a:solidFill>
                    <a:latin typeface="Trebuchet MS" pitchFamily="34" charset="0"/>
                  </a:rPr>
                  <a:t> discounts are available on our </a:t>
                </a:r>
                <a:r>
                  <a:rPr lang="en-US" sz="2160" baseline="0" dirty="0" err="1" smtClean="0">
                    <a:solidFill>
                      <a:schemeClr val="tx2"/>
                    </a:solidFill>
                    <a:latin typeface="Trebuchet MS" pitchFamily="34" charset="0"/>
                  </a:rPr>
                  <a:t>Facebook</a:t>
                </a:r>
                <a:r>
                  <a:rPr lang="en-US" sz="2160" baseline="0" dirty="0" smtClean="0">
                    <a:solidFill>
                      <a:schemeClr val="tx2"/>
                    </a:solidFill>
                    <a:latin typeface="Trebuchet MS" pitchFamily="34" charset="0"/>
                  </a:rPr>
                  <a:t> page.</a:t>
                </a:r>
                <a:br>
                  <a:rPr lang="en-US" sz="2160" baseline="0" dirty="0" smtClean="0">
                    <a:solidFill>
                      <a:schemeClr val="tx2"/>
                    </a:solidFill>
                    <a:latin typeface="Trebuchet MS" pitchFamily="34" charset="0"/>
                  </a:rPr>
                </a:br>
                <a:r>
                  <a:rPr lang="en-US" sz="2160" baseline="0" dirty="0" smtClean="0">
                    <a:solidFill>
                      <a:schemeClr val="tx2"/>
                    </a:solidFill>
                    <a:latin typeface="Trebuchet MS" pitchFamily="34" charset="0"/>
                  </a:rPr>
                  <a:t>Go to </a:t>
                </a:r>
                <a:r>
                  <a:rPr lang="en-US" sz="2160" u="sng" baseline="0" dirty="0" smtClean="0">
                    <a:solidFill>
                      <a:schemeClr val="tx2"/>
                    </a:solidFill>
                    <a:latin typeface="Trebuchet MS" pitchFamily="34" charset="0"/>
                  </a:rPr>
                  <a:t>PosterPresentations.com</a:t>
                </a:r>
                <a:r>
                  <a:rPr lang="en-US" sz="2160" baseline="0" dirty="0" smtClean="0">
                    <a:solidFill>
                      <a:schemeClr val="tx2"/>
                    </a:solidFill>
                    <a:latin typeface="Trebuchet MS" pitchFamily="34" charset="0"/>
                  </a:rPr>
                  <a:t> and click on the FB icon. </a:t>
                </a:r>
                <a:endParaRPr lang="en-US" sz="2160" dirty="0">
                  <a:solidFill>
                    <a:schemeClr val="tx2"/>
                  </a:solidFill>
                  <a:latin typeface="Trebuchet MS" pitchFamily="34" charset="0"/>
                </a:endParaRPr>
              </a:p>
            </p:txBody>
          </p:sp>
        </p:grpSp>
        <p:sp>
          <p:nvSpPr>
            <p:cNvPr id="60" name="TextBox 59"/>
            <p:cNvSpPr txBox="1"/>
            <p:nvPr userDrawn="1"/>
          </p:nvSpPr>
          <p:spPr>
            <a:xfrm>
              <a:off x="44487207" y="31169782"/>
              <a:ext cx="6870215" cy="1246402"/>
            </a:xfrm>
            <a:prstGeom prst="rect">
              <a:avLst/>
            </a:prstGeom>
            <a:noFill/>
          </p:spPr>
          <p:txBody>
            <a:bodyPr wrap="square" lIns="65304" tIns="32651" rIns="65304" bIns="32651" rtlCol="0">
              <a:spAutoFit/>
            </a:bodyPr>
            <a:lstStyle/>
            <a:p>
              <a:pPr marL="260033" indent="-260033">
                <a:lnSpc>
                  <a:spcPts val="2340"/>
                </a:lnSpc>
              </a:pPr>
              <a:r>
                <a:rPr lang="en-US" sz="2520" dirty="0" smtClean="0">
                  <a:solidFill>
                    <a:schemeClr val="bg1"/>
                  </a:solidFill>
                </a:rPr>
                <a:t>©2015</a:t>
              </a:r>
              <a:r>
                <a:rPr lang="en-US" sz="2520" baseline="0" dirty="0" smtClean="0">
                  <a:solidFill>
                    <a:schemeClr val="bg1"/>
                  </a:solidFill>
                </a:rPr>
                <a:t> </a:t>
              </a:r>
              <a:r>
                <a:rPr lang="en-US" sz="2520" dirty="0" smtClean="0">
                  <a:solidFill>
                    <a:schemeClr val="bg1"/>
                  </a:solidFill>
                </a:rPr>
                <a:t>PosterPresentations.com</a:t>
              </a:r>
              <a:br>
                <a:rPr lang="en-US" sz="2520" dirty="0" smtClean="0">
                  <a:solidFill>
                    <a:schemeClr val="bg1"/>
                  </a:solidFill>
                </a:rPr>
              </a:br>
              <a:r>
                <a:rPr lang="en-US" sz="2160" dirty="0" smtClean="0">
                  <a:solidFill>
                    <a:schemeClr val="bg1"/>
                  </a:solidFill>
                </a:rPr>
                <a:t>2117 Fourth Street ,</a:t>
              </a:r>
              <a:r>
                <a:rPr lang="en-US" sz="2160" baseline="0" dirty="0" smtClean="0">
                  <a:solidFill>
                    <a:schemeClr val="bg1"/>
                  </a:solidFill>
                </a:rPr>
                <a:t> Unit C        </a:t>
              </a:r>
            </a:p>
            <a:p>
              <a:pPr marL="260033" indent="0">
                <a:lnSpc>
                  <a:spcPts val="2340"/>
                </a:lnSpc>
              </a:pPr>
              <a:r>
                <a:rPr lang="en-US" sz="2160" baseline="0" dirty="0" smtClean="0">
                  <a:solidFill>
                    <a:schemeClr val="bg1"/>
                  </a:solidFill>
                </a:rPr>
                <a:t>Berkeley CA </a:t>
              </a:r>
              <a:r>
                <a:rPr lang="en-US" sz="1800" baseline="0" dirty="0" smtClean="0">
                  <a:solidFill>
                    <a:schemeClr val="bg1"/>
                  </a:solidFill>
                </a:rPr>
                <a:t>94710</a:t>
              </a:r>
              <a:r>
                <a:rPr lang="en-US" sz="2160" baseline="0" dirty="0" smtClean="0">
                  <a:solidFill>
                    <a:schemeClr val="bg1"/>
                  </a:solidFill>
                </a:rPr>
                <a:t/>
              </a:r>
              <a:br>
                <a:rPr lang="en-US" sz="2160" baseline="0" dirty="0" smtClean="0">
                  <a:solidFill>
                    <a:schemeClr val="bg1"/>
                  </a:solidFill>
                </a:rPr>
              </a:br>
              <a:r>
                <a:rPr lang="en-US" sz="2160" b="1" baseline="0" dirty="0" smtClean="0">
                  <a:solidFill>
                    <a:srgbClr val="FFFF00"/>
                  </a:solidFill>
                </a:rPr>
                <a:t>posterpresenter@gmail.com</a:t>
              </a:r>
              <a:endParaRPr lang="en-US" sz="2520" b="1" dirty="0">
                <a:solidFill>
                  <a:srgbClr val="FFFF00"/>
                </a:solidFill>
              </a:endParaRPr>
            </a:p>
          </p:txBody>
        </p:sp>
      </p:grpSp>
      <p:sp>
        <p:nvSpPr>
          <p:cNvPr id="36" name="Text Box 14"/>
          <p:cNvSpPr txBox="1">
            <a:spLocks noChangeArrowheads="1"/>
          </p:cNvSpPr>
          <p:nvPr userDrawn="1"/>
        </p:nvSpPr>
        <p:spPr bwMode="auto">
          <a:xfrm>
            <a:off x="1129101" y="32295539"/>
            <a:ext cx="2366237" cy="268504"/>
          </a:xfrm>
          <a:prstGeom prst="rect">
            <a:avLst/>
          </a:prstGeom>
          <a:noFill/>
          <a:ln w="9525">
            <a:noFill/>
            <a:miter lim="800000"/>
            <a:headEnd/>
            <a:tailEnd/>
          </a:ln>
          <a:effectLst/>
        </p:spPr>
        <p:txBody>
          <a:bodyPr wrap="square" lIns="70467" tIns="35227" rIns="70467" bIns="35227">
            <a:spAutoFit/>
          </a:bodyPr>
          <a:lstStyle/>
          <a:p>
            <a:pPr eaLnBrk="0" hangingPunct="0">
              <a:lnSpc>
                <a:spcPct val="65000"/>
              </a:lnSpc>
              <a:spcBef>
                <a:spcPct val="50000"/>
              </a:spcBef>
              <a:defRPr/>
            </a:pPr>
            <a:r>
              <a:rPr lang="en-US" sz="540" b="1" dirty="0" smtClean="0">
                <a:solidFill>
                  <a:schemeClr val="bg1">
                    <a:lumMod val="75000"/>
                  </a:schemeClr>
                </a:solidFill>
                <a:latin typeface="Arial" charset="0"/>
              </a:rPr>
              <a:t>RESEARCH POSTER PRESENTATION </a:t>
            </a:r>
            <a:r>
              <a:rPr lang="en-US" sz="540" b="1" dirty="0">
                <a:solidFill>
                  <a:schemeClr val="bg1">
                    <a:lumMod val="75000"/>
                  </a:schemeClr>
                </a:solidFill>
                <a:latin typeface="Arial" charset="0"/>
              </a:rPr>
              <a:t>DESIGN © </a:t>
            </a:r>
            <a:r>
              <a:rPr lang="en-US" sz="540" b="1" dirty="0" smtClean="0">
                <a:solidFill>
                  <a:schemeClr val="bg1">
                    <a:lumMod val="75000"/>
                  </a:schemeClr>
                </a:solidFill>
                <a:latin typeface="Arial" charset="0"/>
              </a:rPr>
              <a:t>2015</a:t>
            </a:r>
            <a:endParaRPr lang="en-US" sz="540" b="1" dirty="0">
              <a:solidFill>
                <a:schemeClr val="bg1">
                  <a:lumMod val="75000"/>
                </a:schemeClr>
              </a:solidFill>
              <a:latin typeface="Arial" charset="0"/>
            </a:endParaRPr>
          </a:p>
          <a:p>
            <a:pPr eaLnBrk="0" hangingPunct="0">
              <a:lnSpc>
                <a:spcPct val="65000"/>
              </a:lnSpc>
              <a:spcBef>
                <a:spcPct val="50000"/>
              </a:spcBef>
              <a:defRPr/>
            </a:pPr>
            <a:r>
              <a:rPr lang="en-US" sz="810" b="1" dirty="0">
                <a:solidFill>
                  <a:schemeClr val="bg1">
                    <a:lumMod val="75000"/>
                  </a:schemeClr>
                </a:solidFill>
                <a:latin typeface="Arial" charset="0"/>
              </a:rPr>
              <a:t>www.PosterPresentations.com</a:t>
            </a:r>
          </a:p>
        </p:txBody>
      </p:sp>
    </p:spTree>
  </p:cSld>
  <p:clrMap bg1="lt1" tx1="dk1" bg2="lt2" tx2="dk2" accent1="accent1" accent2="accent2" accent3="accent3" accent4="accent4" accent5="accent5" accent6="accent6" hlink="hlink" folHlink="folHlink"/>
  <p:sldLayoutIdLst>
    <p:sldLayoutId id="2147483659" r:id="rId1"/>
  </p:sldLayoutIdLst>
  <p:timing>
    <p:tnLst>
      <p:par>
        <p:cTn id="1" dur="indefinite" restart="never" nodeType="tmRoot"/>
      </p:par>
    </p:tnLst>
  </p:timing>
  <p:txStyles>
    <p:titleStyle>
      <a:lvl1pPr algn="ctr" defTabSz="3388829" rtl="0" eaLnBrk="1" latinLnBrk="0" hangingPunct="1">
        <a:spcBef>
          <a:spcPct val="0"/>
        </a:spcBef>
        <a:buNone/>
        <a:defRPr sz="6750" kern="1200">
          <a:solidFill>
            <a:schemeClr val="bg1"/>
          </a:solidFill>
          <a:latin typeface="Trebuchet MS" pitchFamily="34" charset="0"/>
          <a:ea typeface="+mj-ea"/>
          <a:cs typeface="+mj-cs"/>
        </a:defRPr>
      </a:lvl1pPr>
    </p:titleStyle>
    <p:bodyStyle>
      <a:lvl1pPr marL="1270811" indent="-1270811" algn="l" defTabSz="3388829" rtl="0" eaLnBrk="1" latinLnBrk="0" hangingPunct="1">
        <a:spcBef>
          <a:spcPct val="20000"/>
        </a:spcBef>
        <a:buFont typeface="Arial" pitchFamily="34" charset="0"/>
        <a:buChar char="•"/>
        <a:defRPr sz="11880" kern="1200">
          <a:solidFill>
            <a:schemeClr val="tx1"/>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p:bodyStyle>
    <p:otherStyle>
      <a:defPPr>
        <a:defRPr lang="en-US"/>
      </a:defPPr>
      <a:lvl1pPr marL="0" algn="l" defTabSz="3388829" rtl="0" eaLnBrk="1" latinLnBrk="0" hangingPunct="1">
        <a:defRPr sz="6660" kern="1200">
          <a:solidFill>
            <a:schemeClr val="tx1"/>
          </a:solidFill>
          <a:latin typeface="+mn-lt"/>
          <a:ea typeface="+mn-ea"/>
          <a:cs typeface="+mn-cs"/>
        </a:defRPr>
      </a:lvl1pPr>
      <a:lvl2pPr marL="1694416" algn="l" defTabSz="3388829" rtl="0" eaLnBrk="1" latinLnBrk="0" hangingPunct="1">
        <a:defRPr sz="6660" kern="1200">
          <a:solidFill>
            <a:schemeClr val="tx1"/>
          </a:solidFill>
          <a:latin typeface="+mn-lt"/>
          <a:ea typeface="+mn-ea"/>
          <a:cs typeface="+mn-cs"/>
        </a:defRPr>
      </a:lvl2pPr>
      <a:lvl3pPr marL="3388829" algn="l" defTabSz="3388829" rtl="0" eaLnBrk="1" latinLnBrk="0" hangingPunct="1">
        <a:defRPr sz="6660" kern="1200">
          <a:solidFill>
            <a:schemeClr val="tx1"/>
          </a:solidFill>
          <a:latin typeface="+mn-lt"/>
          <a:ea typeface="+mn-ea"/>
          <a:cs typeface="+mn-cs"/>
        </a:defRPr>
      </a:lvl3pPr>
      <a:lvl4pPr marL="5083244" algn="l" defTabSz="3388829" rtl="0" eaLnBrk="1" latinLnBrk="0" hangingPunct="1">
        <a:defRPr sz="6660" kern="1200">
          <a:solidFill>
            <a:schemeClr val="tx1"/>
          </a:solidFill>
          <a:latin typeface="+mn-lt"/>
          <a:ea typeface="+mn-ea"/>
          <a:cs typeface="+mn-cs"/>
        </a:defRPr>
      </a:lvl4pPr>
      <a:lvl5pPr marL="6777658" algn="l" defTabSz="3388829" rtl="0" eaLnBrk="1" latinLnBrk="0" hangingPunct="1">
        <a:defRPr sz="6660" kern="1200">
          <a:solidFill>
            <a:schemeClr val="tx1"/>
          </a:solidFill>
          <a:latin typeface="+mn-lt"/>
          <a:ea typeface="+mn-ea"/>
          <a:cs typeface="+mn-cs"/>
        </a:defRPr>
      </a:lvl5pPr>
      <a:lvl6pPr marL="8472074" algn="l" defTabSz="3388829" rtl="0" eaLnBrk="1" latinLnBrk="0" hangingPunct="1">
        <a:defRPr sz="6660" kern="1200">
          <a:solidFill>
            <a:schemeClr val="tx1"/>
          </a:solidFill>
          <a:latin typeface="+mn-lt"/>
          <a:ea typeface="+mn-ea"/>
          <a:cs typeface="+mn-cs"/>
        </a:defRPr>
      </a:lvl6pPr>
      <a:lvl7pPr marL="10166489" algn="l" defTabSz="3388829" rtl="0" eaLnBrk="1" latinLnBrk="0" hangingPunct="1">
        <a:defRPr sz="6660" kern="1200">
          <a:solidFill>
            <a:schemeClr val="tx1"/>
          </a:solidFill>
          <a:latin typeface="+mn-lt"/>
          <a:ea typeface="+mn-ea"/>
          <a:cs typeface="+mn-cs"/>
        </a:defRPr>
      </a:lvl7pPr>
      <a:lvl8pPr marL="11860903" algn="l" defTabSz="3388829" rtl="0" eaLnBrk="1" latinLnBrk="0" hangingPunct="1">
        <a:defRPr sz="6660" kern="1200">
          <a:solidFill>
            <a:schemeClr val="tx1"/>
          </a:solidFill>
          <a:latin typeface="+mn-lt"/>
          <a:ea typeface="+mn-ea"/>
          <a:cs typeface="+mn-cs"/>
        </a:defRPr>
      </a:lvl8pPr>
      <a:lvl9pPr marL="13555319" algn="l" defTabSz="3388829" rtl="0" eaLnBrk="1" latinLnBrk="0" hangingPunct="1">
        <a:defRPr sz="666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50000">
              <a:schemeClr val="accent5">
                <a:lumMod val="60000"/>
                <a:lumOff val="4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0" y="0"/>
            <a:ext cx="27432000" cy="4800600"/>
          </a:xfrm>
          <a:prstGeom prst="rect">
            <a:avLst/>
          </a:prstGeom>
          <a:solidFill>
            <a:schemeClr val="accent5">
              <a:lumMod val="75000"/>
            </a:schemeClr>
          </a:solidFill>
          <a:ln w="9525">
            <a:solidFill>
              <a:schemeClr val="tx1"/>
            </a:solidFill>
            <a:miter lim="800000"/>
            <a:headEnd/>
            <a:tailEnd/>
          </a:ln>
          <a:effectLst/>
        </p:spPr>
        <p:txBody>
          <a:bodyPr wrap="none" lIns="70601" tIns="35300" rIns="70601" bIns="35300" anchor="ctr"/>
          <a:lstStyle/>
          <a:p>
            <a:pPr>
              <a:defRPr/>
            </a:pPr>
            <a:endParaRPr lang="en-US" sz="6660" dirty="0"/>
          </a:p>
        </p:txBody>
      </p:sp>
      <p:sp>
        <p:nvSpPr>
          <p:cNvPr id="9" name="Rectangle 9"/>
          <p:cNvSpPr>
            <a:spLocks noChangeArrowheads="1"/>
          </p:cNvSpPr>
          <p:nvPr/>
        </p:nvSpPr>
        <p:spPr bwMode="auto">
          <a:xfrm>
            <a:off x="0" y="4805365"/>
            <a:ext cx="27432000" cy="152400"/>
          </a:xfrm>
          <a:prstGeom prst="rect">
            <a:avLst/>
          </a:prstGeom>
          <a:solidFill>
            <a:schemeClr val="accent5">
              <a:lumMod val="50000"/>
            </a:schemeClr>
          </a:solidFill>
          <a:ln w="152400">
            <a:noFill/>
            <a:miter lim="800000"/>
            <a:headEnd/>
            <a:tailEnd/>
          </a:ln>
          <a:effectLst/>
        </p:spPr>
        <p:txBody>
          <a:bodyPr wrap="none" lIns="70601" tIns="35300" rIns="70601" bIns="35300" anchor="ctr"/>
          <a:lstStyle/>
          <a:p>
            <a:pPr>
              <a:defRPr/>
            </a:pPr>
            <a:endParaRPr lang="en-US" sz="6660" dirty="0"/>
          </a:p>
        </p:txBody>
      </p:sp>
      <p:grpSp>
        <p:nvGrpSpPr>
          <p:cNvPr id="25" name="Group 24"/>
          <p:cNvGrpSpPr/>
          <p:nvPr userDrawn="1"/>
        </p:nvGrpSpPr>
        <p:grpSpPr>
          <a:xfrm>
            <a:off x="-12658121" y="-43314"/>
            <a:ext cx="12259293" cy="32961714"/>
            <a:chOff x="-11225189" y="-1"/>
            <a:chExt cx="11018865" cy="32918401"/>
          </a:xfrm>
        </p:grpSpPr>
        <p:sp>
          <p:nvSpPr>
            <p:cNvPr id="26" name="Rectangle 25"/>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1366507" rtl="0" eaLnBrk="1" fontAlgn="auto" latinLnBrk="0" hangingPunct="1">
                <a:lnSpc>
                  <a:spcPct val="100000"/>
                </a:lnSpc>
                <a:spcBef>
                  <a:spcPts val="0"/>
                </a:spcBef>
                <a:spcAft>
                  <a:spcPts val="0"/>
                </a:spcAft>
                <a:buClrTx/>
                <a:buSzTx/>
                <a:buFontTx/>
                <a:buNone/>
                <a:tabLst/>
                <a:defRPr/>
              </a:pPr>
              <a:r>
                <a:rPr lang="en-US" sz="2880" b="1" spc="0" dirty="0" smtClean="0">
                  <a:solidFill>
                    <a:srgbClr val="FF0000"/>
                  </a:solidFill>
                  <a:latin typeface="Trebuchet MS" pitchFamily="34" charset="0"/>
                </a:rPr>
                <a:t>(—THIS SIDEBAR DOES NOT PRINT—)</a:t>
              </a:r>
              <a:endParaRPr lang="en-US" sz="2880" b="1" spc="540"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DESIGN</a:t>
              </a:r>
              <a:r>
                <a:rPr lang="en-US" sz="3600" b="1" spc="540" baseline="0" dirty="0" smtClean="0">
                  <a:solidFill>
                    <a:schemeClr val="bg1"/>
                  </a:solidFill>
                  <a:latin typeface="Trebuchet MS" pitchFamily="34" charset="0"/>
                </a:rPr>
                <a:t> </a:t>
              </a:r>
              <a:r>
                <a:rPr lang="en-US" sz="3600" b="1" spc="540" dirty="0" smtClean="0">
                  <a:solidFill>
                    <a:schemeClr val="bg1"/>
                  </a:solidFill>
                  <a:latin typeface="Trebuchet MS" pitchFamily="34" charset="0"/>
                </a:rPr>
                <a:t>GUIDE</a:t>
              </a:r>
            </a:p>
            <a:p>
              <a:pPr algn="ctr"/>
              <a:endParaRPr lang="en-US" sz="2520" b="1" dirty="0" smtClean="0">
                <a:latin typeface="Trebuchet MS" pitchFamily="34" charset="0"/>
              </a:endParaRPr>
            </a:p>
            <a:p>
              <a:pPr defTabSz="3389075"/>
              <a:r>
                <a:rPr lang="en-US" sz="2520" i="0" dirty="0" smtClean="0">
                  <a:latin typeface="Trebuchet MS" pitchFamily="34" charset="0"/>
                </a:rPr>
                <a:t>This PowerPoint</a:t>
              </a:r>
              <a:r>
                <a:rPr lang="en-US" sz="2520" i="0" baseline="0" dirty="0" smtClean="0">
                  <a:latin typeface="Trebuchet MS" pitchFamily="34" charset="0"/>
                </a:rPr>
                <a:t> </a:t>
              </a:r>
              <a:r>
                <a:rPr lang="en-US" sz="2520" i="0" dirty="0" smtClean="0">
                  <a:latin typeface="Trebuchet MS" pitchFamily="34" charset="0"/>
                </a:rPr>
                <a:t>2007 template produces</a:t>
              </a:r>
              <a:r>
                <a:rPr lang="en-US" sz="2520" i="0" baseline="0" dirty="0" smtClean="0">
                  <a:latin typeface="Trebuchet MS" pitchFamily="34" charset="0"/>
                </a:rPr>
                <a:t> </a:t>
              </a:r>
              <a:r>
                <a:rPr lang="en-US" sz="2520" i="0" dirty="0" smtClean="0">
                  <a:latin typeface="Trebuchet MS" pitchFamily="34" charset="0"/>
                </a:rPr>
                <a:t>a 30”x40” presentation poster. </a:t>
              </a:r>
              <a:r>
                <a:rPr lang="en-US" sz="2520" dirty="0" smtClean="0">
                  <a:latin typeface="Trebuchet MS" pitchFamily="34" charset="0"/>
                </a:rPr>
                <a:t>You</a:t>
              </a:r>
              <a:r>
                <a:rPr lang="en-US" sz="2520" baseline="0" dirty="0" smtClean="0">
                  <a:latin typeface="Trebuchet MS" pitchFamily="34" charset="0"/>
                </a:rPr>
                <a:t> can u</a:t>
              </a:r>
              <a:r>
                <a:rPr lang="en-US" sz="2520" dirty="0" smtClean="0">
                  <a:latin typeface="Trebuchet MS" pitchFamily="34" charset="0"/>
                </a:rPr>
                <a:t>se</a:t>
              </a:r>
              <a:r>
                <a:rPr lang="en-US" sz="2520" baseline="0" dirty="0" smtClean="0">
                  <a:latin typeface="Trebuchet MS" pitchFamily="34" charset="0"/>
                </a:rPr>
                <a:t> it to create your research poster and </a:t>
              </a:r>
              <a:r>
                <a:rPr lang="en-US" sz="2520" dirty="0" smtClean="0">
                  <a:latin typeface="Trebuchet MS" pitchFamily="34" charset="0"/>
                </a:rPr>
                <a:t>save valuable time placing titles, subtitles,</a:t>
              </a:r>
              <a:r>
                <a:rPr lang="en-US" sz="2520" baseline="0" dirty="0" smtClean="0">
                  <a:latin typeface="Trebuchet MS" pitchFamily="34" charset="0"/>
                </a:rPr>
                <a:t> text, and graphics</a:t>
              </a:r>
              <a:r>
                <a:rPr lang="en-US" sz="2520" dirty="0" smtClean="0">
                  <a:latin typeface="Trebuchet MS" pitchFamily="34" charset="0"/>
                </a:rPr>
                <a:t>. </a:t>
              </a:r>
            </a:p>
            <a:p>
              <a:pPr defTabSz="3389075"/>
              <a:endParaRPr lang="en-US" sz="2520" dirty="0" smtClean="0">
                <a:latin typeface="Trebuchet MS" pitchFamily="34" charset="0"/>
              </a:endParaRPr>
            </a:p>
            <a:p>
              <a:pPr defTabSz="3950297"/>
              <a:r>
                <a:rPr lang="en-US" sz="2520" dirty="0" smtClean="0">
                  <a:latin typeface="Trebuchet MS" pitchFamily="34" charset="0"/>
                </a:rPr>
                <a:t>We provide a series of online tutorials that will guide you through the poster design process and answer your poster production questions. To view our template tutorials, go online to </a:t>
              </a:r>
              <a:r>
                <a:rPr lang="en-US" sz="2520" b="1" dirty="0" smtClean="0">
                  <a:solidFill>
                    <a:srgbClr val="FFC000"/>
                  </a:solidFill>
                  <a:latin typeface="Trebuchet MS" pitchFamily="34" charset="0"/>
                </a:rPr>
                <a:t>PosterPresentations.com</a:t>
              </a:r>
              <a:r>
                <a:rPr lang="en-US" sz="2520" b="1" dirty="0" smtClean="0">
                  <a:solidFill>
                    <a:schemeClr val="bg1"/>
                  </a:solidFill>
                  <a:latin typeface="Trebuchet MS" pitchFamily="34" charset="0"/>
                </a:rPr>
                <a:t> </a:t>
              </a:r>
              <a:r>
                <a:rPr lang="en-US" sz="2520" dirty="0" smtClean="0">
                  <a:solidFill>
                    <a:schemeClr val="bg1"/>
                  </a:solidFill>
                  <a:latin typeface="Trebuchet MS" pitchFamily="34" charset="0"/>
                </a:rPr>
                <a:t>and click on HELP DESK.</a:t>
              </a:r>
            </a:p>
            <a:p>
              <a:pPr defTabSz="3950297"/>
              <a:endParaRPr lang="en-US" sz="2520" dirty="0" smtClean="0">
                <a:latin typeface="Trebuchet MS" pitchFamily="34" charset="0"/>
              </a:endParaRPr>
            </a:p>
            <a:p>
              <a:pPr defTabSz="3950297"/>
              <a:r>
                <a:rPr lang="en-US" sz="2520" dirty="0" smtClean="0">
                  <a:solidFill>
                    <a:schemeClr val="bg1"/>
                  </a:solidFill>
                  <a:latin typeface="Trebuchet MS" pitchFamily="34" charset="0"/>
                </a:rPr>
                <a:t>When</a:t>
              </a:r>
              <a:r>
                <a:rPr lang="en-US" sz="2520" baseline="0" dirty="0" smtClean="0">
                  <a:solidFill>
                    <a:schemeClr val="bg1"/>
                  </a:solidFill>
                  <a:latin typeface="Trebuchet MS" pitchFamily="34" charset="0"/>
                </a:rPr>
                <a:t> you are ready to print your poster</a:t>
              </a:r>
              <a:r>
                <a:rPr lang="en-US" sz="2520" dirty="0" smtClean="0">
                  <a:solidFill>
                    <a:schemeClr val="bg1"/>
                  </a:solidFill>
                  <a:latin typeface="Trebuchet MS" pitchFamily="34" charset="0"/>
                </a:rPr>
                <a:t>,</a:t>
              </a:r>
              <a:r>
                <a:rPr lang="en-US" sz="2520" baseline="0" dirty="0" smtClean="0">
                  <a:solidFill>
                    <a:schemeClr val="bg1"/>
                  </a:solidFill>
                  <a:latin typeface="Trebuchet MS" pitchFamily="34" charset="0"/>
                </a:rPr>
                <a:t> go online to </a:t>
              </a:r>
              <a:r>
                <a:rPr lang="en-US" sz="2520" b="0" dirty="0" smtClean="0">
                  <a:solidFill>
                    <a:schemeClr val="bg1"/>
                  </a:solidFill>
                  <a:latin typeface="Trebuchet MS" pitchFamily="34" charset="0"/>
                </a:rPr>
                <a:t>PosterPresentations.com</a:t>
              </a:r>
              <a:r>
                <a:rPr lang="en-US" sz="2520" dirty="0" smtClean="0">
                  <a:solidFill>
                    <a:schemeClr val="bg1"/>
                  </a:solidFill>
                  <a:latin typeface="Trebuchet MS" pitchFamily="34" charset="0"/>
                </a:rPr>
                <a:t/>
              </a:r>
              <a:br>
                <a:rPr lang="en-US" sz="2520" dirty="0" smtClean="0">
                  <a:solidFill>
                    <a:schemeClr val="bg1"/>
                  </a:solidFill>
                  <a:latin typeface="Trebuchet MS" pitchFamily="34" charset="0"/>
                </a:rPr>
              </a:br>
              <a:endParaRPr lang="en-US" sz="2520" dirty="0" smtClean="0">
                <a:solidFill>
                  <a:schemeClr val="bg1"/>
                </a:solidFill>
                <a:latin typeface="Trebuchet MS" pitchFamily="34" charset="0"/>
              </a:endParaRPr>
            </a:p>
            <a:p>
              <a:pPr algn="l" defTabSz="3389075"/>
              <a:r>
                <a:rPr lang="en-US" sz="2520" b="0" dirty="0" smtClean="0">
                  <a:solidFill>
                    <a:schemeClr val="bg1"/>
                  </a:solidFill>
                  <a:latin typeface="Trebuchet MS" pitchFamily="34" charset="0"/>
                </a:rPr>
                <a:t>Need</a:t>
              </a:r>
              <a:r>
                <a:rPr lang="en-US" sz="2520" b="0" baseline="0" dirty="0" smtClean="0">
                  <a:solidFill>
                    <a:schemeClr val="bg1"/>
                  </a:solidFill>
                  <a:latin typeface="Trebuchet MS" pitchFamily="34" charset="0"/>
                </a:rPr>
                <a:t> assistance? Call us at </a:t>
              </a:r>
              <a:r>
                <a:rPr lang="en-US" sz="2520" b="0" dirty="0" smtClean="0">
                  <a:solidFill>
                    <a:srgbClr val="FFC000"/>
                  </a:solidFill>
                  <a:latin typeface="Trebuchet MS" pitchFamily="34" charset="0"/>
                </a:rPr>
                <a:t>1.510.649.3001</a:t>
              </a:r>
            </a:p>
            <a:p>
              <a:pPr algn="l" defTabSz="3389075"/>
              <a:endParaRPr lang="en-US" sz="3240" b="1" dirty="0" smtClean="0">
                <a:solidFill>
                  <a:srgbClr val="FFFF00"/>
                </a:solidFill>
                <a:latin typeface="Trebuchet MS" pitchFamily="34" charset="0"/>
              </a:endParaRPr>
            </a:p>
            <a:p>
              <a:pPr algn="ctr"/>
              <a:endParaRPr lang="en-US" sz="2160" b="1"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QUICK START</a:t>
              </a:r>
            </a:p>
            <a:p>
              <a:pPr algn="ctr"/>
              <a:endParaRPr lang="en-US" sz="288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Zoom in and out</a:t>
              </a:r>
            </a:p>
            <a:p>
              <a:pPr marL="2274570" indent="-585788" algn="l" defTabSz="765810">
                <a:tabLst/>
              </a:pPr>
              <a:r>
                <a:rPr lang="en-US" sz="2160" b="0" baseline="0" dirty="0" smtClean="0">
                  <a:solidFill>
                    <a:schemeClr val="bg1"/>
                  </a:solidFill>
                  <a:latin typeface="Trebuchet MS" pitchFamily="34" charset="0"/>
                </a:rPr>
                <a:t>	</a:t>
              </a:r>
              <a:r>
                <a:rPr lang="en-US" sz="2160" b="0" baseline="0" dirty="0" smtClean="0">
                  <a:solidFill>
                    <a:schemeClr val="bg1">
                      <a:lumMod val="75000"/>
                    </a:schemeClr>
                  </a:solidFill>
                  <a:latin typeface="Trebuchet MS" pitchFamily="34" charset="0"/>
                </a:rPr>
                <a:t>As you work on your poster zoom in and out to the level that is more comfortable to you. Go to VIEW &gt; ZOOM.</a:t>
              </a:r>
            </a:p>
            <a:p>
              <a:pPr algn="l"/>
              <a:endParaRPr lang="en-US" sz="2520" b="0"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Title, Authors, and Affiliations</a:t>
              </a:r>
            </a:p>
            <a:p>
              <a:pPr algn="l"/>
              <a:r>
                <a:rPr lang="en-US" sz="2160" b="0" baseline="0" dirty="0" smtClean="0">
                  <a:solidFill>
                    <a:schemeClr val="bg1">
                      <a:lumMod val="75000"/>
                    </a:schemeClr>
                  </a:solidFill>
                  <a:latin typeface="Trebuchet MS" pitchFamily="34" charset="0"/>
                </a:rPr>
                <a:t>Start designing your poster by adding the title, the names of the authors, and the affiliated institutions. </a:t>
              </a:r>
              <a:r>
                <a:rPr lang="en-US" sz="2160" b="0" spc="0" baseline="0" dirty="0" smtClean="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2160" b="0" spc="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The font size of your title should be bigger than your name(s) and institution name(s).</a:t>
              </a:r>
            </a:p>
            <a:p>
              <a:pPr algn="l"/>
              <a:r>
                <a:rPr lang="en-US" sz="2520" b="1" baseline="0" dirty="0" smtClean="0">
                  <a:solidFill>
                    <a:schemeClr val="bg1"/>
                  </a:solidFill>
                  <a:latin typeface="Trebuchet MS" pitchFamily="34" charset="0"/>
                </a:rPr>
                <a:t/>
              </a:r>
              <a:br>
                <a:rPr lang="en-US" sz="2520" b="1" baseline="0" dirty="0" smtClean="0">
                  <a:solidFill>
                    <a:schemeClr val="bg1"/>
                  </a:solidFill>
                  <a:latin typeface="Trebuchet MS" pitchFamily="34" charset="0"/>
                </a:rPr>
              </a:br>
              <a:endParaRPr lang="en-US" sz="2520" b="1" dirty="0" smtClean="0">
                <a:solidFill>
                  <a:schemeClr val="bg1"/>
                </a:solidFill>
                <a:latin typeface="Trebuchet MS" pitchFamily="34" charset="0"/>
              </a:endParaRPr>
            </a:p>
            <a:p>
              <a:pPr algn="ctr"/>
              <a:endParaRPr lang="en-US" sz="2520" b="1" dirty="0" smtClean="0">
                <a:solidFill>
                  <a:srgbClr val="FFC000"/>
                </a:solidFill>
                <a:latin typeface="Trebuchet MS" pitchFamily="34" charset="0"/>
              </a:endParaRPr>
            </a:p>
            <a:p>
              <a:pPr algn="ctr"/>
              <a:endParaRPr lang="en-US" sz="2520" b="1" dirty="0" smtClean="0">
                <a:solidFill>
                  <a:srgbClr val="FFC000"/>
                </a:solidFill>
                <a:latin typeface="Trebuchet MS" pitchFamily="34" charset="0"/>
              </a:endParaRPr>
            </a:p>
            <a:p>
              <a:pPr algn="ctr"/>
              <a:r>
                <a:rPr lang="en-US" sz="2880" b="1" dirty="0" smtClean="0">
                  <a:solidFill>
                    <a:srgbClr val="FFC000"/>
                  </a:solidFill>
                  <a:latin typeface="Trebuchet MS" pitchFamily="34" charset="0"/>
                </a:rPr>
                <a:t>Adding Logos</a:t>
              </a:r>
              <a:r>
                <a:rPr lang="en-US" sz="2880" b="1" baseline="0" dirty="0" smtClean="0">
                  <a:solidFill>
                    <a:srgbClr val="FFC000"/>
                  </a:solidFill>
                  <a:latin typeface="Trebuchet MS" pitchFamily="34" charset="0"/>
                </a:rPr>
                <a:t> / Seals</a:t>
              </a:r>
            </a:p>
            <a:p>
              <a:pPr algn="l"/>
              <a:r>
                <a:rPr lang="en-US" sz="2160" b="0" baseline="0" dirty="0" smtClean="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2160" b="0" spc="27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spc="0"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See if your school’s logo is available on our free poster templates page.</a:t>
              </a:r>
            </a:p>
            <a:p>
              <a:pPr algn="l"/>
              <a:endParaRPr lang="en-US" sz="2160" b="0" baseline="0" dirty="0" smtClean="0">
                <a:latin typeface="Trebuchet MS" pitchFamily="34" charset="0"/>
              </a:endParaRPr>
            </a:p>
            <a:p>
              <a:pPr algn="ctr"/>
              <a:r>
                <a:rPr lang="en-US" sz="2880" b="1" baseline="0" dirty="0" smtClean="0">
                  <a:solidFill>
                    <a:srgbClr val="FFC000"/>
                  </a:solidFill>
                  <a:latin typeface="Trebuchet MS" pitchFamily="34" charset="0"/>
                </a:rPr>
                <a:t>Photographs / Graphics</a:t>
              </a:r>
            </a:p>
            <a:p>
              <a:pPr algn="l" defTabSz="880110"/>
              <a:r>
                <a:rPr lang="en-US" sz="2160" b="0" baseline="0" dirty="0" smtClean="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2160" b="0" spc="0" baseline="0" dirty="0" smtClean="0">
                  <a:solidFill>
                    <a:schemeClr val="bg1">
                      <a:lumMod val="75000"/>
                    </a:schemeClr>
                  </a:solidFill>
                  <a:latin typeface="Trebuchet MS" pitchFamily="34" charset="0"/>
                </a:rPr>
                <a:t>disproportionally.</a:t>
              </a:r>
            </a:p>
            <a:p>
              <a:pPr algn="l" defTabSz="880110"/>
              <a:endParaRPr lang="en-US" sz="2160" b="0" baseline="0" dirty="0" smtClean="0">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r>
                <a:rPr lang="en-US" sz="2880" b="1" baseline="0" dirty="0" smtClean="0">
                  <a:solidFill>
                    <a:srgbClr val="FFC000"/>
                  </a:solidFill>
                  <a:latin typeface="Trebuchet MS" pitchFamily="34" charset="0"/>
                </a:rPr>
                <a:t>Image Quality Check</a:t>
              </a:r>
            </a:p>
            <a:p>
              <a:pPr lvl="0" algn="l" defTabSz="880110"/>
              <a:r>
                <a:rPr lang="en-US" sz="2160" b="0" baseline="0" dirty="0" smtClean="0">
                  <a:solidFill>
                    <a:schemeClr val="bg1">
                      <a:lumMod val="75000"/>
                    </a:schemeClr>
                  </a:solidFill>
                  <a:latin typeface="Trebuchet MS" pitchFamily="34" charset="0"/>
                </a:rPr>
                <a:t>Zoom in and look at your images at 100% magnification. If they look good they will print well. </a:t>
              </a:r>
              <a:endParaRPr lang="en-US" sz="2520" b="0" dirty="0" smtClean="0">
                <a:latin typeface="Trebuchet MS" pitchFamily="34" charset="0"/>
              </a:endParaRPr>
            </a:p>
          </p:txBody>
        </p:sp>
        <p:cxnSp>
          <p:nvCxnSpPr>
            <p:cNvPr id="36" name="Straight Connector 35"/>
            <p:cNvCxnSpPr/>
            <p:nvPr/>
          </p:nvCxnSpPr>
          <p:spPr>
            <a:xfrm>
              <a:off x="-11225189" y="7240467"/>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37" name="Picture 36"/>
            <p:cNvPicPr>
              <a:picLocks noChangeAspect="1"/>
            </p:cNvPicPr>
            <p:nvPr userDrawn="1"/>
          </p:nvPicPr>
          <p:blipFill>
            <a:blip r:embed="rId4"/>
            <a:stretch>
              <a:fillRect/>
            </a:stretch>
          </p:blipFill>
          <p:spPr>
            <a:xfrm>
              <a:off x="-10479105" y="8732868"/>
              <a:ext cx="1597666" cy="1201935"/>
            </a:xfrm>
            <a:prstGeom prst="rect">
              <a:avLst/>
            </a:prstGeom>
          </p:spPr>
        </p:pic>
        <p:pic>
          <p:nvPicPr>
            <p:cNvPr id="38" name="Picture 37"/>
            <p:cNvPicPr>
              <a:picLocks noChangeAspect="1"/>
            </p:cNvPicPr>
            <p:nvPr userDrawn="1"/>
          </p:nvPicPr>
          <p:blipFill>
            <a:blip r:embed="rId5"/>
            <a:stretch>
              <a:fillRect/>
            </a:stretch>
          </p:blipFill>
          <p:spPr>
            <a:xfrm>
              <a:off x="-10732765" y="13076183"/>
              <a:ext cx="9986808" cy="1053596"/>
            </a:xfrm>
            <a:prstGeom prst="rect">
              <a:avLst/>
            </a:prstGeom>
          </p:spPr>
        </p:pic>
        <p:grpSp>
          <p:nvGrpSpPr>
            <p:cNvPr id="39" name="Group 38"/>
            <p:cNvGrpSpPr/>
            <p:nvPr userDrawn="1"/>
          </p:nvGrpSpPr>
          <p:grpSpPr>
            <a:xfrm>
              <a:off x="-9744993" y="19604586"/>
              <a:ext cx="7531182" cy="2094921"/>
              <a:chOff x="-4470427" y="9208123"/>
              <a:chExt cx="3470785" cy="962496"/>
            </a:xfrm>
          </p:grpSpPr>
          <p:grpSp>
            <p:nvGrpSpPr>
              <p:cNvPr id="46" name="Group 45"/>
              <p:cNvGrpSpPr/>
              <p:nvPr userDrawn="1"/>
            </p:nvGrpSpPr>
            <p:grpSpPr>
              <a:xfrm>
                <a:off x="-2783495" y="9252354"/>
                <a:ext cx="624431" cy="907396"/>
                <a:chOff x="-3958697" y="8525819"/>
                <a:chExt cx="779338" cy="1300292"/>
              </a:xfrm>
            </p:grpSpPr>
            <p:pic>
              <p:nvPicPr>
                <p:cNvPr id="53" name="Picture 52"/>
                <p:cNvPicPr>
                  <a:picLocks noChangeAspect="1"/>
                </p:cNvPicPr>
                <p:nvPr userDrawn="1"/>
              </p:nvPicPr>
              <p:blipFill>
                <a:blip r:embed="rId6"/>
                <a:stretch>
                  <a:fillRect/>
                </a:stretch>
              </p:blipFill>
              <p:spPr>
                <a:xfrm>
                  <a:off x="-3948160" y="8525819"/>
                  <a:ext cx="768801" cy="1090857"/>
                </a:xfrm>
                <a:prstGeom prst="rect">
                  <a:avLst/>
                </a:prstGeom>
              </p:spPr>
            </p:pic>
            <p:sp>
              <p:nvSpPr>
                <p:cNvPr id="54" name="TextBox 53"/>
                <p:cNvSpPr txBox="1"/>
                <p:nvPr userDrawn="1"/>
              </p:nvSpPr>
              <p:spPr>
                <a:xfrm>
                  <a:off x="-3958697" y="9522560"/>
                  <a:ext cx="779337" cy="303551"/>
                </a:xfrm>
                <a:prstGeom prst="rect">
                  <a:avLst/>
                </a:prstGeom>
                <a:solidFill>
                  <a:schemeClr val="accent1"/>
                </a:solidFill>
                <a:ln>
                  <a:noFill/>
                </a:ln>
              </p:spPr>
              <p:txBody>
                <a:bodyPr wrap="square" lIns="91440" tIns="91440" rIns="91440" bIns="91440" rtlCol="0">
                  <a:spAutoFit/>
                </a:bodyPr>
                <a:lstStyle/>
                <a:p>
                  <a:pPr algn="ctr"/>
                  <a:r>
                    <a:rPr lang="en-US" sz="1800" b="1" dirty="0" smtClean="0">
                      <a:solidFill>
                        <a:schemeClr val="tx1"/>
                      </a:solidFill>
                    </a:rPr>
                    <a:t>ORIGINAL</a:t>
                  </a:r>
                  <a:endParaRPr lang="en-US" sz="1800" b="1" dirty="0">
                    <a:solidFill>
                      <a:schemeClr val="tx1"/>
                    </a:solidFill>
                  </a:endParaRPr>
                </a:p>
              </p:txBody>
            </p:sp>
          </p:grpSp>
          <p:grpSp>
            <p:nvGrpSpPr>
              <p:cNvPr id="47" name="Group 46"/>
              <p:cNvGrpSpPr/>
              <p:nvPr userDrawn="1"/>
            </p:nvGrpSpPr>
            <p:grpSpPr>
              <a:xfrm>
                <a:off x="-2033159" y="9252359"/>
                <a:ext cx="1033517" cy="907388"/>
                <a:chOff x="-2921738" y="8714808"/>
                <a:chExt cx="1420279" cy="1246948"/>
              </a:xfrm>
            </p:grpSpPr>
            <p:pic>
              <p:nvPicPr>
                <p:cNvPr id="51" name="Picture 50"/>
                <p:cNvPicPr>
                  <a:picLocks noChangeAspect="1"/>
                </p:cNvPicPr>
                <p:nvPr userDrawn="1"/>
              </p:nvPicPr>
              <p:blipFill>
                <a:blip r:embed="rId6"/>
                <a:stretch>
                  <a:fillRect/>
                </a:stretch>
              </p:blipFill>
              <p:spPr>
                <a:xfrm>
                  <a:off x="-2921738" y="8714808"/>
                  <a:ext cx="1420279" cy="1029694"/>
                </a:xfrm>
                <a:prstGeom prst="rect">
                  <a:avLst/>
                </a:prstGeom>
              </p:spPr>
            </p:pic>
            <p:sp>
              <p:nvSpPr>
                <p:cNvPr id="52" name="TextBox 51"/>
                <p:cNvSpPr txBox="1"/>
                <p:nvPr userDrawn="1"/>
              </p:nvSpPr>
              <p:spPr>
                <a:xfrm>
                  <a:off x="-2918991" y="9670656"/>
                  <a:ext cx="1417532" cy="291100"/>
                </a:xfrm>
                <a:prstGeom prst="rect">
                  <a:avLst/>
                </a:prstGeom>
                <a:solidFill>
                  <a:srgbClr val="FF0000"/>
                </a:solidFill>
              </p:spPr>
              <p:txBody>
                <a:bodyPr wrap="square" lIns="457200" tIns="91440" rIns="457200" bIns="91440" rtlCol="0">
                  <a:spAutoFit/>
                </a:bodyPr>
                <a:lstStyle/>
                <a:p>
                  <a:pPr algn="ctr"/>
                  <a:r>
                    <a:rPr lang="en-US" sz="1800" b="1" dirty="0" smtClean="0">
                      <a:solidFill>
                        <a:schemeClr val="bg1"/>
                      </a:solidFill>
                    </a:rPr>
                    <a:t>DISTORTED</a:t>
                  </a:r>
                  <a:endParaRPr lang="en-US" sz="810" b="1" dirty="0">
                    <a:solidFill>
                      <a:schemeClr val="bg1"/>
                    </a:solidFill>
                  </a:endParaRPr>
                </a:p>
              </p:txBody>
            </p:sp>
          </p:grpSp>
          <p:pic>
            <p:nvPicPr>
              <p:cNvPr id="49" name="Picture 48"/>
              <p:cNvPicPr>
                <a:picLocks noChangeAspect="1"/>
              </p:cNvPicPr>
              <p:nvPr userDrawn="1"/>
            </p:nvPicPr>
            <p:blipFill>
              <a:blip r:embed="rId7"/>
              <a:stretch>
                <a:fillRect/>
              </a:stretch>
            </p:blipFill>
            <p:spPr>
              <a:xfrm>
                <a:off x="-4470427" y="9208123"/>
                <a:ext cx="1098742" cy="847761"/>
              </a:xfrm>
              <a:prstGeom prst="rect">
                <a:avLst/>
              </a:prstGeom>
            </p:spPr>
          </p:pic>
          <p:sp>
            <p:nvSpPr>
              <p:cNvPr id="50" name="TextBox 49"/>
              <p:cNvSpPr txBox="1"/>
              <p:nvPr userDrawn="1"/>
            </p:nvSpPr>
            <p:spPr>
              <a:xfrm>
                <a:off x="-4440600" y="9857111"/>
                <a:ext cx="1035685" cy="313508"/>
              </a:xfrm>
              <a:prstGeom prst="rect">
                <a:avLst/>
              </a:prstGeom>
              <a:noFill/>
            </p:spPr>
            <p:txBody>
              <a:bodyPr wrap="square" lIns="457200" tIns="457200" rIns="457200" bIns="0" rtlCol="0">
                <a:spAutoFit/>
              </a:bodyPr>
              <a:lstStyle/>
              <a:p>
                <a:pPr algn="ctr"/>
                <a:r>
                  <a:rPr lang="en-US" sz="1440" dirty="0" smtClean="0">
                    <a:solidFill>
                      <a:schemeClr val="bg1"/>
                    </a:solidFill>
                  </a:rPr>
                  <a:t>Corner</a:t>
                </a:r>
                <a:r>
                  <a:rPr lang="en-US" sz="1440" baseline="0" dirty="0" smtClean="0">
                    <a:solidFill>
                      <a:schemeClr val="bg1"/>
                    </a:solidFill>
                  </a:rPr>
                  <a:t> handles</a:t>
                </a:r>
                <a:endParaRPr lang="en-US" sz="1440" dirty="0">
                  <a:solidFill>
                    <a:schemeClr val="bg1"/>
                  </a:solidFill>
                </a:endParaRPr>
              </a:p>
            </p:txBody>
          </p:sp>
        </p:grpSp>
        <p:grpSp>
          <p:nvGrpSpPr>
            <p:cNvPr id="40" name="Group 39"/>
            <p:cNvGrpSpPr/>
            <p:nvPr userDrawn="1"/>
          </p:nvGrpSpPr>
          <p:grpSpPr>
            <a:xfrm>
              <a:off x="-10395497" y="23738190"/>
              <a:ext cx="9316420" cy="2453251"/>
              <a:chOff x="-4753477" y="10890292"/>
              <a:chExt cx="4293521" cy="1127128"/>
            </a:xfrm>
          </p:grpSpPr>
          <p:graphicFrame>
            <p:nvGraphicFramePr>
              <p:cNvPr id="41" name="Object 40"/>
              <p:cNvGraphicFramePr>
                <a:graphicFrameLocks noChangeAspect="1"/>
              </p:cNvGraphicFramePr>
              <p:nvPr userDrawn="1">
                <p:extLst>
                  <p:ext uri="{D42A27DB-BD31-4B8C-83A1-F6EECF244321}">
                    <p14:modId xmlns:p14="http://schemas.microsoft.com/office/powerpoint/2010/main" val="3944284615"/>
                  </p:ext>
                </p:extLst>
              </p:nvPr>
            </p:nvGraphicFramePr>
            <p:xfrm>
              <a:off x="-4533347" y="10890299"/>
              <a:ext cx="1828800" cy="1117600"/>
            </p:xfrm>
            <a:graphic>
              <a:graphicData uri="http://schemas.openxmlformats.org/presentationml/2006/ole">
                <mc:AlternateContent xmlns:mc="http://schemas.openxmlformats.org/markup-compatibility/2006">
                  <mc:Choice xmlns:v="urn:schemas-microsoft-com:vml" Requires="v">
                    <p:oleObj spid="_x0000_s2212" name="Image" r:id="rId8" imgW="1828440" imgH="1117440" progId="Photoshop.Image.13">
                      <p:embed/>
                    </p:oleObj>
                  </mc:Choice>
                  <mc:Fallback>
                    <p:oleObj name="Image" r:id="rId8" imgW="1828440" imgH="1117440" progId="Photoshop.Image.13">
                      <p:embed/>
                      <p:pic>
                        <p:nvPicPr>
                          <p:cNvPr id="0" name=""/>
                          <p:cNvPicPr/>
                          <p:nvPr/>
                        </p:nvPicPr>
                        <p:blipFill>
                          <a:blip r:embed="rId9"/>
                          <a:stretch>
                            <a:fillRect/>
                          </a:stretch>
                        </p:blipFill>
                        <p:spPr>
                          <a:xfrm>
                            <a:off x="-4533347" y="10890299"/>
                            <a:ext cx="1828800" cy="1117600"/>
                          </a:xfrm>
                          <a:prstGeom prst="rect">
                            <a:avLst/>
                          </a:prstGeom>
                        </p:spPr>
                      </p:pic>
                    </p:oleObj>
                  </mc:Fallback>
                </mc:AlternateContent>
              </a:graphicData>
            </a:graphic>
          </p:graphicFrame>
          <p:graphicFrame>
            <p:nvGraphicFramePr>
              <p:cNvPr id="42" name="Object 41"/>
              <p:cNvGraphicFramePr>
                <a:graphicFrameLocks noChangeAspect="1"/>
              </p:cNvGraphicFramePr>
              <p:nvPr userDrawn="1">
                <p:extLst>
                  <p:ext uri="{D42A27DB-BD31-4B8C-83A1-F6EECF244321}">
                    <p14:modId xmlns:p14="http://schemas.microsoft.com/office/powerpoint/2010/main" val="1959636283"/>
                  </p:ext>
                </p:extLst>
              </p:nvPr>
            </p:nvGraphicFramePr>
            <p:xfrm>
              <a:off x="-2456641" y="10893992"/>
              <a:ext cx="1828800" cy="1117600"/>
            </p:xfrm>
            <a:graphic>
              <a:graphicData uri="http://schemas.openxmlformats.org/presentationml/2006/ole">
                <mc:AlternateContent xmlns:mc="http://schemas.openxmlformats.org/markup-compatibility/2006">
                  <mc:Choice xmlns:v="urn:schemas-microsoft-com:vml" Requires="v">
                    <p:oleObj spid="_x0000_s2213" name="Image" r:id="rId10" imgW="1828440" imgH="1117440" progId="Photoshop.Image.13">
                      <p:embed/>
                    </p:oleObj>
                  </mc:Choice>
                  <mc:Fallback>
                    <p:oleObj name="Image" r:id="rId10" imgW="1828440" imgH="1117440" progId="Photoshop.Image.13">
                      <p:embed/>
                      <p:pic>
                        <p:nvPicPr>
                          <p:cNvPr id="0" name=""/>
                          <p:cNvPicPr/>
                          <p:nvPr/>
                        </p:nvPicPr>
                        <p:blipFill>
                          <a:blip r:embed="rId11"/>
                          <a:stretch>
                            <a:fillRect/>
                          </a:stretch>
                        </p:blipFill>
                        <p:spPr>
                          <a:xfrm>
                            <a:off x="-2456641" y="10893992"/>
                            <a:ext cx="1828800" cy="1117600"/>
                          </a:xfrm>
                          <a:prstGeom prst="rect">
                            <a:avLst/>
                          </a:prstGeom>
                        </p:spPr>
                      </p:pic>
                    </p:oleObj>
                  </mc:Fallback>
                </mc:AlternateContent>
              </a:graphicData>
            </a:graphic>
          </p:graphicFrame>
          <p:sp>
            <p:nvSpPr>
              <p:cNvPr id="43" name="TextBox 42"/>
              <p:cNvSpPr txBox="1"/>
              <p:nvPr userDrawn="1"/>
            </p:nvSpPr>
            <p:spPr>
              <a:xfrm rot="16200000">
                <a:off x="-5235785" y="11372600"/>
                <a:ext cx="1117601" cy="152986"/>
              </a:xfrm>
              <a:prstGeom prst="rect">
                <a:avLst/>
              </a:prstGeom>
              <a:noFill/>
            </p:spPr>
            <p:txBody>
              <a:bodyPr wrap="square" lIns="91440" tIns="91440" rIns="91440" bIns="0" rtlCol="0">
                <a:spAutoFit/>
              </a:bodyPr>
              <a:lstStyle/>
              <a:p>
                <a:pPr algn="ctr"/>
                <a:r>
                  <a:rPr lang="en-US" sz="1800" dirty="0" smtClean="0">
                    <a:solidFill>
                      <a:srgbClr val="92D050"/>
                    </a:solidFill>
                  </a:rPr>
                  <a:t>Good</a:t>
                </a:r>
                <a:r>
                  <a:rPr lang="en-US" sz="1800" baseline="0" dirty="0" smtClean="0">
                    <a:solidFill>
                      <a:srgbClr val="92D050"/>
                    </a:solidFill>
                  </a:rPr>
                  <a:t> </a:t>
                </a:r>
                <a:r>
                  <a:rPr lang="en-US" sz="1800" baseline="0" dirty="0" smtClean="0">
                    <a:solidFill>
                      <a:schemeClr val="bg1"/>
                    </a:solidFill>
                  </a:rPr>
                  <a:t>printing quality</a:t>
                </a:r>
                <a:endParaRPr lang="en-US" sz="1800" dirty="0">
                  <a:solidFill>
                    <a:schemeClr val="bg1"/>
                  </a:solidFill>
                </a:endParaRPr>
              </a:p>
            </p:txBody>
          </p:sp>
          <p:sp>
            <p:nvSpPr>
              <p:cNvPr id="44" name="TextBox 43"/>
              <p:cNvSpPr txBox="1"/>
              <p:nvPr userDrawn="1"/>
            </p:nvSpPr>
            <p:spPr>
              <a:xfrm rot="16200000">
                <a:off x="-1095250" y="11382127"/>
                <a:ext cx="1117601" cy="152986"/>
              </a:xfrm>
              <a:prstGeom prst="rect">
                <a:avLst/>
              </a:prstGeom>
              <a:noFill/>
            </p:spPr>
            <p:txBody>
              <a:bodyPr wrap="square" lIns="91440" tIns="91440" rIns="91440" bIns="0" rtlCol="0">
                <a:spAutoFit/>
              </a:bodyPr>
              <a:lstStyle/>
              <a:p>
                <a:pPr algn="ctr"/>
                <a:r>
                  <a:rPr lang="en-US" sz="1800" dirty="0" smtClean="0">
                    <a:solidFill>
                      <a:srgbClr val="FF0000"/>
                    </a:solidFill>
                  </a:rPr>
                  <a:t>Bad </a:t>
                </a:r>
                <a:r>
                  <a:rPr lang="en-US" sz="1800" dirty="0" smtClean="0">
                    <a:solidFill>
                      <a:schemeClr val="bg1"/>
                    </a:solidFill>
                  </a:rPr>
                  <a:t>printing quality</a:t>
                </a:r>
                <a:endParaRPr lang="en-US" sz="1800" dirty="0">
                  <a:solidFill>
                    <a:schemeClr val="bg1"/>
                  </a:solidFill>
                </a:endParaRPr>
              </a:p>
            </p:txBody>
          </p:sp>
        </p:grpSp>
      </p:grpSp>
      <p:grpSp>
        <p:nvGrpSpPr>
          <p:cNvPr id="55" name="Group 54"/>
          <p:cNvGrpSpPr/>
          <p:nvPr userDrawn="1"/>
        </p:nvGrpSpPr>
        <p:grpSpPr>
          <a:xfrm>
            <a:off x="27804389" y="1"/>
            <a:ext cx="12284832" cy="32956206"/>
            <a:chOff x="44157839" y="-55065"/>
            <a:chExt cx="11062139" cy="32973465"/>
          </a:xfrm>
        </p:grpSpPr>
        <p:sp>
          <p:nvSpPr>
            <p:cNvPr id="56" name="Rectangle 55"/>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3600" b="1" spc="540" dirty="0" smtClean="0">
                  <a:solidFill>
                    <a:schemeClr val="bg1"/>
                  </a:solidFill>
                  <a:latin typeface="Trebuchet MS" pitchFamily="34" charset="0"/>
                </a:rPr>
                <a:t>QUICK START (cont.)</a:t>
              </a:r>
            </a:p>
            <a:p>
              <a:pPr algn="ctr"/>
              <a:endParaRPr lang="en-US" sz="324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How to change the template color theme</a:t>
              </a:r>
            </a:p>
            <a:p>
              <a:pPr marL="0" marR="0" lvl="2" indent="0" algn="l" defTabSz="102870"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2160" b="0" spc="0" baseline="0" dirty="0" smtClean="0">
                  <a:solidFill>
                    <a:schemeClr val="bg1">
                      <a:lumMod val="75000"/>
                    </a:schemeClr>
                  </a:solidFill>
                  <a:latin typeface="Trebuchet MS" pitchFamily="34" charset="0"/>
                </a:rPr>
                <a:t>also create your own color theme.</a:t>
              </a:r>
            </a:p>
            <a:p>
              <a:pPr marL="0" marR="0" lvl="2"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r>
                <a:rPr lang="en-US" sz="2160" b="0" baseline="0" dirty="0" smtClean="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Text</a:t>
              </a:r>
            </a:p>
            <a:p>
              <a:pPr marL="3086100" lvl="2" indent="0" algn="l" defTabSz="102870"/>
              <a:r>
                <a:rPr lang="en-US" sz="2160" b="0" baseline="0" dirty="0" smtClean="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1366507" lvl="2"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 </a:t>
              </a:r>
              <a:r>
                <a:rPr kumimoji="0" lang="en-US" sz="2880" b="1" i="0" u="none" strike="noStrike" kern="1200" cap="none" spc="0" normalizeH="0" baseline="0" noProof="0" dirty="0" smtClean="0">
                  <a:ln>
                    <a:noFill/>
                  </a:ln>
                  <a:solidFill>
                    <a:srgbClr val="FFC000"/>
                  </a:solidFill>
                  <a:effectLst/>
                  <a:uLnTx/>
                  <a:uFillTx/>
                  <a:latin typeface="Trebuchet MS" pitchFamily="34" charset="0"/>
                </a:rPr>
                <a:t>Text size</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Adjust the size of your text based on how much content you have to present. </a:t>
              </a:r>
              <a:b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b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The default template text offers a good starting point. Follow the conference requirements.</a:t>
              </a:r>
              <a:endParaRPr lang="en-US" sz="2160" b="0" baseline="0" dirty="0" smtClean="0">
                <a:solidFill>
                  <a:schemeClr val="bg1">
                    <a:lumMod val="75000"/>
                  </a:schemeClr>
                </a:solidFill>
                <a:latin typeface="Trebuchet MS" pitchFamily="34" charset="0"/>
              </a:endParaRPr>
            </a:p>
            <a:p>
              <a:pPr marL="1366507" lvl="2"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Tables</a:t>
              </a:r>
            </a:p>
            <a:p>
              <a:pPr marL="1800225" lvl="1" indent="0" algn="l" defTabSz="102870"/>
              <a:r>
                <a:rPr lang="en-US" sz="2160" b="0" baseline="0" dirty="0" smtClean="0">
                  <a:solidFill>
                    <a:schemeClr val="bg1">
                      <a:lumMod val="75000"/>
                    </a:schemeClr>
                  </a:solidFill>
                  <a:latin typeface="Trebuchet MS" pitchFamily="34" charset="0"/>
                </a:rPr>
                <a:t>To add a table from scratch go to the INSERT menu and </a:t>
              </a:r>
              <a:br>
                <a:rPr lang="en-US" sz="2160" b="0" baseline="0" dirty="0" smtClean="0">
                  <a:solidFill>
                    <a:schemeClr val="bg1">
                      <a:lumMod val="75000"/>
                    </a:schemeClr>
                  </a:solidFill>
                  <a:latin typeface="Trebuchet MS" pitchFamily="34" charset="0"/>
                </a:rPr>
              </a:br>
              <a:r>
                <a:rPr lang="en-US" sz="2160" b="0" baseline="0" dirty="0" smtClean="0">
                  <a:solidFill>
                    <a:schemeClr val="bg1">
                      <a:lumMod val="75000"/>
                    </a:schemeClr>
                  </a:solidFill>
                  <a:latin typeface="Trebuchet MS" pitchFamily="34" charset="0"/>
                </a:rPr>
                <a:t>click on TABLE. A drop-down box will help you select rows and columns. </a:t>
              </a:r>
            </a:p>
            <a:p>
              <a:pPr marL="0" lvl="0" indent="0" algn="l" defTabSz="102870"/>
              <a:r>
                <a:rPr lang="en-US" sz="2160" b="0" baseline="0" dirty="0" smtClean="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Graphs / Charts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change the column configuration</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1366507" rtl="0" eaLnBrk="1" fontAlgn="auto" latinLnBrk="0" hangingPunct="1">
                <a:lnSpc>
                  <a:spcPct val="100000"/>
                </a:lnSpc>
                <a:spcBef>
                  <a:spcPts val="0"/>
                </a:spcBef>
                <a:spcAft>
                  <a:spcPts val="0"/>
                </a:spcAft>
                <a:buClrTx/>
                <a:buSzTx/>
                <a:buFontTx/>
                <a:buNone/>
                <a:tabLst/>
                <a:defRPr/>
              </a:pPr>
              <a:endParaRPr kumimoji="0" lang="en-US" sz="2880" b="1" i="0" u="none" strike="noStrike" kern="1200" cap="none" spc="0" normalizeH="0" baseline="0" noProof="0" dirty="0" smtClean="0">
                <a:ln>
                  <a:noFill/>
                </a:ln>
                <a:solidFill>
                  <a:srgbClr val="FFC000"/>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remove the info bars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Save your work</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Print your poster</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520" b="0" i="0" u="none" strike="noStrike" kern="1200" cap="none" spc="0" normalizeH="0" baseline="0" noProof="0" dirty="0" smtClean="0">
                <a:ln>
                  <a:noFill/>
                </a:ln>
                <a:solidFill>
                  <a:prstClr val="white">
                    <a:lumMod val="75000"/>
                  </a:prstClr>
                </a:solidFill>
                <a:effectLst/>
                <a:uLnTx/>
                <a:uFillTx/>
                <a:latin typeface="Trebuchet MS" pitchFamily="34" charset="0"/>
              </a:endParaRPr>
            </a:p>
          </p:txBody>
        </p:sp>
        <p:graphicFrame>
          <p:nvGraphicFramePr>
            <p:cNvPr id="57" name="Object 56"/>
            <p:cNvGraphicFramePr>
              <a:graphicFrameLocks noChangeAspect="1"/>
            </p:cNvGraphicFramePr>
            <p:nvPr userDrawn="1">
              <p:extLst>
                <p:ext uri="{D42A27DB-BD31-4B8C-83A1-F6EECF244321}">
                  <p14:modId xmlns:p14="http://schemas.microsoft.com/office/powerpoint/2010/main" val="4022661947"/>
                </p:ext>
              </p:extLst>
            </p:nvPr>
          </p:nvGraphicFramePr>
          <p:xfrm>
            <a:off x="46871237" y="3286607"/>
            <a:ext cx="5586150" cy="2063772"/>
          </p:xfrm>
          <a:graphic>
            <a:graphicData uri="http://schemas.openxmlformats.org/presentationml/2006/ole">
              <mc:AlternateContent xmlns:mc="http://schemas.openxmlformats.org/markup-compatibility/2006">
                <mc:Choice xmlns:v="urn:schemas-microsoft-com:vml" Requires="v">
                  <p:oleObj spid="_x0000_s2214" name="Image" r:id="rId12" imgW="4571280" imgH="1688760" progId="Photoshop.Image.13">
                    <p:embed/>
                  </p:oleObj>
                </mc:Choice>
                <mc:Fallback>
                  <p:oleObj name="Image" r:id="rId12" imgW="4571280" imgH="1688760" progId="Photoshop.Image.13">
                    <p:embed/>
                    <p:pic>
                      <p:nvPicPr>
                        <p:cNvPr id="0" name=""/>
                        <p:cNvPicPr/>
                        <p:nvPr/>
                      </p:nvPicPr>
                      <p:blipFill>
                        <a:blip r:embed="rId13"/>
                        <a:stretch>
                          <a:fillRect/>
                        </a:stretch>
                      </p:blipFill>
                      <p:spPr>
                        <a:xfrm>
                          <a:off x="46871237" y="3286607"/>
                          <a:ext cx="5586150" cy="2063772"/>
                        </a:xfrm>
                        <a:prstGeom prst="rect">
                          <a:avLst/>
                        </a:prstGeom>
                      </p:spPr>
                    </p:pic>
                  </p:oleObj>
                </mc:Fallback>
              </mc:AlternateContent>
            </a:graphicData>
          </a:graphic>
        </p:graphicFrame>
        <p:pic>
          <p:nvPicPr>
            <p:cNvPr id="58" name="Picture 57"/>
            <p:cNvPicPr>
              <a:picLocks noChangeAspect="1"/>
            </p:cNvPicPr>
            <p:nvPr userDrawn="1"/>
          </p:nvPicPr>
          <p:blipFill>
            <a:blip r:embed="rId14"/>
            <a:stretch>
              <a:fillRect/>
            </a:stretch>
          </p:blipFill>
          <p:spPr>
            <a:xfrm>
              <a:off x="44487207" y="7579895"/>
              <a:ext cx="2969584" cy="1370577"/>
            </a:xfrm>
            <a:prstGeom prst="rect">
              <a:avLst/>
            </a:prstGeom>
            <a:ln>
              <a:noFill/>
            </a:ln>
          </p:spPr>
        </p:pic>
        <p:graphicFrame>
          <p:nvGraphicFramePr>
            <p:cNvPr id="59" name="Object 58"/>
            <p:cNvGraphicFramePr>
              <a:graphicFrameLocks noChangeAspect="1"/>
            </p:cNvGraphicFramePr>
            <p:nvPr userDrawn="1">
              <p:extLst>
                <p:ext uri="{D42A27DB-BD31-4B8C-83A1-F6EECF244321}">
                  <p14:modId xmlns:p14="http://schemas.microsoft.com/office/powerpoint/2010/main" val="1198015845"/>
                </p:ext>
              </p:extLst>
            </p:nvPr>
          </p:nvGraphicFramePr>
          <p:xfrm>
            <a:off x="44629619" y="11328671"/>
            <a:ext cx="1482266" cy="992162"/>
          </p:xfrm>
          <a:graphic>
            <a:graphicData uri="http://schemas.openxmlformats.org/presentationml/2006/ole">
              <mc:AlternateContent xmlns:mc="http://schemas.openxmlformats.org/markup-compatibility/2006">
                <mc:Choice xmlns:v="urn:schemas-microsoft-com:vml" Requires="v">
                  <p:oleObj spid="_x0000_s2215" name="Image" r:id="rId15" imgW="1574280" imgH="1053720" progId="Photoshop.Image.13">
                    <p:embed/>
                  </p:oleObj>
                </mc:Choice>
                <mc:Fallback>
                  <p:oleObj name="Image" r:id="rId15" imgW="1574280" imgH="1053720" progId="Photoshop.Image.13">
                    <p:embed/>
                    <p:pic>
                      <p:nvPicPr>
                        <p:cNvPr id="0" name=""/>
                        <p:cNvPicPr/>
                        <p:nvPr/>
                      </p:nvPicPr>
                      <p:blipFill>
                        <a:blip r:embed="rId16"/>
                        <a:stretch>
                          <a:fillRect/>
                        </a:stretch>
                      </p:blipFill>
                      <p:spPr>
                        <a:xfrm>
                          <a:off x="44629619" y="11328671"/>
                          <a:ext cx="1482266" cy="992162"/>
                        </a:xfrm>
                        <a:prstGeom prst="rect">
                          <a:avLst/>
                        </a:prstGeom>
                      </p:spPr>
                    </p:pic>
                  </p:oleObj>
                </mc:Fallback>
              </mc:AlternateContent>
            </a:graphicData>
          </a:graphic>
        </p:graphicFrame>
        <p:grpSp>
          <p:nvGrpSpPr>
            <p:cNvPr id="60" name="Group 59"/>
            <p:cNvGrpSpPr/>
            <p:nvPr userDrawn="1"/>
          </p:nvGrpSpPr>
          <p:grpSpPr>
            <a:xfrm>
              <a:off x="44487207" y="29414560"/>
              <a:ext cx="10354213" cy="1265612"/>
              <a:chOff x="44200453" y="28362386"/>
              <a:chExt cx="9771399" cy="1090622"/>
            </a:xfrm>
          </p:grpSpPr>
          <p:sp>
            <p:nvSpPr>
              <p:cNvPr id="62" name="Rounded Rectangle 61"/>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6660"/>
              </a:p>
            </p:txBody>
          </p:sp>
          <p:pic>
            <p:nvPicPr>
              <p:cNvPr id="63" name="Picture 7" descr="http://t2.gstatic.com/images?q=tbn:ANd9GcR4APHC6TT9w54M2zn_pvCiBxUNcspYPoVxirLRphBoJabfSvu7zw">
                <a:hlinkClick r:id="rId17"/>
              </p:cNvPr>
              <p:cNvPicPr>
                <a:picLocks noChangeAspect="1" noChangeArrowheads="1"/>
              </p:cNvPicPr>
              <p:nvPr userDrawn="1"/>
            </p:nvPicPr>
            <p:blipFill>
              <a:blip r:embed="rId18" cstate="print"/>
              <a:srcRect/>
              <a:stretch>
                <a:fillRect/>
              </a:stretch>
            </p:blipFill>
            <p:spPr bwMode="auto">
              <a:xfrm>
                <a:off x="44326393" y="28460718"/>
                <a:ext cx="914401" cy="914399"/>
              </a:xfrm>
              <a:prstGeom prst="rect">
                <a:avLst/>
              </a:prstGeom>
              <a:noFill/>
              <a:ln>
                <a:noFill/>
              </a:ln>
            </p:spPr>
          </p:pic>
          <p:sp>
            <p:nvSpPr>
              <p:cNvPr id="64" name="TextBox 63"/>
              <p:cNvSpPr txBox="1"/>
              <p:nvPr userDrawn="1"/>
            </p:nvSpPr>
            <p:spPr>
              <a:xfrm>
                <a:off x="45300663" y="28552305"/>
                <a:ext cx="8671189" cy="652787"/>
              </a:xfrm>
              <a:prstGeom prst="rect">
                <a:avLst/>
              </a:prstGeom>
              <a:noFill/>
              <a:ln>
                <a:noFill/>
              </a:ln>
            </p:spPr>
            <p:txBody>
              <a:bodyPr wrap="square" rtlCol="0">
                <a:spAutoFit/>
              </a:bodyPr>
              <a:lstStyle/>
              <a:p>
                <a:r>
                  <a:rPr lang="en-US" sz="2160" dirty="0" smtClean="0">
                    <a:solidFill>
                      <a:schemeClr val="tx2"/>
                    </a:solidFill>
                    <a:latin typeface="Trebuchet MS" pitchFamily="34" charset="0"/>
                  </a:rPr>
                  <a:t>Student</a:t>
                </a:r>
                <a:r>
                  <a:rPr lang="en-US" sz="2160" baseline="0" dirty="0" smtClean="0">
                    <a:solidFill>
                      <a:schemeClr val="tx2"/>
                    </a:solidFill>
                    <a:latin typeface="Trebuchet MS" pitchFamily="34" charset="0"/>
                  </a:rPr>
                  <a:t> discounts are available on our </a:t>
                </a:r>
                <a:r>
                  <a:rPr lang="en-US" sz="2160" baseline="0" dirty="0" err="1" smtClean="0">
                    <a:solidFill>
                      <a:schemeClr val="tx2"/>
                    </a:solidFill>
                    <a:latin typeface="Trebuchet MS" pitchFamily="34" charset="0"/>
                  </a:rPr>
                  <a:t>Facebook</a:t>
                </a:r>
                <a:r>
                  <a:rPr lang="en-US" sz="2160" baseline="0" dirty="0" smtClean="0">
                    <a:solidFill>
                      <a:schemeClr val="tx2"/>
                    </a:solidFill>
                    <a:latin typeface="Trebuchet MS" pitchFamily="34" charset="0"/>
                  </a:rPr>
                  <a:t> page.</a:t>
                </a:r>
                <a:br>
                  <a:rPr lang="en-US" sz="2160" baseline="0" dirty="0" smtClean="0">
                    <a:solidFill>
                      <a:schemeClr val="tx2"/>
                    </a:solidFill>
                    <a:latin typeface="Trebuchet MS" pitchFamily="34" charset="0"/>
                  </a:rPr>
                </a:br>
                <a:r>
                  <a:rPr lang="en-US" sz="2160" baseline="0" dirty="0" smtClean="0">
                    <a:solidFill>
                      <a:schemeClr val="tx2"/>
                    </a:solidFill>
                    <a:latin typeface="Trebuchet MS" pitchFamily="34" charset="0"/>
                  </a:rPr>
                  <a:t>Go to </a:t>
                </a:r>
                <a:r>
                  <a:rPr lang="en-US" sz="2160" u="sng" baseline="0" dirty="0" smtClean="0">
                    <a:solidFill>
                      <a:schemeClr val="tx2"/>
                    </a:solidFill>
                    <a:latin typeface="Trebuchet MS" pitchFamily="34" charset="0"/>
                  </a:rPr>
                  <a:t>PosterPresentations.com</a:t>
                </a:r>
                <a:r>
                  <a:rPr lang="en-US" sz="2160" baseline="0" dirty="0" smtClean="0">
                    <a:solidFill>
                      <a:schemeClr val="tx2"/>
                    </a:solidFill>
                    <a:latin typeface="Trebuchet MS" pitchFamily="34" charset="0"/>
                  </a:rPr>
                  <a:t> and click on the FB icon. </a:t>
                </a:r>
                <a:endParaRPr lang="en-US" sz="2160" dirty="0">
                  <a:solidFill>
                    <a:schemeClr val="tx2"/>
                  </a:solidFill>
                  <a:latin typeface="Trebuchet MS" pitchFamily="34" charset="0"/>
                </a:endParaRPr>
              </a:p>
            </p:txBody>
          </p:sp>
        </p:grpSp>
      </p:grpSp>
      <p:sp>
        <p:nvSpPr>
          <p:cNvPr id="35" name="TextBox 34"/>
          <p:cNvSpPr txBox="1"/>
          <p:nvPr userDrawn="1"/>
        </p:nvSpPr>
        <p:spPr>
          <a:xfrm>
            <a:off x="28170163" y="31208504"/>
            <a:ext cx="7629577" cy="1239156"/>
          </a:xfrm>
          <a:prstGeom prst="rect">
            <a:avLst/>
          </a:prstGeom>
          <a:noFill/>
        </p:spPr>
        <p:txBody>
          <a:bodyPr wrap="square" lIns="58774" tIns="29386" rIns="58774" bIns="29386" rtlCol="0">
            <a:spAutoFit/>
          </a:bodyPr>
          <a:lstStyle/>
          <a:p>
            <a:pPr marL="260033" indent="-260033">
              <a:lnSpc>
                <a:spcPts val="2340"/>
              </a:lnSpc>
            </a:pPr>
            <a:r>
              <a:rPr lang="en-US" sz="2520" dirty="0" smtClean="0">
                <a:solidFill>
                  <a:schemeClr val="bg1"/>
                </a:solidFill>
              </a:rPr>
              <a:t>©2015</a:t>
            </a:r>
            <a:r>
              <a:rPr lang="en-US" sz="2520" baseline="0" dirty="0" smtClean="0">
                <a:solidFill>
                  <a:schemeClr val="bg1"/>
                </a:solidFill>
              </a:rPr>
              <a:t> </a:t>
            </a:r>
            <a:r>
              <a:rPr lang="en-US" sz="2520" dirty="0" smtClean="0">
                <a:solidFill>
                  <a:schemeClr val="bg1"/>
                </a:solidFill>
              </a:rPr>
              <a:t>PosterPresentations.com</a:t>
            </a:r>
            <a:br>
              <a:rPr lang="en-US" sz="2520" dirty="0" smtClean="0">
                <a:solidFill>
                  <a:schemeClr val="bg1"/>
                </a:solidFill>
              </a:rPr>
            </a:br>
            <a:r>
              <a:rPr lang="en-US" sz="2160" dirty="0" smtClean="0">
                <a:solidFill>
                  <a:schemeClr val="bg1"/>
                </a:solidFill>
              </a:rPr>
              <a:t>2117 Fourth Street ,</a:t>
            </a:r>
            <a:r>
              <a:rPr lang="en-US" sz="2160" baseline="0" dirty="0" smtClean="0">
                <a:solidFill>
                  <a:schemeClr val="bg1"/>
                </a:solidFill>
              </a:rPr>
              <a:t> Unit C        </a:t>
            </a:r>
          </a:p>
          <a:p>
            <a:pPr marL="260033" indent="0">
              <a:lnSpc>
                <a:spcPts val="2340"/>
              </a:lnSpc>
            </a:pPr>
            <a:r>
              <a:rPr lang="en-US" sz="2160" baseline="0" dirty="0" smtClean="0">
                <a:solidFill>
                  <a:schemeClr val="bg1"/>
                </a:solidFill>
              </a:rPr>
              <a:t>Berkeley CA </a:t>
            </a:r>
            <a:r>
              <a:rPr lang="en-US" sz="1800" baseline="0" dirty="0" smtClean="0">
                <a:solidFill>
                  <a:schemeClr val="bg1"/>
                </a:solidFill>
              </a:rPr>
              <a:t>94710</a:t>
            </a:r>
            <a:r>
              <a:rPr lang="en-US" sz="2160" baseline="0" dirty="0" smtClean="0">
                <a:solidFill>
                  <a:schemeClr val="bg1"/>
                </a:solidFill>
              </a:rPr>
              <a:t/>
            </a:r>
            <a:br>
              <a:rPr lang="en-US" sz="2160" baseline="0" dirty="0" smtClean="0">
                <a:solidFill>
                  <a:schemeClr val="bg1"/>
                </a:solidFill>
              </a:rPr>
            </a:br>
            <a:r>
              <a:rPr lang="en-US" sz="2160" b="1" baseline="0" dirty="0" smtClean="0">
                <a:solidFill>
                  <a:srgbClr val="FFFF00"/>
                </a:solidFill>
              </a:rPr>
              <a:t>posterpresenter@gmail.com</a:t>
            </a:r>
            <a:endParaRPr lang="en-US" sz="2520" b="1" dirty="0">
              <a:solidFill>
                <a:srgbClr val="FFFF00"/>
              </a:solidFill>
            </a:endParaRPr>
          </a:p>
        </p:txBody>
      </p:sp>
      <p:sp>
        <p:nvSpPr>
          <p:cNvPr id="45" name="Rectangle 33"/>
          <p:cNvSpPr>
            <a:spLocks noChangeArrowheads="1"/>
          </p:cNvSpPr>
          <p:nvPr userDrawn="1"/>
        </p:nvSpPr>
        <p:spPr bwMode="auto">
          <a:xfrm>
            <a:off x="572142" y="5257679"/>
            <a:ext cx="26276635" cy="26746200"/>
          </a:xfrm>
          <a:prstGeom prst="roundRect">
            <a:avLst>
              <a:gd name="adj" fmla="val 1527"/>
            </a:avLst>
          </a:prstGeom>
          <a:gradFill>
            <a:gsLst>
              <a:gs pos="0">
                <a:schemeClr val="accent1">
                  <a:tint val="66000"/>
                  <a:satMod val="160000"/>
                </a:schemeClr>
              </a:gs>
              <a:gs pos="0">
                <a:srgbClr val="CDD2DE"/>
              </a:gs>
              <a:gs pos="100000">
                <a:srgbClr val="F3F5FA"/>
              </a:gs>
            </a:gsLst>
            <a:lin ang="16200000" scaled="1"/>
          </a:gradFill>
          <a:ln w="9525">
            <a:solidFill>
              <a:schemeClr val="tx2"/>
            </a:solidFill>
            <a:miter lim="800000"/>
            <a:headEnd/>
            <a:tailEnd/>
          </a:ln>
          <a:effectLst/>
        </p:spPr>
        <p:txBody>
          <a:bodyPr wrap="none" lIns="70601" tIns="35300" rIns="70601" bIns="35300" anchor="ctr"/>
          <a:lstStyle/>
          <a:p>
            <a:pPr>
              <a:defRPr/>
            </a:pPr>
            <a:endParaRPr lang="en-US" sz="6660" dirty="0"/>
          </a:p>
        </p:txBody>
      </p:sp>
      <p:sp>
        <p:nvSpPr>
          <p:cNvPr id="48" name="Text Box 14"/>
          <p:cNvSpPr txBox="1">
            <a:spLocks noChangeArrowheads="1"/>
          </p:cNvSpPr>
          <p:nvPr userDrawn="1"/>
        </p:nvSpPr>
        <p:spPr bwMode="auto">
          <a:xfrm>
            <a:off x="1129101" y="32295539"/>
            <a:ext cx="2366237" cy="268504"/>
          </a:xfrm>
          <a:prstGeom prst="rect">
            <a:avLst/>
          </a:prstGeom>
          <a:noFill/>
          <a:ln w="9525">
            <a:noFill/>
            <a:miter lim="800000"/>
            <a:headEnd/>
            <a:tailEnd/>
          </a:ln>
          <a:effectLst/>
        </p:spPr>
        <p:txBody>
          <a:bodyPr wrap="square" lIns="70467" tIns="35227" rIns="70467" bIns="35227">
            <a:spAutoFit/>
          </a:bodyPr>
          <a:lstStyle/>
          <a:p>
            <a:pPr eaLnBrk="0" hangingPunct="0">
              <a:lnSpc>
                <a:spcPct val="65000"/>
              </a:lnSpc>
              <a:spcBef>
                <a:spcPct val="50000"/>
              </a:spcBef>
              <a:defRPr/>
            </a:pPr>
            <a:r>
              <a:rPr lang="en-US" sz="540" b="1" dirty="0" smtClean="0">
                <a:solidFill>
                  <a:schemeClr val="bg1">
                    <a:lumMod val="75000"/>
                  </a:schemeClr>
                </a:solidFill>
                <a:latin typeface="Arial" charset="0"/>
              </a:rPr>
              <a:t>RESEARCH POSTER PRESENTATION </a:t>
            </a:r>
            <a:r>
              <a:rPr lang="en-US" sz="540" b="1" dirty="0">
                <a:solidFill>
                  <a:schemeClr val="bg1">
                    <a:lumMod val="75000"/>
                  </a:schemeClr>
                </a:solidFill>
                <a:latin typeface="Arial" charset="0"/>
              </a:rPr>
              <a:t>DESIGN © </a:t>
            </a:r>
            <a:r>
              <a:rPr lang="en-US" sz="540" b="1" dirty="0" smtClean="0">
                <a:solidFill>
                  <a:schemeClr val="bg1">
                    <a:lumMod val="75000"/>
                  </a:schemeClr>
                </a:solidFill>
                <a:latin typeface="Arial" charset="0"/>
              </a:rPr>
              <a:t>2015</a:t>
            </a:r>
            <a:endParaRPr lang="en-US" sz="540" b="1" dirty="0">
              <a:solidFill>
                <a:schemeClr val="bg1">
                  <a:lumMod val="75000"/>
                </a:schemeClr>
              </a:solidFill>
              <a:latin typeface="Arial" charset="0"/>
            </a:endParaRPr>
          </a:p>
          <a:p>
            <a:pPr eaLnBrk="0" hangingPunct="0">
              <a:lnSpc>
                <a:spcPct val="65000"/>
              </a:lnSpc>
              <a:spcBef>
                <a:spcPct val="50000"/>
              </a:spcBef>
              <a:defRPr/>
            </a:pPr>
            <a:r>
              <a:rPr lang="en-US" sz="810" b="1" dirty="0">
                <a:solidFill>
                  <a:schemeClr val="bg1">
                    <a:lumMod val="75000"/>
                  </a:schemeClr>
                </a:solidFill>
                <a:latin typeface="Arial" charset="0"/>
              </a:rPr>
              <a:t>www.PosterPresentations.com</a:t>
            </a:r>
          </a:p>
        </p:txBody>
      </p:sp>
    </p:spTree>
  </p:cSld>
  <p:clrMap bg1="lt1" tx1="dk1" bg2="lt2" tx2="dk2" accent1="accent1" accent2="accent2" accent3="accent3" accent4="accent4" accent5="accent5" accent6="accent6" hlink="hlink" folHlink="folHlink"/>
  <p:sldLayoutIdLst>
    <p:sldLayoutId id="2147483654" r:id="rId1"/>
  </p:sldLayoutIdLst>
  <p:timing>
    <p:tnLst>
      <p:par>
        <p:cTn id="1" dur="indefinite" restart="never" nodeType="tmRoot"/>
      </p:par>
    </p:tnLst>
  </p:timing>
  <p:txStyles>
    <p:titleStyle>
      <a:lvl1pPr algn="ctr" defTabSz="3388829" rtl="0" eaLnBrk="1" latinLnBrk="0" hangingPunct="1">
        <a:spcBef>
          <a:spcPct val="0"/>
        </a:spcBef>
        <a:buNone/>
        <a:defRPr sz="6750" kern="1200">
          <a:solidFill>
            <a:schemeClr val="bg1"/>
          </a:solidFill>
          <a:latin typeface="Trebuchet MS" pitchFamily="34" charset="0"/>
          <a:ea typeface="+mj-ea"/>
          <a:cs typeface="+mj-cs"/>
        </a:defRPr>
      </a:lvl1pPr>
    </p:titleStyle>
    <p:bodyStyle>
      <a:lvl1pPr marL="1270811" indent="-1270811" algn="l" defTabSz="3388829" rtl="0" eaLnBrk="1" latinLnBrk="0" hangingPunct="1">
        <a:spcBef>
          <a:spcPct val="20000"/>
        </a:spcBef>
        <a:buFont typeface="Arial" pitchFamily="34" charset="0"/>
        <a:buChar char="•"/>
        <a:defRPr sz="11880" kern="1200">
          <a:solidFill>
            <a:schemeClr val="tx1"/>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p:bodyStyle>
    <p:otherStyle>
      <a:defPPr>
        <a:defRPr lang="en-US"/>
      </a:defPPr>
      <a:lvl1pPr marL="0" algn="l" defTabSz="3388829" rtl="0" eaLnBrk="1" latinLnBrk="0" hangingPunct="1">
        <a:defRPr sz="6660" kern="1200">
          <a:solidFill>
            <a:schemeClr val="tx1"/>
          </a:solidFill>
          <a:latin typeface="+mn-lt"/>
          <a:ea typeface="+mn-ea"/>
          <a:cs typeface="+mn-cs"/>
        </a:defRPr>
      </a:lvl1pPr>
      <a:lvl2pPr marL="1694416" algn="l" defTabSz="3388829" rtl="0" eaLnBrk="1" latinLnBrk="0" hangingPunct="1">
        <a:defRPr sz="6660" kern="1200">
          <a:solidFill>
            <a:schemeClr val="tx1"/>
          </a:solidFill>
          <a:latin typeface="+mn-lt"/>
          <a:ea typeface="+mn-ea"/>
          <a:cs typeface="+mn-cs"/>
        </a:defRPr>
      </a:lvl2pPr>
      <a:lvl3pPr marL="3388829" algn="l" defTabSz="3388829" rtl="0" eaLnBrk="1" latinLnBrk="0" hangingPunct="1">
        <a:defRPr sz="6660" kern="1200">
          <a:solidFill>
            <a:schemeClr val="tx1"/>
          </a:solidFill>
          <a:latin typeface="+mn-lt"/>
          <a:ea typeface="+mn-ea"/>
          <a:cs typeface="+mn-cs"/>
        </a:defRPr>
      </a:lvl3pPr>
      <a:lvl4pPr marL="5083244" algn="l" defTabSz="3388829" rtl="0" eaLnBrk="1" latinLnBrk="0" hangingPunct="1">
        <a:defRPr sz="6660" kern="1200">
          <a:solidFill>
            <a:schemeClr val="tx1"/>
          </a:solidFill>
          <a:latin typeface="+mn-lt"/>
          <a:ea typeface="+mn-ea"/>
          <a:cs typeface="+mn-cs"/>
        </a:defRPr>
      </a:lvl4pPr>
      <a:lvl5pPr marL="6777658" algn="l" defTabSz="3388829" rtl="0" eaLnBrk="1" latinLnBrk="0" hangingPunct="1">
        <a:defRPr sz="6660" kern="1200">
          <a:solidFill>
            <a:schemeClr val="tx1"/>
          </a:solidFill>
          <a:latin typeface="+mn-lt"/>
          <a:ea typeface="+mn-ea"/>
          <a:cs typeface="+mn-cs"/>
        </a:defRPr>
      </a:lvl5pPr>
      <a:lvl6pPr marL="8472074" algn="l" defTabSz="3388829" rtl="0" eaLnBrk="1" latinLnBrk="0" hangingPunct="1">
        <a:defRPr sz="6660" kern="1200">
          <a:solidFill>
            <a:schemeClr val="tx1"/>
          </a:solidFill>
          <a:latin typeface="+mn-lt"/>
          <a:ea typeface="+mn-ea"/>
          <a:cs typeface="+mn-cs"/>
        </a:defRPr>
      </a:lvl6pPr>
      <a:lvl7pPr marL="10166489" algn="l" defTabSz="3388829" rtl="0" eaLnBrk="1" latinLnBrk="0" hangingPunct="1">
        <a:defRPr sz="6660" kern="1200">
          <a:solidFill>
            <a:schemeClr val="tx1"/>
          </a:solidFill>
          <a:latin typeface="+mn-lt"/>
          <a:ea typeface="+mn-ea"/>
          <a:cs typeface="+mn-cs"/>
        </a:defRPr>
      </a:lvl7pPr>
      <a:lvl8pPr marL="11860903" algn="l" defTabSz="3388829" rtl="0" eaLnBrk="1" latinLnBrk="0" hangingPunct="1">
        <a:defRPr sz="6660" kern="1200">
          <a:solidFill>
            <a:schemeClr val="tx1"/>
          </a:solidFill>
          <a:latin typeface="+mn-lt"/>
          <a:ea typeface="+mn-ea"/>
          <a:cs typeface="+mn-cs"/>
        </a:defRPr>
      </a:lvl8pPr>
      <a:lvl9pPr marL="13555319" algn="l" defTabSz="3388829" rtl="0" eaLnBrk="1" latinLnBrk="0" hangingPunct="1">
        <a:defRPr sz="66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wenchaod@andrew.cmu.edu" TargetMode="External"/><Relationship Id="rId4" Type="http://schemas.openxmlformats.org/officeDocument/2006/relationships/hyperlink" Target="mailto:hanfuz@andrew.cmu.edu" TargetMode="External"/><Relationship Id="rId5" Type="http://schemas.openxmlformats.org/officeDocument/2006/relationships/hyperlink" Target="mailto:parunapu@andrew.cmu.edu" TargetMode="External"/><Relationship Id="rId6" Type="http://schemas.openxmlformats.org/officeDocument/2006/relationships/hyperlink" Target="mailto:tianhaol@andrew.cmu.edu" TargetMode="External"/><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 name="Text Placeholder 82"/>
          <p:cNvSpPr>
            <a:spLocks noGrp="1"/>
          </p:cNvSpPr>
          <p:nvPr>
            <p:ph type="body" sz="quarter" idx="10"/>
          </p:nvPr>
        </p:nvSpPr>
        <p:spPr>
          <a:xfrm>
            <a:off x="576461" y="5875821"/>
            <a:ext cx="12944945" cy="3937752"/>
          </a:xfrm>
        </p:spPr>
        <p:txBody>
          <a:bodyPr/>
          <a:lstStyle/>
          <a:p>
            <a:pPr algn="just"/>
            <a:r>
              <a:rPr lang="en-US" dirty="0">
                <a:solidFill>
                  <a:schemeClr val="tx1"/>
                </a:solidFill>
              </a:rPr>
              <a:t>The Visual Dialog task has been at the forefront of deep learning research and excellent performance has already been achieved. Visual Dialog is about training a network to learn information about images, and be able to answer questions and have a conversation about those images. It involves being able to encode the relevant information (such as the images, the captions for the images, and the questions and answers about the images) into a meaningful representation, as well as being able to decode that representation and come out with a correct </a:t>
            </a:r>
            <a:r>
              <a:rPr lang="en-US" dirty="0" smtClean="0">
                <a:solidFill>
                  <a:schemeClr val="tx1"/>
                </a:solidFill>
              </a:rPr>
              <a:t>answer.</a:t>
            </a:r>
          </a:p>
          <a:p>
            <a:pPr algn="just"/>
            <a:r>
              <a:rPr lang="en-US" dirty="0" smtClean="0">
                <a:solidFill>
                  <a:schemeClr val="tx1"/>
                </a:solidFill>
              </a:rPr>
              <a:t>In </a:t>
            </a:r>
            <a:r>
              <a:rPr lang="en-US" dirty="0">
                <a:solidFill>
                  <a:schemeClr val="tx1"/>
                </a:solidFill>
              </a:rPr>
              <a:t>our project, we </a:t>
            </a:r>
            <a:r>
              <a:rPr lang="en-US" dirty="0" smtClean="0">
                <a:solidFill>
                  <a:schemeClr val="tx1"/>
                </a:solidFill>
              </a:rPr>
              <a:t>first attempt to </a:t>
            </a:r>
            <a:r>
              <a:rPr lang="en-US" dirty="0">
                <a:solidFill>
                  <a:schemeClr val="tx1"/>
                </a:solidFill>
              </a:rPr>
              <a:t>reproduce the state-of-the-art </a:t>
            </a:r>
            <a:r>
              <a:rPr lang="en-US" dirty="0" smtClean="0">
                <a:solidFill>
                  <a:schemeClr val="tx1"/>
                </a:solidFill>
              </a:rPr>
              <a:t>method in </a:t>
            </a:r>
            <a:r>
              <a:rPr lang="en-US" dirty="0">
                <a:solidFill>
                  <a:schemeClr val="tx1"/>
                </a:solidFill>
              </a:rPr>
              <a:t>the widely used Visual Dialog </a:t>
            </a:r>
            <a:r>
              <a:rPr lang="en-US" dirty="0" smtClean="0">
                <a:solidFill>
                  <a:schemeClr val="tx1"/>
                </a:solidFill>
              </a:rPr>
              <a:t>dataset. This </a:t>
            </a:r>
            <a:r>
              <a:rPr lang="en-US" dirty="0">
                <a:solidFill>
                  <a:schemeClr val="tx1"/>
                </a:solidFill>
              </a:rPr>
              <a:t>method uses a Late Fusion encoder with a discriminative decoder.  </a:t>
            </a:r>
            <a:r>
              <a:rPr lang="en-US" dirty="0" smtClean="0">
                <a:solidFill>
                  <a:schemeClr val="tx1"/>
                </a:solidFill>
              </a:rPr>
              <a:t>Since the memory limitation, we decrease </a:t>
            </a:r>
            <a:r>
              <a:rPr lang="en-US" dirty="0">
                <a:solidFill>
                  <a:schemeClr val="tx1"/>
                </a:solidFill>
              </a:rPr>
              <a:t>the model size and still obtain comparable </a:t>
            </a:r>
            <a:r>
              <a:rPr lang="en-US" dirty="0" smtClean="0">
                <a:solidFill>
                  <a:schemeClr val="tx1"/>
                </a:solidFill>
              </a:rPr>
              <a:t>results. We further introduce the sequential matching network </a:t>
            </a:r>
            <a:r>
              <a:rPr lang="mr-IN" dirty="0" smtClean="0">
                <a:solidFill>
                  <a:schemeClr val="tx1"/>
                </a:solidFill>
              </a:rPr>
              <a:t>–</a:t>
            </a:r>
            <a:r>
              <a:rPr lang="en-US" dirty="0" smtClean="0">
                <a:solidFill>
                  <a:schemeClr val="tx1"/>
                </a:solidFill>
              </a:rPr>
              <a:t> a new architecture for multi-turn response selection in retrieval-based visual dialog. </a:t>
            </a:r>
            <a:r>
              <a:rPr lang="en-US" dirty="0">
                <a:solidFill>
                  <a:schemeClr val="tx1"/>
                </a:solidFill>
              </a:rPr>
              <a:t>Finally, we </a:t>
            </a:r>
            <a:r>
              <a:rPr lang="en-US" dirty="0" smtClean="0">
                <a:solidFill>
                  <a:schemeClr val="tx1"/>
                </a:solidFill>
              </a:rPr>
              <a:t>explore deeply into the generative model with attentions, which can achieve the conversation based on given image </a:t>
            </a:r>
            <a:r>
              <a:rPr lang="en-US" dirty="0">
                <a:solidFill>
                  <a:schemeClr val="tx1"/>
                </a:solidFill>
              </a:rPr>
              <a:t>and outperform the existing methods.</a:t>
            </a:r>
          </a:p>
        </p:txBody>
      </p:sp>
      <p:sp>
        <p:nvSpPr>
          <p:cNvPr id="84" name="Text Placeholder 83"/>
          <p:cNvSpPr>
            <a:spLocks noGrp="1"/>
          </p:cNvSpPr>
          <p:nvPr>
            <p:ph type="body" sz="quarter" idx="11"/>
          </p:nvPr>
        </p:nvSpPr>
        <p:spPr/>
        <p:txBody>
          <a:bodyPr/>
          <a:lstStyle/>
          <a:p>
            <a:r>
              <a:rPr lang="en-US" dirty="0" smtClean="0"/>
              <a:t>Overview</a:t>
            </a:r>
            <a:endParaRPr lang="en-US" dirty="0"/>
          </a:p>
        </p:txBody>
      </p:sp>
      <p:sp>
        <p:nvSpPr>
          <p:cNvPr id="85" name="Text Placeholder 84"/>
          <p:cNvSpPr>
            <a:spLocks noGrp="1"/>
          </p:cNvSpPr>
          <p:nvPr>
            <p:ph type="body" sz="quarter" idx="20"/>
          </p:nvPr>
        </p:nvSpPr>
        <p:spPr>
          <a:xfrm>
            <a:off x="572182" y="9881976"/>
            <a:ext cx="12949224" cy="643172"/>
          </a:xfrm>
        </p:spPr>
        <p:txBody>
          <a:bodyPr/>
          <a:lstStyle/>
          <a:p>
            <a:r>
              <a:rPr lang="en-US" dirty="0" smtClean="0"/>
              <a:t>Models</a:t>
            </a:r>
          </a:p>
        </p:txBody>
      </p:sp>
      <p:sp>
        <p:nvSpPr>
          <p:cNvPr id="86" name="Text Placeholder 85"/>
          <p:cNvSpPr>
            <a:spLocks noGrp="1"/>
          </p:cNvSpPr>
          <p:nvPr>
            <p:ph type="body" sz="quarter" idx="25"/>
          </p:nvPr>
        </p:nvSpPr>
        <p:spPr/>
        <p:txBody>
          <a:bodyPr/>
          <a:lstStyle/>
          <a:p>
            <a:r>
              <a:rPr lang="en-US" dirty="0" smtClean="0"/>
              <a:t>Experiments</a:t>
            </a:r>
            <a:endParaRPr lang="en-US" dirty="0"/>
          </a:p>
        </p:txBody>
      </p:sp>
      <p:sp>
        <p:nvSpPr>
          <p:cNvPr id="87" name="Text Placeholder 86"/>
          <p:cNvSpPr>
            <a:spLocks noGrp="1"/>
          </p:cNvSpPr>
          <p:nvPr>
            <p:ph type="body" sz="quarter" idx="26"/>
          </p:nvPr>
        </p:nvSpPr>
        <p:spPr>
          <a:xfrm>
            <a:off x="13846682" y="5875819"/>
            <a:ext cx="12955929" cy="2789340"/>
          </a:xfrm>
        </p:spPr>
        <p:txBody>
          <a:bodyPr/>
          <a:lstStyle/>
          <a:p>
            <a:pPr algn="just"/>
            <a:r>
              <a:rPr lang="en-US" b="1" dirty="0" smtClean="0">
                <a:solidFill>
                  <a:schemeClr val="tx1"/>
                </a:solidFill>
              </a:rPr>
              <a:t>Evaluation</a:t>
            </a:r>
            <a:r>
              <a:rPr lang="en-US" dirty="0" smtClean="0">
                <a:solidFill>
                  <a:schemeClr val="tx1"/>
                </a:solidFill>
              </a:rPr>
              <a:t>: We conduct the experiments on the retrieval task, which is evaluated with Mean Reciprocal Rank (MRR) and Recall at N (R@N</a:t>
            </a:r>
            <a:r>
              <a:rPr lang="en-US" dirty="0" smtClean="0">
                <a:solidFill>
                  <a:schemeClr val="tx1"/>
                </a:solidFill>
              </a:rPr>
              <a:t>). Mean Reciprocal Rank will essentially look at what rank the model gave the correct response, and take the mean of all the reciprocals of the ranks given. The higher this value, the better the model performed. Recall at N, the other evaluation metric, looks at whether the correct response exists within the top N ranked responses given by the model. </a:t>
            </a:r>
            <a:endParaRPr lang="en-US" dirty="0" smtClean="0">
              <a:solidFill>
                <a:schemeClr val="tx1"/>
              </a:solidFill>
            </a:endParaRPr>
          </a:p>
          <a:p>
            <a:pPr algn="just"/>
            <a:r>
              <a:rPr lang="en-US" b="1" dirty="0" smtClean="0">
                <a:solidFill>
                  <a:schemeClr val="tx1"/>
                </a:solidFill>
              </a:rPr>
              <a:t>Constraints</a:t>
            </a:r>
            <a:r>
              <a:rPr lang="en-US" dirty="0" smtClean="0">
                <a:solidFill>
                  <a:schemeClr val="tx1"/>
                </a:solidFill>
              </a:rPr>
              <a:t>: Due to hardware constraints, we use smaller hidden size (200) and word embedding size (200) as opposed to 512 and 300 in Das et al.. We are able to get results that are close to what were reported by the author.</a:t>
            </a:r>
          </a:p>
        </p:txBody>
      </p:sp>
      <p:sp>
        <p:nvSpPr>
          <p:cNvPr id="88" name="Text Placeholder 87"/>
          <p:cNvSpPr>
            <a:spLocks noGrp="1"/>
          </p:cNvSpPr>
          <p:nvPr>
            <p:ph type="body" sz="quarter" idx="27"/>
          </p:nvPr>
        </p:nvSpPr>
        <p:spPr>
          <a:xfrm>
            <a:off x="13846682" y="19225715"/>
            <a:ext cx="12942336" cy="643172"/>
          </a:xfrm>
        </p:spPr>
        <p:txBody>
          <a:bodyPr/>
          <a:lstStyle/>
          <a:p>
            <a:r>
              <a:rPr lang="en-US" dirty="0" smtClean="0"/>
              <a:t>Conclusion</a:t>
            </a:r>
            <a:endParaRPr lang="en-US" dirty="0"/>
          </a:p>
        </p:txBody>
      </p:sp>
      <p:sp>
        <p:nvSpPr>
          <p:cNvPr id="89" name="Text Placeholder 88"/>
          <p:cNvSpPr>
            <a:spLocks noGrp="1"/>
          </p:cNvSpPr>
          <p:nvPr>
            <p:ph type="body" sz="quarter" idx="28"/>
          </p:nvPr>
        </p:nvSpPr>
        <p:spPr>
          <a:xfrm>
            <a:off x="13856717" y="20012622"/>
            <a:ext cx="12947298" cy="4517826"/>
          </a:xfrm>
        </p:spPr>
        <p:txBody>
          <a:bodyPr/>
          <a:lstStyle/>
          <a:p>
            <a:pPr algn="just"/>
            <a:r>
              <a:rPr lang="en-US" dirty="0">
                <a:solidFill>
                  <a:schemeClr val="tx1"/>
                </a:solidFill>
              </a:rPr>
              <a:t>To summarize, we reproduce an AI task – Visual Dialog, where an AI agent </a:t>
            </a:r>
            <a:r>
              <a:rPr lang="en-US" dirty="0" smtClean="0">
                <a:solidFill>
                  <a:schemeClr val="tx1"/>
                </a:solidFill>
              </a:rPr>
              <a:t>must </a:t>
            </a:r>
            <a:r>
              <a:rPr lang="en-US" dirty="0">
                <a:solidFill>
                  <a:schemeClr val="tx1"/>
                </a:solidFill>
              </a:rPr>
              <a:t>hold a dialog with a human about visual content. Based on Late Fusion encoder, we first </a:t>
            </a:r>
            <a:r>
              <a:rPr lang="en-US" dirty="0" smtClean="0">
                <a:solidFill>
                  <a:schemeClr val="tx1"/>
                </a:solidFill>
              </a:rPr>
              <a:t>implemented </a:t>
            </a:r>
            <a:r>
              <a:rPr lang="en-US" dirty="0">
                <a:solidFill>
                  <a:schemeClr val="tx1"/>
                </a:solidFill>
              </a:rPr>
              <a:t>the </a:t>
            </a:r>
            <a:r>
              <a:rPr lang="en-US" dirty="0" smtClean="0">
                <a:solidFill>
                  <a:schemeClr val="tx1"/>
                </a:solidFill>
              </a:rPr>
              <a:t>discriminative and generative models </a:t>
            </a:r>
            <a:r>
              <a:rPr lang="en-US" dirty="0">
                <a:solidFill>
                  <a:schemeClr val="tx1"/>
                </a:solidFill>
              </a:rPr>
              <a:t>as our baselines. Then we come up with methods focusing on improving the performance. For example, we apply sequential matching network into the discriminative model and implement question &amp; image attention in the generative model. </a:t>
            </a:r>
            <a:endParaRPr lang="en-US" dirty="0" smtClean="0">
              <a:solidFill>
                <a:schemeClr val="tx1"/>
              </a:solidFill>
            </a:endParaRPr>
          </a:p>
          <a:p>
            <a:pPr algn="just"/>
            <a:r>
              <a:rPr lang="en-US" dirty="0" smtClean="0">
                <a:solidFill>
                  <a:schemeClr val="tx1"/>
                </a:solidFill>
              </a:rPr>
              <a:t>Our </a:t>
            </a:r>
            <a:r>
              <a:rPr lang="en-US" dirty="0">
                <a:solidFill>
                  <a:schemeClr val="tx1"/>
                </a:solidFill>
              </a:rPr>
              <a:t>baseline models are comparable to the results in the paper, since we use smaller hidden size and word embedding size. The sequential matching network in the discriminative model can slightly improve the performance, both on MRR and </a:t>
            </a:r>
            <a:r>
              <a:rPr lang="en-US" dirty="0" err="1" smtClean="0">
                <a:solidFill>
                  <a:schemeClr val="tx1"/>
                </a:solidFill>
              </a:rPr>
              <a:t>Recall@N</a:t>
            </a:r>
            <a:r>
              <a:rPr lang="en-US" dirty="0" smtClean="0">
                <a:solidFill>
                  <a:schemeClr val="tx1"/>
                </a:solidFill>
              </a:rPr>
              <a:t>. </a:t>
            </a:r>
            <a:r>
              <a:rPr lang="en-US" dirty="0">
                <a:solidFill>
                  <a:schemeClr val="tx1"/>
                </a:solidFill>
              </a:rPr>
              <a:t>And the attention model takes in the concatenation context of the question and image, which greatly improve the performance. Furthermore, we add non-linear functions for the context, but the results don’t get </a:t>
            </a:r>
            <a:r>
              <a:rPr lang="en-US" dirty="0" smtClean="0">
                <a:solidFill>
                  <a:schemeClr val="tx1"/>
                </a:solidFill>
              </a:rPr>
              <a:t>better.</a:t>
            </a:r>
          </a:p>
          <a:p>
            <a:pPr algn="just"/>
            <a:r>
              <a:rPr lang="en-US" dirty="0" smtClean="0">
                <a:solidFill>
                  <a:schemeClr val="tx1"/>
                </a:solidFill>
              </a:rPr>
              <a:t>In </a:t>
            </a:r>
            <a:r>
              <a:rPr lang="en-US" dirty="0">
                <a:solidFill>
                  <a:schemeClr val="tx1"/>
                </a:solidFill>
              </a:rPr>
              <a:t>conclusion, our project demonstrates that sequential matching and attention methods can h. With them, our models can outperform the state-of-the-art methods.</a:t>
            </a:r>
            <a:endParaRPr lang="en-US" dirty="0">
              <a:solidFill>
                <a:schemeClr val="tx1"/>
              </a:solidFill>
            </a:endParaRPr>
          </a:p>
        </p:txBody>
      </p:sp>
      <p:sp>
        <p:nvSpPr>
          <p:cNvPr id="90" name="Text Placeholder 89"/>
          <p:cNvSpPr>
            <a:spLocks noGrp="1"/>
          </p:cNvSpPr>
          <p:nvPr>
            <p:ph type="body" sz="quarter" idx="29"/>
          </p:nvPr>
        </p:nvSpPr>
        <p:spPr>
          <a:xfrm>
            <a:off x="13856718" y="27207296"/>
            <a:ext cx="12935857" cy="643172"/>
          </a:xfrm>
        </p:spPr>
        <p:txBody>
          <a:bodyPr/>
          <a:lstStyle/>
          <a:p>
            <a:r>
              <a:rPr lang="en-US" dirty="0" smtClean="0"/>
              <a:t>Acknowledgement</a:t>
            </a:r>
            <a:endParaRPr lang="en-US" dirty="0"/>
          </a:p>
        </p:txBody>
      </p:sp>
      <p:sp>
        <p:nvSpPr>
          <p:cNvPr id="91" name="Text Placeholder 90"/>
          <p:cNvSpPr>
            <a:spLocks noGrp="1"/>
          </p:cNvSpPr>
          <p:nvPr>
            <p:ph type="body" sz="quarter" idx="30"/>
          </p:nvPr>
        </p:nvSpPr>
        <p:spPr>
          <a:xfrm>
            <a:off x="13856717" y="27854261"/>
            <a:ext cx="12935858" cy="1060854"/>
          </a:xfrm>
        </p:spPr>
        <p:txBody>
          <a:bodyPr/>
          <a:lstStyle/>
          <a:p>
            <a:r>
              <a:rPr lang="en-US" dirty="0" smtClean="0"/>
              <a:t>We would like to thank Professor </a:t>
            </a:r>
            <a:r>
              <a:rPr lang="en-US" dirty="0" err="1"/>
              <a:t>Bhiksha</a:t>
            </a:r>
            <a:r>
              <a:rPr lang="en-US" dirty="0"/>
              <a:t> </a:t>
            </a:r>
            <a:r>
              <a:rPr lang="en-US" dirty="0" smtClean="0"/>
              <a:t>Raj</a:t>
            </a:r>
            <a:r>
              <a:rPr lang="en-US" dirty="0"/>
              <a:t> </a:t>
            </a:r>
            <a:r>
              <a:rPr lang="en-US" dirty="0" smtClean="0"/>
              <a:t>and all teaching assistants, for all the supports and suggestions during this semester.</a:t>
            </a:r>
          </a:p>
        </p:txBody>
      </p:sp>
      <p:sp>
        <p:nvSpPr>
          <p:cNvPr id="92" name="Text Placeholder 91"/>
          <p:cNvSpPr>
            <a:spLocks noGrp="1"/>
          </p:cNvSpPr>
          <p:nvPr>
            <p:ph type="body" sz="quarter" idx="96"/>
          </p:nvPr>
        </p:nvSpPr>
        <p:spPr>
          <a:xfrm>
            <a:off x="614328" y="10457839"/>
            <a:ext cx="12957406" cy="1393252"/>
          </a:xfrm>
        </p:spPr>
        <p:txBody>
          <a:bodyPr/>
          <a:lstStyle/>
          <a:p>
            <a:r>
              <a:rPr lang="en-US" dirty="0" smtClean="0">
                <a:solidFill>
                  <a:schemeClr val="tx1"/>
                </a:solidFill>
              </a:rPr>
              <a:t>In this project, we introduce a family of neural encoder-decoder models for Visual Dialog with 2 encoders </a:t>
            </a:r>
            <a:r>
              <a:rPr lang="mr-IN" dirty="0" smtClean="0">
                <a:solidFill>
                  <a:schemeClr val="tx1"/>
                </a:solidFill>
              </a:rPr>
              <a:t>–</a:t>
            </a:r>
            <a:r>
              <a:rPr lang="en-US" dirty="0" smtClean="0">
                <a:solidFill>
                  <a:schemeClr val="tx1"/>
                </a:solidFill>
              </a:rPr>
              <a:t> Late Fusion, Sequential Matching </a:t>
            </a:r>
            <a:r>
              <a:rPr lang="mr-IN" dirty="0" smtClean="0">
                <a:solidFill>
                  <a:schemeClr val="tx1"/>
                </a:solidFill>
              </a:rPr>
              <a:t>–</a:t>
            </a:r>
            <a:r>
              <a:rPr lang="en-US" dirty="0" smtClean="0">
                <a:solidFill>
                  <a:schemeClr val="tx1"/>
                </a:solidFill>
              </a:rPr>
              <a:t> and 2 decoders (generative and discriminative), which are comparable to a number of sophisticated baselines.</a:t>
            </a:r>
            <a:endParaRPr lang="en-US" dirty="0">
              <a:solidFill>
                <a:schemeClr val="tx1"/>
              </a:solidFill>
            </a:endParaRPr>
          </a:p>
        </p:txBody>
      </p:sp>
      <p:sp>
        <p:nvSpPr>
          <p:cNvPr id="93" name="Text Placeholder 92"/>
          <p:cNvSpPr>
            <a:spLocks noGrp="1"/>
          </p:cNvSpPr>
          <p:nvPr>
            <p:ph type="body" sz="quarter" idx="150"/>
          </p:nvPr>
        </p:nvSpPr>
        <p:spPr/>
        <p:txBody>
          <a:bodyPr/>
          <a:lstStyle/>
          <a:p>
            <a:r>
              <a:rPr lang="en-US" dirty="0" smtClean="0"/>
              <a:t>11785 Final Project</a:t>
            </a:r>
            <a:endParaRPr lang="en-US" dirty="0"/>
          </a:p>
        </p:txBody>
      </p:sp>
      <p:sp>
        <p:nvSpPr>
          <p:cNvPr id="94" name="Text Placeholder 93"/>
          <p:cNvSpPr>
            <a:spLocks noGrp="1"/>
          </p:cNvSpPr>
          <p:nvPr>
            <p:ph type="body" sz="quarter" idx="151"/>
          </p:nvPr>
        </p:nvSpPr>
        <p:spPr/>
        <p:txBody>
          <a:bodyPr>
            <a:normAutofit fontScale="77500" lnSpcReduction="20000"/>
          </a:bodyPr>
          <a:lstStyle/>
          <a:p>
            <a:r>
              <a:rPr lang="en-US" dirty="0" err="1" smtClean="0"/>
              <a:t>Wenchao</a:t>
            </a:r>
            <a:r>
              <a:rPr lang="en-US" dirty="0" smtClean="0"/>
              <a:t> Du, </a:t>
            </a:r>
            <a:r>
              <a:rPr lang="en-US" dirty="0" err="1" smtClean="0"/>
              <a:t>Hanfu</a:t>
            </a:r>
            <a:r>
              <a:rPr lang="en-US" dirty="0" smtClean="0"/>
              <a:t> Zhang, Prashant </a:t>
            </a:r>
            <a:r>
              <a:rPr lang="en-US" dirty="0" err="1" smtClean="0"/>
              <a:t>Arunapuram</a:t>
            </a:r>
            <a:r>
              <a:rPr lang="en-US" dirty="0"/>
              <a:t>, </a:t>
            </a:r>
            <a:r>
              <a:rPr lang="en-US" dirty="0" err="1" smtClean="0"/>
              <a:t>Tianhao</a:t>
            </a:r>
            <a:r>
              <a:rPr lang="en-US" dirty="0" smtClean="0"/>
              <a:t> Li</a:t>
            </a:r>
            <a:endParaRPr lang="en-US" dirty="0"/>
          </a:p>
        </p:txBody>
      </p:sp>
      <p:sp>
        <p:nvSpPr>
          <p:cNvPr id="95" name="Text Placeholder 94"/>
          <p:cNvSpPr>
            <a:spLocks noGrp="1"/>
          </p:cNvSpPr>
          <p:nvPr>
            <p:ph type="body" sz="quarter" idx="153"/>
          </p:nvPr>
        </p:nvSpPr>
        <p:spPr/>
        <p:txBody>
          <a:bodyPr>
            <a:normAutofit fontScale="92500" lnSpcReduction="10000"/>
          </a:bodyPr>
          <a:lstStyle/>
          <a:p>
            <a:r>
              <a:rPr lang="en-US" dirty="0" smtClean="0"/>
              <a:t>Visual Dialog</a:t>
            </a:r>
            <a:endParaRPr lang="en-US" dirty="0"/>
          </a:p>
        </p:txBody>
      </p:sp>
      <p:sp>
        <p:nvSpPr>
          <p:cNvPr id="15" name="Text Placeholder 85"/>
          <p:cNvSpPr txBox="1">
            <a:spLocks/>
          </p:cNvSpPr>
          <p:nvPr/>
        </p:nvSpPr>
        <p:spPr>
          <a:xfrm>
            <a:off x="13846682" y="15537057"/>
            <a:ext cx="12945893"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smtClean="0"/>
              <a:t>Data and Technical Requirements</a:t>
            </a:r>
            <a:endParaRPr lang="en-US" dirty="0"/>
          </a:p>
        </p:txBody>
      </p:sp>
      <p:sp>
        <p:nvSpPr>
          <p:cNvPr id="16" name="Text Placeholder 88"/>
          <p:cNvSpPr txBox="1">
            <a:spLocks/>
          </p:cNvSpPr>
          <p:nvPr/>
        </p:nvSpPr>
        <p:spPr>
          <a:xfrm>
            <a:off x="13856717" y="16326830"/>
            <a:ext cx="12947298" cy="2855832"/>
          </a:xfrm>
          <a:prstGeom prst="rect">
            <a:avLst/>
          </a:prstGeom>
        </p:spPr>
        <p:txBody>
          <a:bodyPr wrap="square" lIns="196113" tIns="196113" rIns="196113" bIns="196113">
            <a:spAutoFit/>
          </a:bodyPr>
          <a:lstStyle>
            <a:lvl1pPr marL="0" indent="0" algn="l" defTabSz="3388829" rtl="0" eaLnBrk="1" latinLnBrk="0" hangingPunct="1">
              <a:spcBef>
                <a:spcPct val="20000"/>
              </a:spcBef>
              <a:buFont typeface="Arial" pitchFamily="34" charset="0"/>
              <a:buNone/>
              <a:defRPr sz="2160" kern="1200">
                <a:solidFill>
                  <a:schemeClr val="accent5">
                    <a:lumMod val="50000"/>
                  </a:schemeClr>
                </a:solidFill>
                <a:latin typeface="Times New Roman" panose="02020603050405020304" pitchFamily="18" charset="0"/>
                <a:ea typeface="+mn-ea"/>
                <a:cs typeface="Times New Roman" panose="02020603050405020304" pitchFamily="18" charset="0"/>
              </a:defRPr>
            </a:lvl1pPr>
            <a:lvl2pPr marL="1147260"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2pPr>
            <a:lvl3pPr marL="1588514"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3pPr>
            <a:lvl4pPr marL="2073893" indent="-485379"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4pPr>
            <a:lvl5pPr marL="2426896" indent="-353003"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pPr algn="just"/>
            <a:r>
              <a:rPr lang="en-US" dirty="0">
                <a:solidFill>
                  <a:schemeClr val="tx1"/>
                </a:solidFill>
              </a:rPr>
              <a:t>Our Visual Dialog system involves in deep learning approaches such as CNNs and RNNs with </a:t>
            </a:r>
            <a:r>
              <a:rPr lang="en-US" dirty="0" smtClean="0">
                <a:solidFill>
                  <a:schemeClr val="tx1"/>
                </a:solidFill>
              </a:rPr>
              <a:t>attention </a:t>
            </a:r>
            <a:r>
              <a:rPr lang="en-US" dirty="0">
                <a:solidFill>
                  <a:schemeClr val="tx1"/>
                </a:solidFill>
              </a:rPr>
              <a:t>to better understanding the images and questions. Therefore, also based on literature research, we decide to deploy the network based on </a:t>
            </a:r>
            <a:r>
              <a:rPr lang="en-US" dirty="0" err="1">
                <a:solidFill>
                  <a:schemeClr val="tx1"/>
                </a:solidFill>
              </a:rPr>
              <a:t>Pytorch</a:t>
            </a:r>
            <a:r>
              <a:rPr lang="en-US" dirty="0">
                <a:solidFill>
                  <a:schemeClr val="tx1"/>
                </a:solidFill>
              </a:rPr>
              <a:t> with GPUs on Amazon Web Service. </a:t>
            </a:r>
          </a:p>
          <a:p>
            <a:pPr algn="just"/>
            <a:r>
              <a:rPr lang="en-US" dirty="0">
                <a:solidFill>
                  <a:schemeClr val="tx1"/>
                </a:solidFill>
              </a:rPr>
              <a:t>In this project, we use </a:t>
            </a:r>
            <a:r>
              <a:rPr lang="en-US" dirty="0" err="1">
                <a:solidFill>
                  <a:schemeClr val="tx1"/>
                </a:solidFill>
              </a:rPr>
              <a:t>VisDial</a:t>
            </a:r>
            <a:r>
              <a:rPr lang="en-US" dirty="0">
                <a:solidFill>
                  <a:schemeClr val="tx1"/>
                </a:solidFill>
              </a:rPr>
              <a:t> v0.9 dataset, which contains 83k dialogs on COCO-train and 40K on COCO-</a:t>
            </a:r>
            <a:r>
              <a:rPr lang="en-US" dirty="0" err="1">
                <a:solidFill>
                  <a:schemeClr val="tx1"/>
                </a:solidFill>
              </a:rPr>
              <a:t>val</a:t>
            </a:r>
            <a:r>
              <a:rPr lang="en-US" dirty="0">
                <a:solidFill>
                  <a:schemeClr val="tx1"/>
                </a:solidFill>
              </a:rPr>
              <a:t> images. We use the 83k as training and split the 40K into 5k for validation and 35k for test. </a:t>
            </a:r>
          </a:p>
          <a:p>
            <a:pPr algn="just"/>
            <a:r>
              <a:rPr lang="en-US" dirty="0">
                <a:solidFill>
                  <a:schemeClr val="tx1"/>
                </a:solidFill>
              </a:rPr>
              <a:t>Our work is based on </a:t>
            </a:r>
            <a:r>
              <a:rPr lang="en-US" dirty="0" err="1">
                <a:solidFill>
                  <a:schemeClr val="tx1"/>
                </a:solidFill>
              </a:rPr>
              <a:t>Pytorch</a:t>
            </a:r>
            <a:r>
              <a:rPr lang="en-US" dirty="0">
                <a:solidFill>
                  <a:schemeClr val="tx1"/>
                </a:solidFill>
              </a:rPr>
              <a:t>, due to GPU memory limitation, we reduce the size of hidden layer in </a:t>
            </a:r>
            <a:r>
              <a:rPr lang="en-US" dirty="0" err="1">
                <a:solidFill>
                  <a:schemeClr val="tx1"/>
                </a:solidFill>
              </a:rPr>
              <a:t>GRUCell</a:t>
            </a:r>
            <a:r>
              <a:rPr lang="en-US" dirty="0">
                <a:solidFill>
                  <a:schemeClr val="tx1"/>
                </a:solidFill>
              </a:rPr>
              <a:t>, aiming to produce the same comparable results with less parameters and further </a:t>
            </a:r>
            <a:r>
              <a:rPr lang="en-US" dirty="0" smtClean="0">
                <a:solidFill>
                  <a:schemeClr val="tx1"/>
                </a:solidFill>
              </a:rPr>
              <a:t>improvements</a:t>
            </a:r>
            <a:r>
              <a:rPr lang="en-US" dirty="0">
                <a:solidFill>
                  <a:schemeClr val="tx1"/>
                </a:solidFill>
              </a:rPr>
              <a:t>. </a:t>
            </a:r>
          </a:p>
        </p:txBody>
      </p:sp>
      <p:sp>
        <p:nvSpPr>
          <p:cNvPr id="17" name="Text Placeholder 89"/>
          <p:cNvSpPr txBox="1">
            <a:spLocks/>
          </p:cNvSpPr>
          <p:nvPr/>
        </p:nvSpPr>
        <p:spPr>
          <a:xfrm>
            <a:off x="13856718" y="28663290"/>
            <a:ext cx="12935857"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smtClean="0"/>
              <a:t>Author</a:t>
            </a:r>
            <a:endParaRPr lang="en-US" dirty="0"/>
          </a:p>
        </p:txBody>
      </p:sp>
      <p:sp>
        <p:nvSpPr>
          <p:cNvPr id="18" name="Text Placeholder 90"/>
          <p:cNvSpPr txBox="1">
            <a:spLocks/>
          </p:cNvSpPr>
          <p:nvPr/>
        </p:nvSpPr>
        <p:spPr>
          <a:xfrm>
            <a:off x="16651743" y="29247468"/>
            <a:ext cx="7352283" cy="1925129"/>
          </a:xfrm>
          <a:prstGeom prst="rect">
            <a:avLst/>
          </a:prstGeom>
        </p:spPr>
        <p:txBody>
          <a:bodyPr wrap="square" lIns="196113" tIns="196113" rIns="196113" bIns="196113">
            <a:spAutoFit/>
          </a:bodyPr>
          <a:lstStyle>
            <a:lvl1pPr marL="0" indent="0" algn="l" defTabSz="3388829" rtl="0" eaLnBrk="1" latinLnBrk="0" hangingPunct="1">
              <a:spcBef>
                <a:spcPct val="20000"/>
              </a:spcBef>
              <a:buFont typeface="Arial" pitchFamily="34" charset="0"/>
              <a:buNone/>
              <a:defRPr sz="2160" kern="1200">
                <a:solidFill>
                  <a:schemeClr val="accent5">
                    <a:lumMod val="50000"/>
                  </a:schemeClr>
                </a:solidFill>
                <a:latin typeface="Times New Roman" panose="02020603050405020304" pitchFamily="18" charset="0"/>
                <a:ea typeface="+mn-ea"/>
                <a:cs typeface="Times New Roman" panose="02020603050405020304" pitchFamily="18" charset="0"/>
              </a:defRPr>
            </a:lvl1pPr>
            <a:lvl2pPr marL="1147260"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2pPr>
            <a:lvl3pPr marL="1588514"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3pPr>
            <a:lvl4pPr marL="2073893" indent="-485379"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4pPr>
            <a:lvl5pPr marL="2426896" indent="-353003"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err="1" smtClean="0"/>
              <a:t>Wenchao</a:t>
            </a:r>
            <a:r>
              <a:rPr lang="en-US" dirty="0" smtClean="0"/>
              <a:t> Du, LTI, SCS, </a:t>
            </a:r>
            <a:r>
              <a:rPr lang="en-US" dirty="0" smtClean="0">
                <a:hlinkClick r:id="rId3"/>
              </a:rPr>
              <a:t>wenchaod@andrew.cmu.edu</a:t>
            </a:r>
            <a:endParaRPr lang="en-US" dirty="0" smtClean="0"/>
          </a:p>
          <a:p>
            <a:r>
              <a:rPr lang="en-US" dirty="0" err="1" smtClean="0"/>
              <a:t>Hanfu</a:t>
            </a:r>
            <a:r>
              <a:rPr lang="en-US" dirty="0" smtClean="0"/>
              <a:t> Zhang, ISR, SCS, </a:t>
            </a:r>
            <a:r>
              <a:rPr lang="en-US" dirty="0" smtClean="0">
                <a:hlinkClick r:id="rId4"/>
              </a:rPr>
              <a:t>hanfuz@andrew.cmu.edu</a:t>
            </a:r>
            <a:endParaRPr lang="en-US" dirty="0" smtClean="0"/>
          </a:p>
          <a:p>
            <a:r>
              <a:rPr lang="en-US" dirty="0"/>
              <a:t>Prashant </a:t>
            </a:r>
            <a:r>
              <a:rPr lang="en-US" dirty="0" err="1" smtClean="0"/>
              <a:t>Arunapuram</a:t>
            </a:r>
            <a:r>
              <a:rPr lang="en-US" dirty="0" smtClean="0"/>
              <a:t>, ECE, </a:t>
            </a:r>
            <a:r>
              <a:rPr lang="en-US" dirty="0"/>
              <a:t>CIT, </a:t>
            </a:r>
            <a:r>
              <a:rPr lang="en-US" dirty="0" smtClean="0">
                <a:hlinkClick r:id="rId5"/>
              </a:rPr>
              <a:t>parunapu@andrew.cmu.edu</a:t>
            </a:r>
            <a:endParaRPr lang="en-US" dirty="0"/>
          </a:p>
          <a:p>
            <a:r>
              <a:rPr lang="en-US" dirty="0" err="1" smtClean="0"/>
              <a:t>Tianhao</a:t>
            </a:r>
            <a:r>
              <a:rPr lang="en-US" dirty="0" smtClean="0"/>
              <a:t> Li, ISR, SCS, </a:t>
            </a:r>
            <a:r>
              <a:rPr lang="en-US" dirty="0" smtClean="0">
                <a:hlinkClick r:id="rId6"/>
              </a:rPr>
              <a:t>tianhaol@andrew.cmu.edu</a:t>
            </a:r>
            <a:endParaRPr lang="en-US" dirty="0" smtClean="0"/>
          </a:p>
        </p:txBody>
      </p:sp>
      <p:sp>
        <p:nvSpPr>
          <p:cNvPr id="19" name="Text Placeholder 89"/>
          <p:cNvSpPr txBox="1">
            <a:spLocks/>
          </p:cNvSpPr>
          <p:nvPr/>
        </p:nvSpPr>
        <p:spPr>
          <a:xfrm>
            <a:off x="13856718" y="24514896"/>
            <a:ext cx="12935857"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smtClean="0"/>
              <a:t>Related Work</a:t>
            </a:r>
            <a:endParaRPr lang="en-US" dirty="0"/>
          </a:p>
        </p:txBody>
      </p:sp>
      <p:sp>
        <p:nvSpPr>
          <p:cNvPr id="20" name="Text Placeholder 90"/>
          <p:cNvSpPr txBox="1">
            <a:spLocks/>
          </p:cNvSpPr>
          <p:nvPr/>
        </p:nvSpPr>
        <p:spPr>
          <a:xfrm>
            <a:off x="13856717" y="25161861"/>
            <a:ext cx="12935858" cy="2796714"/>
          </a:xfrm>
          <a:prstGeom prst="rect">
            <a:avLst/>
          </a:prstGeom>
        </p:spPr>
        <p:txBody>
          <a:bodyPr wrap="square" lIns="196113" tIns="196113" rIns="196113" bIns="196113">
            <a:spAutoFit/>
          </a:bodyPr>
          <a:lstStyle>
            <a:lvl1pPr marL="0" indent="0" algn="l" defTabSz="3388829" rtl="0" eaLnBrk="1" latinLnBrk="0" hangingPunct="1">
              <a:spcBef>
                <a:spcPct val="20000"/>
              </a:spcBef>
              <a:buFont typeface="Arial" pitchFamily="34" charset="0"/>
              <a:buNone/>
              <a:defRPr sz="2160" kern="1200">
                <a:solidFill>
                  <a:schemeClr val="accent5">
                    <a:lumMod val="50000"/>
                  </a:schemeClr>
                </a:solidFill>
                <a:latin typeface="Times New Roman" panose="02020603050405020304" pitchFamily="18" charset="0"/>
                <a:ea typeface="+mn-ea"/>
                <a:cs typeface="Times New Roman" panose="02020603050405020304" pitchFamily="18" charset="0"/>
              </a:defRPr>
            </a:lvl1pPr>
            <a:lvl2pPr marL="1147260"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2pPr>
            <a:lvl3pPr marL="1588514"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3pPr>
            <a:lvl4pPr marL="2073893" indent="-485379"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4pPr>
            <a:lvl5pPr marL="2426896" indent="-353003"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pPr algn="just"/>
            <a:r>
              <a:rPr lang="zh-CN" altLang="en-US" sz="2000" dirty="0" smtClean="0"/>
              <a:t>  </a:t>
            </a:r>
            <a:r>
              <a:rPr lang="en-US" sz="2000" dirty="0" err="1" smtClean="0"/>
              <a:t>Akshay</a:t>
            </a:r>
            <a:r>
              <a:rPr lang="en-US" sz="2000" dirty="0" smtClean="0"/>
              <a:t> </a:t>
            </a:r>
            <a:r>
              <a:rPr lang="en-US" sz="2000" dirty="0"/>
              <a:t>Kumar Gupta. </a:t>
            </a:r>
            <a:r>
              <a:rPr lang="en-US" sz="2000" b="1" i="1" dirty="0"/>
              <a:t>Survey of visual question answering: Datasets and techniques.</a:t>
            </a:r>
            <a:r>
              <a:rPr lang="en-US" sz="2000" b="1" dirty="0"/>
              <a:t> </a:t>
            </a:r>
            <a:r>
              <a:rPr lang="en-US" sz="2000" i="1" dirty="0" err="1" smtClean="0"/>
              <a:t>CoRR</a:t>
            </a:r>
            <a:r>
              <a:rPr lang="en-US" sz="2000" dirty="0" smtClean="0"/>
              <a:t>,</a:t>
            </a:r>
            <a:r>
              <a:rPr lang="zh-CN" altLang="en-US" sz="2000" dirty="0" smtClean="0"/>
              <a:t> </a:t>
            </a:r>
            <a:r>
              <a:rPr lang="en-US" sz="2000" dirty="0" smtClean="0"/>
              <a:t>abs/1705.03865</a:t>
            </a:r>
            <a:r>
              <a:rPr lang="en-US" sz="2000" dirty="0"/>
              <a:t>, 2017</a:t>
            </a:r>
            <a:r>
              <a:rPr lang="en-US" sz="2000" dirty="0" smtClean="0"/>
              <a:t>.</a:t>
            </a:r>
            <a:endParaRPr lang="zh-CN" altLang="en-US" sz="2000" dirty="0" smtClean="0"/>
          </a:p>
          <a:p>
            <a:pPr algn="just"/>
            <a:r>
              <a:rPr lang="zh-CN" altLang="en-US" sz="2000" dirty="0" smtClean="0"/>
              <a:t>  </a:t>
            </a:r>
            <a:r>
              <a:rPr lang="en-US" sz="2000" dirty="0" smtClean="0"/>
              <a:t>Abhishek </a:t>
            </a:r>
            <a:r>
              <a:rPr lang="en-US" sz="2000" dirty="0"/>
              <a:t>Das, </a:t>
            </a:r>
            <a:r>
              <a:rPr lang="en-US" sz="2000" dirty="0" err="1"/>
              <a:t>Satwik</a:t>
            </a:r>
            <a:r>
              <a:rPr lang="en-US" sz="2000" dirty="0"/>
              <a:t> </a:t>
            </a:r>
            <a:r>
              <a:rPr lang="en-US" sz="2000" dirty="0" err="1"/>
              <a:t>Kottur</a:t>
            </a:r>
            <a:r>
              <a:rPr lang="en-US" sz="2000" dirty="0"/>
              <a:t>, </a:t>
            </a:r>
            <a:r>
              <a:rPr lang="en-US" sz="2000" dirty="0" err="1"/>
              <a:t>Khushi</a:t>
            </a:r>
            <a:r>
              <a:rPr lang="en-US" sz="2000" dirty="0"/>
              <a:t> Gupta, </a:t>
            </a:r>
            <a:r>
              <a:rPr lang="en-US" sz="2000" dirty="0" err="1"/>
              <a:t>Avi</a:t>
            </a:r>
            <a:r>
              <a:rPr lang="en-US" sz="2000" dirty="0"/>
              <a:t> Singh, </a:t>
            </a:r>
            <a:r>
              <a:rPr lang="en-US" sz="2000" dirty="0" err="1"/>
              <a:t>Deshraj</a:t>
            </a:r>
            <a:r>
              <a:rPr lang="en-US" sz="2000" dirty="0"/>
              <a:t> Yadav, Jose ́ M. F. </a:t>
            </a:r>
            <a:r>
              <a:rPr lang="en-US" sz="2000" dirty="0" err="1"/>
              <a:t>Moura</a:t>
            </a:r>
            <a:r>
              <a:rPr lang="en-US" sz="2000" dirty="0"/>
              <a:t>, Devi Parikh, and </a:t>
            </a:r>
            <a:r>
              <a:rPr lang="en-US" sz="2000" dirty="0" err="1"/>
              <a:t>Dhruv</a:t>
            </a:r>
            <a:r>
              <a:rPr lang="en-US" sz="2000" dirty="0"/>
              <a:t> </a:t>
            </a:r>
            <a:r>
              <a:rPr lang="en-US" sz="2000" dirty="0" err="1" smtClean="0"/>
              <a:t>Batra</a:t>
            </a:r>
            <a:r>
              <a:rPr lang="en-US" sz="2000" dirty="0" smtClean="0"/>
              <a:t>. </a:t>
            </a:r>
            <a:r>
              <a:rPr lang="en-US" sz="2000" b="1" i="1" dirty="0" smtClean="0"/>
              <a:t>Visual </a:t>
            </a:r>
            <a:r>
              <a:rPr lang="en-US" sz="2000" b="1" i="1" dirty="0"/>
              <a:t>dialog.</a:t>
            </a:r>
            <a:r>
              <a:rPr lang="en-US" sz="2000" dirty="0"/>
              <a:t> </a:t>
            </a:r>
            <a:r>
              <a:rPr lang="en-US" sz="2000" i="1" dirty="0" smtClean="0"/>
              <a:t>IEEE </a:t>
            </a:r>
            <a:r>
              <a:rPr lang="en-US" sz="2000" i="1" dirty="0"/>
              <a:t>Conference on Computer Vision and Pattern Recognition, CVPR 2017</a:t>
            </a:r>
            <a:r>
              <a:rPr lang="en-US" sz="2000" dirty="0" smtClean="0"/>
              <a:t>.</a:t>
            </a:r>
          </a:p>
          <a:p>
            <a:r>
              <a:rPr lang="en-US" sz="2000" dirty="0" smtClean="0"/>
              <a:t>  Yu </a:t>
            </a:r>
            <a:r>
              <a:rPr lang="en-US" sz="2000" dirty="0"/>
              <a:t>Wu, Wei Wu, Ming Zhou, and </a:t>
            </a:r>
            <a:r>
              <a:rPr lang="en-US" sz="2000" dirty="0" err="1"/>
              <a:t>Zhoujun</a:t>
            </a:r>
            <a:r>
              <a:rPr lang="en-US" sz="2000" dirty="0"/>
              <a:t> Li. </a:t>
            </a:r>
            <a:r>
              <a:rPr lang="en-US" sz="2000" b="1" i="1" dirty="0"/>
              <a:t>Sequential match network: A new architecture for </a:t>
            </a:r>
            <a:r>
              <a:rPr lang="en-US" sz="2000" b="1" i="1" dirty="0" smtClean="0"/>
              <a:t>multi-turn </a:t>
            </a:r>
            <a:r>
              <a:rPr lang="en-US" sz="2000" b="1" i="1" dirty="0"/>
              <a:t>response selection in retrieval-based </a:t>
            </a:r>
            <a:r>
              <a:rPr lang="en-US" sz="2000" b="1" i="1" dirty="0" err="1"/>
              <a:t>chatbots</a:t>
            </a:r>
            <a:r>
              <a:rPr lang="en-US" sz="2000" b="1" i="1" dirty="0"/>
              <a:t>. </a:t>
            </a:r>
            <a:r>
              <a:rPr lang="en-US" sz="2000" i="1" dirty="0" err="1"/>
              <a:t>CoRR</a:t>
            </a:r>
            <a:r>
              <a:rPr lang="en-US" sz="2000" dirty="0"/>
              <a:t>, abs/1612.01627, 2016. </a:t>
            </a:r>
          </a:p>
          <a:p>
            <a:pPr algn="just"/>
            <a:r>
              <a:rPr lang="en-US" sz="2000" dirty="0" smtClean="0"/>
              <a:t> </a:t>
            </a:r>
            <a:endParaRPr lang="en-US" sz="2000" dirty="0"/>
          </a:p>
          <a:p>
            <a:pPr algn="just"/>
            <a:r>
              <a:rPr lang="en-US" sz="2000" dirty="0" smtClean="0"/>
              <a:t> </a:t>
            </a:r>
            <a:endParaRPr lang="en-US" sz="2000" dirty="0"/>
          </a:p>
        </p:txBody>
      </p:sp>
      <p:pic>
        <p:nvPicPr>
          <p:cNvPr id="3" name="Picture 2"/>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785310" y="12333007"/>
            <a:ext cx="10393182" cy="3472633"/>
          </a:xfrm>
          <a:prstGeom prst="rect">
            <a:avLst/>
          </a:prstGeom>
        </p:spPr>
      </p:pic>
      <p:sp>
        <p:nvSpPr>
          <p:cNvPr id="23" name="Text Placeholder 84"/>
          <p:cNvSpPr txBox="1">
            <a:spLocks/>
          </p:cNvSpPr>
          <p:nvPr/>
        </p:nvSpPr>
        <p:spPr>
          <a:xfrm>
            <a:off x="535618" y="11652455"/>
            <a:ext cx="12949224"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b="0" dirty="0" smtClean="0"/>
              <a:t>Late Fusion - Discriminative</a:t>
            </a:r>
          </a:p>
        </p:txBody>
      </p:sp>
      <p:sp>
        <p:nvSpPr>
          <p:cNvPr id="25" name="Text Placeholder 84"/>
          <p:cNvSpPr txBox="1">
            <a:spLocks/>
          </p:cNvSpPr>
          <p:nvPr/>
        </p:nvSpPr>
        <p:spPr>
          <a:xfrm>
            <a:off x="535618" y="17663471"/>
            <a:ext cx="12949224"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b="0" dirty="0" smtClean="0"/>
              <a:t>Sequential Matching - Discriminative</a:t>
            </a:r>
          </a:p>
        </p:txBody>
      </p:sp>
      <p:sp>
        <p:nvSpPr>
          <p:cNvPr id="26" name="Text Placeholder 84"/>
          <p:cNvSpPr txBox="1">
            <a:spLocks/>
          </p:cNvSpPr>
          <p:nvPr/>
        </p:nvSpPr>
        <p:spPr>
          <a:xfrm>
            <a:off x="607807" y="24324574"/>
            <a:ext cx="12949224"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b="0" dirty="0" smtClean="0"/>
              <a:t>Late Fusion with Attention - Generative</a:t>
            </a:r>
          </a:p>
        </p:txBody>
      </p:sp>
      <p:pic>
        <p:nvPicPr>
          <p:cNvPr id="4" name="Picture 3"/>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81761" y="18369634"/>
            <a:ext cx="12422541" cy="4273800"/>
          </a:xfrm>
          <a:prstGeom prst="rect">
            <a:avLst/>
          </a:prstGeom>
        </p:spPr>
      </p:pic>
      <p:pic>
        <p:nvPicPr>
          <p:cNvPr id="5" name="Picture 4"/>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31824" y="25004923"/>
            <a:ext cx="12300154" cy="4353671"/>
          </a:xfrm>
          <a:prstGeom prst="rect">
            <a:avLst/>
          </a:prstGeom>
        </p:spPr>
      </p:pic>
      <p:sp>
        <p:nvSpPr>
          <p:cNvPr id="2" name="TextBox 1"/>
          <p:cNvSpPr txBox="1"/>
          <p:nvPr/>
        </p:nvSpPr>
        <p:spPr>
          <a:xfrm>
            <a:off x="896717" y="15905148"/>
            <a:ext cx="12300153" cy="1754326"/>
          </a:xfrm>
          <a:prstGeom prst="rect">
            <a:avLst/>
          </a:prstGeom>
          <a:noFill/>
        </p:spPr>
        <p:txBody>
          <a:bodyPr wrap="square" rtlCol="0">
            <a:spAutoFit/>
          </a:bodyPr>
          <a:lstStyle/>
          <a:p>
            <a:pPr algn="just"/>
            <a:r>
              <a:rPr lang="en-US" sz="2160" dirty="0" smtClean="0">
                <a:latin typeface="Times New Roman" panose="02020603050405020304" pitchFamily="18" charset="0"/>
                <a:cs typeface="Times New Roman" panose="02020603050405020304" pitchFamily="18" charset="0"/>
              </a:rPr>
              <a:t>We first decided to use a Late Fusion Discriminative model as </a:t>
            </a:r>
            <a:r>
              <a:rPr lang="en-US" sz="2160" dirty="0" smtClean="0">
                <a:latin typeface="Times New Roman" panose="02020603050405020304" pitchFamily="18" charset="0"/>
                <a:cs typeface="Times New Roman" panose="02020603050405020304" pitchFamily="18" charset="0"/>
              </a:rPr>
              <a:t>one of the baselines </a:t>
            </a:r>
            <a:r>
              <a:rPr lang="en-US" sz="2160" dirty="0" smtClean="0">
                <a:latin typeface="Times New Roman" panose="02020603050405020304" pitchFamily="18" charset="0"/>
                <a:cs typeface="Times New Roman" panose="02020603050405020304" pitchFamily="18" charset="0"/>
              </a:rPr>
              <a:t>with which we would compare our other models to in terms of performance. This model has an LF Encoder which concatenates the individual representations of the questions and the images, and linearly transforms this input to a desired joint representation of features. The discriminative decoder computes the similarity between the input encoding and the GRU encoding of the answer options to get an evaluation metric.</a:t>
            </a:r>
          </a:p>
        </p:txBody>
      </p:sp>
      <p:sp>
        <p:nvSpPr>
          <p:cNvPr id="6" name="TextBox 5"/>
          <p:cNvSpPr txBox="1"/>
          <p:nvPr/>
        </p:nvSpPr>
        <p:spPr>
          <a:xfrm>
            <a:off x="896717" y="29482288"/>
            <a:ext cx="12300154" cy="2086725"/>
          </a:xfrm>
          <a:prstGeom prst="rect">
            <a:avLst/>
          </a:prstGeom>
          <a:noFill/>
        </p:spPr>
        <p:txBody>
          <a:bodyPr wrap="square" rtlCol="0">
            <a:spAutoFit/>
          </a:bodyPr>
          <a:lstStyle/>
          <a:p>
            <a:pPr algn="just"/>
            <a:r>
              <a:rPr lang="en-US" sz="2160" dirty="0">
                <a:latin typeface="Times New Roman" charset="0"/>
                <a:ea typeface="Times New Roman" charset="0"/>
                <a:cs typeface="Times New Roman" charset="0"/>
              </a:rPr>
              <a:t>In this part, we implement the generative model with the attention-based word decoder. At every output step, the model produces a probability distribution over the next word conditioned on all the words seen previously. The context vector is produced by an attention mechanism, </a:t>
            </a:r>
            <a:r>
              <a:rPr lang="en-US" sz="2160" dirty="0" smtClean="0">
                <a:latin typeface="Times New Roman" charset="0"/>
                <a:ea typeface="Times New Roman" charset="0"/>
                <a:cs typeface="Times New Roman" charset="0"/>
              </a:rPr>
              <a:t>where the </a:t>
            </a:r>
            <a:r>
              <a:rPr lang="en-US" sz="2160" dirty="0">
                <a:latin typeface="Times New Roman" charset="0"/>
                <a:ea typeface="Times New Roman" charset="0"/>
                <a:cs typeface="Times New Roman" charset="0"/>
              </a:rPr>
              <a:t>question is converted with GRU and MLP while the image is segmented first then converted with MLP. With keys and values, and the transformation of encoder features, the contexts can be created. Then we concatenate these two parts and input them along with the hidden vector into the projection to get the final </a:t>
            </a:r>
            <a:r>
              <a:rPr lang="en-US" sz="2160" dirty="0" smtClean="0">
                <a:latin typeface="Times New Roman" charset="0"/>
                <a:ea typeface="Times New Roman" charset="0"/>
                <a:cs typeface="Times New Roman" charset="0"/>
              </a:rPr>
              <a:t>distribution.</a:t>
            </a:r>
          </a:p>
        </p:txBody>
      </p:sp>
      <p:sp>
        <p:nvSpPr>
          <p:cNvPr id="34" name="TextBox 33"/>
          <p:cNvSpPr txBox="1"/>
          <p:nvPr/>
        </p:nvSpPr>
        <p:spPr>
          <a:xfrm>
            <a:off x="881761" y="22630720"/>
            <a:ext cx="12300153" cy="1754326"/>
          </a:xfrm>
          <a:prstGeom prst="rect">
            <a:avLst/>
          </a:prstGeom>
          <a:noFill/>
        </p:spPr>
        <p:txBody>
          <a:bodyPr wrap="square" rtlCol="0">
            <a:spAutoFit/>
          </a:bodyPr>
          <a:lstStyle/>
          <a:p>
            <a:pPr algn="just"/>
            <a:r>
              <a:rPr lang="en-US" sz="2160" dirty="0">
                <a:latin typeface="Times New Roman" charset="0"/>
                <a:ea typeface="Times New Roman" charset="0"/>
                <a:cs typeface="Times New Roman" charset="0"/>
              </a:rPr>
              <a:t>The sequential matching network is a new idea in turn-based dialog, whereby questions and answer options are matched in terms of how appropriate the response is to that particular question and image. The model first embeds and passes all three components through an </a:t>
            </a:r>
            <a:r>
              <a:rPr lang="en-US" sz="2160" dirty="0" smtClean="0">
                <a:latin typeface="Times New Roman" charset="0"/>
                <a:ea typeface="Times New Roman" charset="0"/>
                <a:cs typeface="Times New Roman" charset="0"/>
              </a:rPr>
              <a:t>GRU to </a:t>
            </a:r>
            <a:r>
              <a:rPr lang="en-US" sz="2160" dirty="0">
                <a:latin typeface="Times New Roman" charset="0"/>
                <a:ea typeface="Times New Roman" charset="0"/>
                <a:cs typeface="Times New Roman" charset="0"/>
              </a:rPr>
              <a:t>get a feature representation, then matches each answer to a question and image and scores how appropriate that answer is, after convolving, pooling, and concatenation</a:t>
            </a:r>
            <a:r>
              <a:rPr lang="en-US" sz="2160" dirty="0" smtClean="0">
                <a:latin typeface="Times New Roman" charset="0"/>
                <a:ea typeface="Times New Roman" charset="0"/>
                <a:cs typeface="Times New Roman" charset="0"/>
              </a:rPr>
              <a:t>.</a:t>
            </a:r>
            <a:endParaRPr lang="en-US" sz="2160" dirty="0">
              <a:latin typeface="Times New Roman" charset="0"/>
              <a:ea typeface="Times New Roman" charset="0"/>
              <a:cs typeface="Times New Roman" charset="0"/>
            </a:endParaRPr>
          </a:p>
        </p:txBody>
      </p:sp>
      <p:pic>
        <p:nvPicPr>
          <p:cNvPr id="11" name="Picture 10"/>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4044657" y="8959174"/>
            <a:ext cx="12031101" cy="6271532"/>
          </a:xfrm>
          <a:prstGeom prst="rect">
            <a:avLst/>
          </a:prstGeom>
        </p:spPr>
      </p:pic>
    </p:spTree>
    <p:extLst>
      <p:ext uri="{BB962C8B-B14F-4D97-AF65-F5344CB8AC3E}">
        <p14:creationId xmlns:p14="http://schemas.microsoft.com/office/powerpoint/2010/main" val="154254544"/>
      </p:ext>
    </p:extLst>
  </p:cSld>
  <p:clrMapOvr>
    <a:masterClrMapping/>
  </p:clrMapOvr>
  <p:timing>
    <p:tnLst>
      <p:par>
        <p:cTn id="1" dur="indefinite" restart="never" nodeType="tmRoot"/>
      </p:par>
    </p:tnLst>
  </p:timing>
</p:sld>
</file>

<file path=ppt/theme/theme1.xml><?xml version="1.0" encoding="utf-8"?>
<a:theme xmlns:a="http://schemas.openxmlformats.org/drawingml/2006/main" name="PosterPresentations.com-70CMx100CM">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smtClean="0">
            <a:latin typeface="Times New Roman" panose="02020603050405020304" pitchFamily="18" charset="0"/>
            <a:cs typeface="Times New Roman" panose="02020603050405020304" pitchFamily="18" charset="0"/>
          </a:defRPr>
        </a:defPPr>
      </a:lstStyle>
    </a:txDef>
  </a:objectDefaults>
  <a:extraClrSchemeLst/>
</a:theme>
</file>

<file path=ppt/theme/theme2.xml><?xml version="1.0" encoding="utf-8"?>
<a:theme xmlns:a="http://schemas.openxmlformats.org/drawingml/2006/main" name="Classic - Wide Center">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err="1" smtClean="0">
            <a:latin typeface="Times New Roman" panose="02020603050405020304" pitchFamily="18" charset="0"/>
            <a:cs typeface="Times New Roman" panose="02020603050405020304" pitchFamily="18" charset="0"/>
          </a:defRPr>
        </a:defPPr>
      </a:lstStyle>
    </a:tx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PosterPresentations.com-70CMx100CM</Template>
  <TotalTime>1533</TotalTime>
  <Words>1168</Words>
  <Application>Microsoft Macintosh PowerPoint</Application>
  <PresentationFormat>Custom</PresentationFormat>
  <Paragraphs>39</Paragraphs>
  <Slides>1</Slides>
  <Notes>1</Notes>
  <HiddenSlides>0</HiddenSlides>
  <MMClips>0</MMClips>
  <ScaleCrop>false</ScaleCrop>
  <HeadingPairs>
    <vt:vector size="8" baseType="variant">
      <vt:variant>
        <vt:lpstr>Fonts Used</vt:lpstr>
      </vt:variant>
      <vt:variant>
        <vt:i4>5</vt:i4>
      </vt:variant>
      <vt:variant>
        <vt:lpstr>Theme</vt:lpstr>
      </vt:variant>
      <vt:variant>
        <vt:i4>2</vt:i4>
      </vt:variant>
      <vt:variant>
        <vt:lpstr>Embedded OLE Servers</vt:lpstr>
      </vt:variant>
      <vt:variant>
        <vt:i4>1</vt:i4>
      </vt:variant>
      <vt:variant>
        <vt:lpstr>Slide Titles</vt:lpstr>
      </vt:variant>
      <vt:variant>
        <vt:i4>1</vt:i4>
      </vt:variant>
    </vt:vector>
  </HeadingPairs>
  <TitlesOfParts>
    <vt:vector size="9" baseType="lpstr">
      <vt:lpstr>Calibri</vt:lpstr>
      <vt:lpstr>Times New Roman</vt:lpstr>
      <vt:lpstr>Trebuchet MS</vt:lpstr>
      <vt:lpstr>宋体</vt:lpstr>
      <vt:lpstr>Arial</vt:lpstr>
      <vt:lpstr>PosterPresentations.com-70CMx100CM</vt:lpstr>
      <vt:lpstr>Classic - Wide Center</vt:lpstr>
      <vt:lpstr>Image</vt:lpstr>
      <vt:lpstr>PowerPoint Presentation</vt:lpstr>
    </vt:vector>
  </TitlesOfParts>
  <Company>Hewlett-Packard Company</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CanterburyMedia</dc:creator>
  <dc:description>This template is the property of PosterPresentations.com. Call us if you need help with this poster template._x000d_
1-866-649-3004           _x000d_
 (c)PosterPresentations.com</dc:description>
  <cp:lastModifiedBy>Parunapu</cp:lastModifiedBy>
  <cp:revision>51</cp:revision>
  <dcterms:created xsi:type="dcterms:W3CDTF">2012-02-10T00:10:15Z</dcterms:created>
  <dcterms:modified xsi:type="dcterms:W3CDTF">2018-05-07T01:40:48Z</dcterms:modified>
</cp:coreProperties>
</file>