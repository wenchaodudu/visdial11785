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38" autoAdjust="0"/>
    <p:restoredTop sz="94830" autoAdjust="0"/>
  </p:normalViewPr>
  <p:slideViewPr>
    <p:cSldViewPr snapToGrid="0" snapToObjects="1" showGuides="1">
      <p:cViewPr>
        <p:scale>
          <a:sx n="44" d="100"/>
          <a:sy n="44" d="100"/>
        </p:scale>
        <p:origin x="1808" y="-4160"/>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147"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148"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149"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150"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171"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172"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173"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174"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0"/>
            <a:ext cx="12944945" cy="4035654"/>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t>
            </a:r>
            <a:r>
              <a:rPr lang="en-US" dirty="0" smtClean="0">
                <a:solidFill>
                  <a:schemeClr val="tx1"/>
                </a:solidFill>
              </a:rPr>
              <a:t>answer.</a:t>
            </a:r>
          </a:p>
          <a:p>
            <a:pPr algn="just"/>
            <a:r>
              <a:rPr lang="en-US" dirty="0" smtClean="0">
                <a:solidFill>
                  <a:schemeClr val="tx1"/>
                </a:solidFill>
              </a:rPr>
              <a:t>In </a:t>
            </a:r>
            <a:r>
              <a:rPr lang="en-US" dirty="0">
                <a:solidFill>
                  <a:schemeClr val="tx1"/>
                </a:solidFill>
              </a:rPr>
              <a:t>our project, we </a:t>
            </a:r>
            <a:r>
              <a:rPr lang="en-US" dirty="0" smtClean="0">
                <a:solidFill>
                  <a:schemeClr val="tx1"/>
                </a:solidFill>
              </a:rPr>
              <a:t>first attempt to </a:t>
            </a:r>
            <a:r>
              <a:rPr lang="en-US" dirty="0">
                <a:solidFill>
                  <a:schemeClr val="tx1"/>
                </a:solidFill>
              </a:rPr>
              <a:t>reproduce the state-of-the-art </a:t>
            </a:r>
            <a:r>
              <a:rPr lang="en-US" dirty="0" smtClean="0">
                <a:solidFill>
                  <a:schemeClr val="tx1"/>
                </a:solidFill>
              </a:rPr>
              <a:t>method in </a:t>
            </a:r>
            <a:r>
              <a:rPr lang="en-US" dirty="0">
                <a:solidFill>
                  <a:schemeClr val="tx1"/>
                </a:solidFill>
              </a:rPr>
              <a:t>the widely used Visual Dialog dataset, which outperforms many other sophisticated baselines. This method uses a Late Fusion encoder with a discriminative decoder.  </a:t>
            </a:r>
            <a:r>
              <a:rPr lang="en-US" dirty="0" smtClean="0">
                <a:solidFill>
                  <a:schemeClr val="tx1"/>
                </a:solidFill>
              </a:rPr>
              <a:t>Since the memory limitation, w</a:t>
            </a:r>
            <a:r>
              <a:rPr lang="en-US" dirty="0" smtClean="0">
                <a:solidFill>
                  <a:schemeClr val="tx1"/>
                </a:solidFill>
              </a:rPr>
              <a:t>e decrease </a:t>
            </a:r>
            <a:r>
              <a:rPr lang="en-US" dirty="0">
                <a:solidFill>
                  <a:schemeClr val="tx1"/>
                </a:solidFill>
              </a:rPr>
              <a:t>the model size and still obtain comparable </a:t>
            </a:r>
            <a:r>
              <a:rPr lang="en-US" dirty="0" smtClean="0">
                <a:solidFill>
                  <a:schemeClr val="tx1"/>
                </a:solidFill>
              </a:rPr>
              <a:t>results. We further introduce the sequential matching network </a:t>
            </a:r>
            <a:r>
              <a:rPr lang="mr-IN" dirty="0" smtClean="0">
                <a:solidFill>
                  <a:schemeClr val="tx1"/>
                </a:solidFill>
              </a:rPr>
              <a:t>–</a:t>
            </a:r>
            <a:r>
              <a:rPr lang="en-US" dirty="0" smtClean="0">
                <a:solidFill>
                  <a:schemeClr val="tx1"/>
                </a:solidFill>
              </a:rPr>
              <a:t> a new architecture for multi-turn response selection in retrieval-based visual dialog. </a:t>
            </a:r>
            <a:r>
              <a:rPr lang="en-US" dirty="0">
                <a:solidFill>
                  <a:schemeClr val="tx1"/>
                </a:solidFill>
              </a:rPr>
              <a:t>Finally, we </a:t>
            </a:r>
            <a:r>
              <a:rPr lang="en-US" dirty="0" smtClean="0">
                <a:solidFill>
                  <a:schemeClr val="tx1"/>
                </a:solidFill>
              </a:rPr>
              <a:t>explore deeply into the generative model with attentions, which can achieve the conversation based on given image </a:t>
            </a:r>
            <a:r>
              <a:rPr lang="en-US" dirty="0">
                <a:solidFill>
                  <a:schemeClr val="tx1"/>
                </a:solidFill>
              </a:rPr>
              <a:t>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911473"/>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75819"/>
            <a:ext cx="12955929" cy="1792144"/>
          </a:xfrm>
        </p:spPr>
        <p:txBody>
          <a:bodyPr/>
          <a:lstStyle/>
          <a:p>
            <a:pPr algn="just"/>
            <a:r>
              <a:rPr lang="en-US" b="1" dirty="0" smtClean="0">
                <a:solidFill>
                  <a:schemeClr val="tx1"/>
                </a:solidFill>
              </a:rPr>
              <a:t>Evaluation</a:t>
            </a:r>
            <a:r>
              <a:rPr lang="en-US" dirty="0" smtClean="0">
                <a:solidFill>
                  <a:schemeClr val="tx1"/>
                </a:solidFill>
              </a:rPr>
              <a:t>: We conduct the experiments on the retrieval task, which is evaluated with Mean Reciprocal Rank (MRR) and Recall at N (R@N).</a:t>
            </a:r>
          </a:p>
          <a:p>
            <a:pPr algn="just"/>
            <a:r>
              <a:rPr lang="en-US" b="1" dirty="0" smtClean="0">
                <a:solidFill>
                  <a:schemeClr val="tx1"/>
                </a:solidFill>
              </a:rPr>
              <a:t>Limitation</a:t>
            </a:r>
            <a:r>
              <a:rPr lang="en-US" dirty="0" smtClean="0">
                <a:solidFill>
                  <a:schemeClr val="tx1"/>
                </a:solidFill>
              </a:rPr>
              <a:t>: Due to hardware constraints, we use smaller hidden size (200) and word embedding size (200) as opposed to 512 and 300 in Das et al.. We are able to get results that are close to what were reported by the authors.</a:t>
            </a:r>
            <a:endParaRPr lang="en-US" dirty="0">
              <a:solidFill>
                <a:schemeClr val="tx1"/>
              </a:solidFill>
            </a:endParaRPr>
          </a:p>
        </p:txBody>
      </p:sp>
      <p:sp>
        <p:nvSpPr>
          <p:cNvPr id="88" name="Text Placeholder 87"/>
          <p:cNvSpPr>
            <a:spLocks noGrp="1"/>
          </p:cNvSpPr>
          <p:nvPr>
            <p:ph type="body" sz="quarter" idx="27"/>
          </p:nvPr>
        </p:nvSpPr>
        <p:spPr>
          <a:xfrm>
            <a:off x="13856717" y="19787377"/>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418960"/>
            <a:ext cx="12947298" cy="728455"/>
          </a:xfrm>
        </p:spPr>
        <p:txBody>
          <a:bodyPr/>
          <a:lstStyle/>
          <a:p>
            <a:endParaRPr lang="en-US" dirty="0"/>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487336"/>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99690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671967"/>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involves in deep learning approaches such as CNNs and RNNs with </a:t>
            </a:r>
            <a:r>
              <a:rPr lang="en-US" dirty="0" smtClean="0">
                <a:solidFill>
                  <a:schemeClr val="tx1"/>
                </a:solidFill>
              </a:rPr>
              <a:t>attention </a:t>
            </a:r>
            <a:r>
              <a:rPr lang="en-US" dirty="0">
                <a:solidFill>
                  <a:schemeClr val="tx1"/>
                </a:solidFill>
              </a:rPr>
              <a:t>to better understanding 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of hidden 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042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CIT, </a:t>
            </a:r>
            <a:r>
              <a:rPr lang="en-US" dirty="0"/>
              <a:t>E</a:t>
            </a:r>
            <a:r>
              <a:rPr lang="en-US" dirty="0" smtClean="0"/>
              <a:t>CE,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18950" y="12429259"/>
            <a:ext cx="9982559" cy="3335433"/>
          </a:xfrm>
          <a:prstGeom prst="rect">
            <a:avLst/>
          </a:prstGeom>
        </p:spPr>
      </p:pic>
      <p:sp>
        <p:nvSpPr>
          <p:cNvPr id="23" name="Text Placeholder 84"/>
          <p:cNvSpPr txBox="1">
            <a:spLocks/>
          </p:cNvSpPr>
          <p:nvPr/>
        </p:nvSpPr>
        <p:spPr>
          <a:xfrm>
            <a:off x="535618" y="11754141"/>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71392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535618" y="23847188"/>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379722"/>
            <a:ext cx="12422541" cy="4273800"/>
          </a:xfrm>
          <a:prstGeom prst="rect">
            <a:avLst/>
          </a:prstGeom>
        </p:spPr>
      </p:pic>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6717" y="24588261"/>
            <a:ext cx="12300154" cy="4353671"/>
          </a:xfrm>
          <a:prstGeom prst="rect">
            <a:avLst/>
          </a:prstGeom>
        </p:spPr>
      </p:pic>
      <p:sp>
        <p:nvSpPr>
          <p:cNvPr id="2" name="TextBox 1"/>
          <p:cNvSpPr txBox="1"/>
          <p:nvPr/>
        </p:nvSpPr>
        <p:spPr>
          <a:xfrm>
            <a:off x="1161806" y="15907475"/>
            <a:ext cx="11862449" cy="1754326"/>
          </a:xfrm>
          <a:prstGeom prst="rect">
            <a:avLst/>
          </a:prstGeom>
          <a:noFill/>
        </p:spPr>
        <p:txBody>
          <a:bodyPr wrap="square" rtlCol="0">
            <a:spAutoFit/>
          </a:bodyPr>
          <a:lstStyle/>
          <a:p>
            <a:pPr algn="just"/>
            <a:r>
              <a:rPr lang="en-US" sz="2160" dirty="0" smtClean="0">
                <a:latin typeface="Times New Roman" panose="02020603050405020304" pitchFamily="18" charset="0"/>
                <a:cs typeface="Times New Roman" panose="02020603050405020304" pitchFamily="18" charset="0"/>
              </a:rPr>
              <a:t>We first decided to use a Late Fusion Discriminative model as the baseline 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LSTM encoding of the answer options to get an evaluation metric.</a:t>
            </a:r>
          </a:p>
        </p:txBody>
      </p:sp>
      <p:sp>
        <p:nvSpPr>
          <p:cNvPr id="6" name="TextBox 5"/>
          <p:cNvSpPr txBox="1"/>
          <p:nvPr/>
        </p:nvSpPr>
        <p:spPr>
          <a:xfrm>
            <a:off x="1339588" y="28980839"/>
            <a:ext cx="11506884" cy="2751522"/>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which comes from question and image. The 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distribution. In the generative process, we just initialize our first and last words as the start index and end index.</a:t>
            </a:r>
            <a:endParaRPr lang="en-US" sz="2160" dirty="0" smtClean="0">
              <a:latin typeface="Times New Roman" charset="0"/>
              <a:ea typeface="Times New Roman" charset="0"/>
              <a:cs typeface="Times New Roman" charset="0"/>
            </a:endParaRPr>
          </a:p>
        </p:txBody>
      </p:sp>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1331</TotalTime>
  <Words>869</Words>
  <Application>Microsoft Macintosh PowerPoint</Application>
  <PresentationFormat>Custom</PresentationFormat>
  <Paragraphs>35</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Zhang Hanfu</cp:lastModifiedBy>
  <cp:revision>37</cp:revision>
  <dcterms:created xsi:type="dcterms:W3CDTF">2012-02-10T00:10:15Z</dcterms:created>
  <dcterms:modified xsi:type="dcterms:W3CDTF">2018-05-06T22:13:23Z</dcterms:modified>
</cp:coreProperties>
</file>