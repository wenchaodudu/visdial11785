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15" autoAdjust="0"/>
    <p:restoredTop sz="94872" autoAdjust="0"/>
  </p:normalViewPr>
  <p:slideViewPr>
    <p:cSldViewPr snapToGrid="0" snapToObjects="1" showGuides="1">
      <p:cViewPr>
        <p:scale>
          <a:sx n="62" d="100"/>
          <a:sy n="62" d="100"/>
        </p:scale>
        <p:origin x="-2024" y="-4552"/>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274"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275"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276"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277"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98"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99"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300"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301"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4118935"/>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Because of the </a:t>
            </a:r>
            <a:r>
              <a:rPr lang="en-US" dirty="0" smtClean="0">
                <a:solidFill>
                  <a:schemeClr val="tx1"/>
                </a:solidFill>
              </a:rPr>
              <a:t>memory limitation, we </a:t>
            </a:r>
            <a:r>
              <a:rPr lang="en-US" dirty="0" smtClean="0">
                <a:solidFill>
                  <a:schemeClr val="tx1"/>
                </a:solidFill>
              </a:rPr>
              <a:t>decreased </a:t>
            </a:r>
            <a:r>
              <a:rPr lang="en-US" dirty="0">
                <a:solidFill>
                  <a:schemeClr val="tx1"/>
                </a:solidFill>
              </a:rPr>
              <a:t>the model size and still </a:t>
            </a:r>
            <a:r>
              <a:rPr lang="en-US" dirty="0" smtClean="0">
                <a:solidFill>
                  <a:schemeClr val="tx1"/>
                </a:solidFill>
              </a:rPr>
              <a:t>obtained </a:t>
            </a:r>
            <a:r>
              <a:rPr lang="en-US" dirty="0">
                <a:solidFill>
                  <a:schemeClr val="tx1"/>
                </a:solidFill>
              </a:rPr>
              <a:t>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a:t>
            </a:r>
            <a:r>
              <a:rPr lang="en-US" dirty="0" smtClean="0">
                <a:solidFill>
                  <a:schemeClr val="tx1"/>
                </a:solidFill>
              </a:rPr>
              <a:t>a generative </a:t>
            </a:r>
            <a:r>
              <a:rPr lang="en-US" dirty="0" smtClean="0">
                <a:solidFill>
                  <a:schemeClr val="tx1"/>
                </a:solidFill>
              </a:rPr>
              <a:t>model with </a:t>
            </a:r>
            <a:r>
              <a:rPr lang="en-US" dirty="0" smtClean="0">
                <a:solidFill>
                  <a:schemeClr val="tx1"/>
                </a:solidFill>
              </a:rPr>
              <a:t>attention, </a:t>
            </a:r>
            <a:r>
              <a:rPr lang="en-US" dirty="0" smtClean="0">
                <a:solidFill>
                  <a:schemeClr val="tx1"/>
                </a:solidFill>
              </a:rPr>
              <a:t>which can achieve the conversation based on </a:t>
            </a:r>
            <a:r>
              <a:rPr lang="en-US" dirty="0" smtClean="0">
                <a:solidFill>
                  <a:schemeClr val="tx1"/>
                </a:solidFill>
              </a:rPr>
              <a:t>a given </a:t>
            </a:r>
            <a:r>
              <a:rPr lang="en-US" dirty="0" smtClean="0">
                <a:solidFill>
                  <a:schemeClr val="tx1"/>
                </a:solidFill>
              </a:rPr>
              <a:t>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96601"/>
            <a:ext cx="12955929" cy="2789340"/>
          </a:xfrm>
        </p:spPr>
        <p:txBody>
          <a:bodyPr/>
          <a:lstStyle/>
          <a:p>
            <a:pPr algn="just"/>
            <a:r>
              <a:rPr lang="en-US" b="1" dirty="0" smtClean="0">
                <a:solidFill>
                  <a:schemeClr val="tx1"/>
                </a:solidFill>
              </a:rPr>
              <a:t>Metrics</a:t>
            </a:r>
            <a:r>
              <a:rPr lang="en-US" dirty="0" smtClean="0">
                <a:solidFill>
                  <a:schemeClr val="tx1"/>
                </a:solidFill>
              </a:rPr>
              <a:t>: We conduct the experiments on the retrieval task, which is evaluated with Mean Reciprocal Rank (MRR) and Recall at N (R@N).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p>
          <a:p>
            <a:pPr algn="just"/>
            <a:r>
              <a:rPr lang="en-US" b="1" dirty="0" smtClean="0">
                <a:solidFill>
                  <a:schemeClr val="tx1"/>
                </a:solidFill>
              </a:rPr>
              <a:t>Constraints</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a:t>
            </a:r>
            <a:r>
              <a:rPr lang="en-US" dirty="0" smtClean="0">
                <a:solidFill>
                  <a:schemeClr val="tx1"/>
                </a:solidFill>
              </a:rPr>
              <a:t>reproduced </a:t>
            </a:r>
            <a:r>
              <a:rPr lang="en-US" dirty="0">
                <a:solidFill>
                  <a:schemeClr val="tx1"/>
                </a:solidFill>
              </a:rPr>
              <a:t>an AI task – Visual Dialog, where an AI agent </a:t>
            </a:r>
            <a:r>
              <a:rPr lang="en-US" dirty="0" smtClean="0">
                <a:solidFill>
                  <a:schemeClr val="tx1"/>
                </a:solidFill>
              </a:rPr>
              <a:t>must </a:t>
            </a:r>
            <a:r>
              <a:rPr lang="en-US" dirty="0">
                <a:solidFill>
                  <a:schemeClr val="tx1"/>
                </a:solidFill>
              </a:rPr>
              <a:t>hold a dialog with a human about visual content. Based on </a:t>
            </a:r>
            <a:r>
              <a:rPr lang="en-US" dirty="0" smtClean="0">
                <a:solidFill>
                  <a:schemeClr val="tx1"/>
                </a:solidFill>
              </a:rPr>
              <a:t>the Late </a:t>
            </a:r>
            <a:r>
              <a:rPr lang="en-US" dirty="0">
                <a:solidFill>
                  <a:schemeClr val="tx1"/>
                </a:solidFill>
              </a:rPr>
              <a:t>Fusion encoder, we first </a:t>
            </a:r>
            <a:r>
              <a:rPr lang="en-US" dirty="0" smtClean="0">
                <a:solidFill>
                  <a:schemeClr val="tx1"/>
                </a:solidFill>
              </a:rPr>
              <a:t>implemented </a:t>
            </a:r>
            <a:r>
              <a:rPr lang="en-US" dirty="0">
                <a:solidFill>
                  <a:schemeClr val="tx1"/>
                </a:solidFill>
              </a:rPr>
              <a:t>the </a:t>
            </a:r>
            <a:r>
              <a:rPr lang="en-US" dirty="0" smtClean="0">
                <a:solidFill>
                  <a:schemeClr val="tx1"/>
                </a:solidFill>
              </a:rPr>
              <a:t>discriminative and generative models </a:t>
            </a:r>
            <a:r>
              <a:rPr lang="en-US" dirty="0">
                <a:solidFill>
                  <a:schemeClr val="tx1"/>
                </a:solidFill>
              </a:rPr>
              <a:t>as our baselines. Then we </a:t>
            </a:r>
            <a:r>
              <a:rPr lang="en-US" dirty="0" smtClean="0">
                <a:solidFill>
                  <a:schemeClr val="tx1"/>
                </a:solidFill>
              </a:rPr>
              <a:t>came </a:t>
            </a:r>
            <a:r>
              <a:rPr lang="en-US" dirty="0">
                <a:solidFill>
                  <a:schemeClr val="tx1"/>
                </a:solidFill>
              </a:rPr>
              <a:t>up with methods focusing on improving the performance. For example, we </a:t>
            </a:r>
            <a:r>
              <a:rPr lang="en-US" dirty="0" smtClean="0">
                <a:solidFill>
                  <a:schemeClr val="tx1"/>
                </a:solidFill>
              </a:rPr>
              <a:t>applied a </a:t>
            </a:r>
            <a:r>
              <a:rPr lang="en-US" dirty="0">
                <a:solidFill>
                  <a:schemeClr val="tx1"/>
                </a:solidFill>
              </a:rPr>
              <a:t>sequential matching network into the discriminative model and </a:t>
            </a:r>
            <a:r>
              <a:rPr lang="en-US" dirty="0" smtClean="0">
                <a:solidFill>
                  <a:schemeClr val="tx1"/>
                </a:solidFill>
              </a:rPr>
              <a:t>implemented </a:t>
            </a:r>
            <a:r>
              <a:rPr lang="en-US" dirty="0">
                <a:solidFill>
                  <a:schemeClr val="tx1"/>
                </a:solidFill>
              </a:rPr>
              <a:t>question &amp; image attention in the generative model. </a:t>
            </a:r>
            <a:endParaRPr lang="en-US" dirty="0" smtClean="0">
              <a:solidFill>
                <a:schemeClr val="tx1"/>
              </a:solidFill>
            </a:endParaRPr>
          </a:p>
          <a:p>
            <a:pPr algn="just"/>
            <a:r>
              <a:rPr lang="en-US" dirty="0" smtClean="0">
                <a:solidFill>
                  <a:schemeClr val="tx1"/>
                </a:solidFill>
              </a:rPr>
              <a:t>Our </a:t>
            </a:r>
            <a:r>
              <a:rPr lang="en-US" dirty="0">
                <a:solidFill>
                  <a:schemeClr val="tx1"/>
                </a:solidFill>
              </a:rPr>
              <a:t>baseline models are comparable to the results in the paper, since we </a:t>
            </a:r>
            <a:r>
              <a:rPr lang="en-US" dirty="0" smtClean="0">
                <a:solidFill>
                  <a:schemeClr val="tx1"/>
                </a:solidFill>
              </a:rPr>
              <a:t>used </a:t>
            </a:r>
            <a:r>
              <a:rPr lang="en-US" dirty="0">
                <a:solidFill>
                  <a:schemeClr val="tx1"/>
                </a:solidFill>
              </a:rPr>
              <a:t>smaller hidden size and word embedding size. The sequential matching network in the discriminative model can slightly improve the performance, both on MRR and </a:t>
            </a:r>
            <a:r>
              <a:rPr lang="en-US" dirty="0" smtClean="0">
                <a:solidFill>
                  <a:schemeClr val="tx1"/>
                </a:solidFill>
              </a:rPr>
              <a:t>@N. The </a:t>
            </a:r>
            <a:r>
              <a:rPr lang="en-US" dirty="0">
                <a:solidFill>
                  <a:schemeClr val="tx1"/>
                </a:solidFill>
              </a:rPr>
              <a:t>attention model takes in the concatenation context of the question and image, which greatly </a:t>
            </a:r>
            <a:r>
              <a:rPr lang="en-US" dirty="0" smtClean="0">
                <a:solidFill>
                  <a:schemeClr val="tx1"/>
                </a:solidFill>
              </a:rPr>
              <a:t>improves </a:t>
            </a:r>
            <a:r>
              <a:rPr lang="en-US" dirty="0">
                <a:solidFill>
                  <a:schemeClr val="tx1"/>
                </a:solidFill>
              </a:rPr>
              <a:t>the performance. Furthermore, we </a:t>
            </a:r>
            <a:r>
              <a:rPr lang="en-US" dirty="0" smtClean="0">
                <a:solidFill>
                  <a:schemeClr val="tx1"/>
                </a:solidFill>
              </a:rPr>
              <a:t>attempted to add </a:t>
            </a:r>
            <a:r>
              <a:rPr lang="en-US" dirty="0">
                <a:solidFill>
                  <a:schemeClr val="tx1"/>
                </a:solidFill>
              </a:rPr>
              <a:t>non-linear functions for the context, but the </a:t>
            </a:r>
            <a:r>
              <a:rPr lang="en-US" dirty="0" smtClean="0">
                <a:solidFill>
                  <a:schemeClr val="tx1"/>
                </a:solidFill>
              </a:rPr>
              <a:t>improvement was not significant.</a:t>
            </a:r>
          </a:p>
          <a:p>
            <a:pPr algn="just"/>
            <a:r>
              <a:rPr lang="en-US" dirty="0" smtClean="0">
                <a:solidFill>
                  <a:schemeClr val="tx1"/>
                </a:solidFill>
              </a:rPr>
              <a:t>In </a:t>
            </a:r>
            <a:r>
              <a:rPr lang="en-US" dirty="0">
                <a:solidFill>
                  <a:schemeClr val="tx1"/>
                </a:solidFill>
              </a:rPr>
              <a:t>conclusion, our project demonstrates that sequential matching and attention </a:t>
            </a:r>
            <a:r>
              <a:rPr lang="en-US" dirty="0" smtClean="0">
                <a:solidFill>
                  <a:schemeClr val="tx1"/>
                </a:solidFill>
              </a:rPr>
              <a:t>mechanisms can improve performance on the Visual Dialog dataset according to the MRR and R@N metrics.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51627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306048"/>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a:t>
            </a:r>
            <a:r>
              <a:rPr lang="en-US" dirty="0" smtClean="0">
                <a:solidFill>
                  <a:schemeClr val="tx1"/>
                </a:solidFill>
              </a:rPr>
              <a:t>involves </a:t>
            </a:r>
            <a:r>
              <a:rPr lang="en-US" dirty="0">
                <a:solidFill>
                  <a:schemeClr val="tx1"/>
                </a:solidFill>
              </a:rPr>
              <a:t>deep learning approaches such as CNNs and RNNs with </a:t>
            </a:r>
            <a:r>
              <a:rPr lang="en-US" dirty="0" smtClean="0">
                <a:solidFill>
                  <a:schemeClr val="tx1"/>
                </a:solidFill>
              </a:rPr>
              <a:t>attention </a:t>
            </a:r>
            <a:r>
              <a:rPr lang="en-US" dirty="0">
                <a:solidFill>
                  <a:schemeClr val="tx1"/>
                </a:solidFill>
              </a:rPr>
              <a:t>to better </a:t>
            </a:r>
            <a:r>
              <a:rPr lang="en-US" dirty="0" smtClean="0">
                <a:solidFill>
                  <a:schemeClr val="tx1"/>
                </a:solidFill>
              </a:rPr>
              <a:t>understand </a:t>
            </a:r>
            <a:r>
              <a:rPr lang="en-US" dirty="0">
                <a:solidFill>
                  <a:schemeClr val="tx1"/>
                </a:solidFill>
              </a:rPr>
              <a:t>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a:t>
            </a:r>
            <a:r>
              <a:rPr lang="en-US">
                <a:solidFill>
                  <a:schemeClr val="tx1"/>
                </a:solidFill>
              </a:rPr>
              <a:t>of </a:t>
            </a:r>
            <a:r>
              <a:rPr lang="en-US" smtClean="0">
                <a:solidFill>
                  <a:schemeClr val="tx1"/>
                </a:solidFill>
              </a:rPr>
              <a:t>the hidden </a:t>
            </a:r>
            <a:r>
              <a:rPr lang="en-US" dirty="0">
                <a:solidFill>
                  <a:schemeClr val="tx1"/>
                </a:solidFill>
              </a:rPr>
              <a:t>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one of the baselines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a:t>
            </a:r>
            <a:r>
              <a:rPr lang="en-US" sz="2160" dirty="0" smtClean="0">
                <a:latin typeface="Times New Roman" charset="0"/>
                <a:ea typeface="Times New Roman" charset="0"/>
                <a:cs typeface="Times New Roman" charset="0"/>
              </a:rPr>
              <a:t>GRU to </a:t>
            </a:r>
            <a:r>
              <a:rPr lang="en-US" sz="2160" dirty="0">
                <a:latin typeface="Times New Roman" charset="0"/>
                <a:ea typeface="Times New Roman" charset="0"/>
                <a:cs typeface="Times New Roman" charset="0"/>
              </a:rPr>
              <a:t>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044657" y="8252586"/>
            <a:ext cx="12031101" cy="6271532"/>
          </a:xfrm>
          <a:prstGeom prst="rect">
            <a:avLst/>
          </a:prstGeom>
        </p:spPr>
      </p:pic>
      <p:sp>
        <p:nvSpPr>
          <p:cNvPr id="32" name="Text Placeholder 86"/>
          <p:cNvSpPr txBox="1">
            <a:spLocks/>
          </p:cNvSpPr>
          <p:nvPr/>
        </p:nvSpPr>
        <p:spPr>
          <a:xfrm>
            <a:off x="13856717" y="14044299"/>
            <a:ext cx="12955929" cy="139325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b="1" dirty="0" smtClean="0">
                <a:solidFill>
                  <a:schemeClr val="tx1"/>
                </a:solidFill>
              </a:rPr>
              <a:t>Evaluation</a:t>
            </a:r>
            <a:r>
              <a:rPr lang="en-US" dirty="0" smtClean="0">
                <a:solidFill>
                  <a:schemeClr val="tx1"/>
                </a:solidFill>
              </a:rPr>
              <a:t>: </a:t>
            </a:r>
            <a:r>
              <a:rPr lang="en-US" dirty="0">
                <a:solidFill>
                  <a:schemeClr val="tx1"/>
                </a:solidFill>
              </a:rPr>
              <a:t>Our baselines are based on Late Fusion, with the representation of questions and image. Compared to the </a:t>
            </a:r>
            <a:r>
              <a:rPr lang="en-US" dirty="0" smtClean="0">
                <a:solidFill>
                  <a:schemeClr val="tx1"/>
                </a:solidFill>
              </a:rPr>
              <a:t>discriminative baseline, our SMN method improves MRR by 0.18% and R@N by 0.31% on average. In the generative models, our best one improves MRR by 4.04% </a:t>
            </a:r>
            <a:r>
              <a:rPr lang="en-US" smtClean="0">
                <a:solidFill>
                  <a:schemeClr val="tx1"/>
                </a:solidFill>
              </a:rPr>
              <a:t>and R@N </a:t>
            </a:r>
            <a:r>
              <a:rPr lang="en-US" dirty="0" smtClean="0">
                <a:solidFill>
                  <a:schemeClr val="tx1"/>
                </a:solidFill>
              </a:rPr>
              <a:t>by 4.15%.</a:t>
            </a:r>
          </a:p>
        </p:txBody>
      </p:sp>
      <p:sp>
        <p:nvSpPr>
          <p:cNvPr id="7" name="TextBox 6"/>
          <p:cNvSpPr txBox="1"/>
          <p:nvPr/>
        </p:nvSpPr>
        <p:spPr>
          <a:xfrm>
            <a:off x="17664545" y="14713527"/>
            <a:ext cx="184731" cy="461665"/>
          </a:xfrm>
          <a:prstGeom prst="rect">
            <a:avLst/>
          </a:prstGeom>
          <a:noFill/>
        </p:spPr>
        <p:txBody>
          <a:bodyPr wrap="none" rtlCol="0">
            <a:spAutoFit/>
          </a:bodyPr>
          <a:lstStyle/>
          <a:p>
            <a:endParaRPr lang="en-US" sz="2400" dirty="0" smtClean="0">
              <a:latin typeface="Times New Roman" panose="02020603050405020304" pitchFamily="18" charset="0"/>
              <a:cs typeface="Times New Roman" panose="02020603050405020304" pitchFamily="18" charset="0"/>
            </a:endParaRPr>
          </a:p>
        </p:txBody>
      </p:sp>
      <p:pic>
        <p:nvPicPr>
          <p:cNvPr id="8" name="Picture 7"/>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288820" y="25197312"/>
            <a:ext cx="11325744" cy="4019967"/>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1555</TotalTime>
  <Words>1232</Words>
  <Application>Microsoft Macintosh PowerPoint</Application>
  <PresentationFormat>Custom</PresentationFormat>
  <Paragraphs>40</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61</cp:revision>
  <dcterms:created xsi:type="dcterms:W3CDTF">2012-02-10T00:10:15Z</dcterms:created>
  <dcterms:modified xsi:type="dcterms:W3CDTF">2018-05-07T02:09:23Z</dcterms:modified>
</cp:coreProperties>
</file>