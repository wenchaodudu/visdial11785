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27" autoAdjust="0"/>
    <p:restoredTop sz="94851" autoAdjust="0"/>
  </p:normalViewPr>
  <p:slideViewPr>
    <p:cSldViewPr snapToGrid="0" snapToObjects="1" showGuides="1">
      <p:cViewPr>
        <p:scale>
          <a:sx n="62" d="100"/>
          <a:sy n="62" d="100"/>
        </p:scale>
        <p:origin x="-2472" y="-1080"/>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225"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226"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227"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228"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249"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250"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251"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252"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21"/>
            <a:ext cx="12944945" cy="3937752"/>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t>
            </a:r>
            <a:r>
              <a:rPr lang="en-US" dirty="0" smtClean="0">
                <a:solidFill>
                  <a:schemeClr val="tx1"/>
                </a:solidFill>
              </a:rPr>
              <a:t>answer.</a:t>
            </a:r>
          </a:p>
          <a:p>
            <a:pPr algn="just"/>
            <a:r>
              <a:rPr lang="en-US" dirty="0" smtClean="0">
                <a:solidFill>
                  <a:schemeClr val="tx1"/>
                </a:solidFill>
              </a:rPr>
              <a:t>In </a:t>
            </a:r>
            <a:r>
              <a:rPr lang="en-US" dirty="0">
                <a:solidFill>
                  <a:schemeClr val="tx1"/>
                </a:solidFill>
              </a:rPr>
              <a:t>our project, we </a:t>
            </a:r>
            <a:r>
              <a:rPr lang="en-US" dirty="0" smtClean="0">
                <a:solidFill>
                  <a:schemeClr val="tx1"/>
                </a:solidFill>
              </a:rPr>
              <a:t>first attempt to </a:t>
            </a:r>
            <a:r>
              <a:rPr lang="en-US" dirty="0">
                <a:solidFill>
                  <a:schemeClr val="tx1"/>
                </a:solidFill>
              </a:rPr>
              <a:t>reproduce the state-of-the-art </a:t>
            </a:r>
            <a:r>
              <a:rPr lang="en-US" dirty="0" smtClean="0">
                <a:solidFill>
                  <a:schemeClr val="tx1"/>
                </a:solidFill>
              </a:rPr>
              <a:t>method in </a:t>
            </a:r>
            <a:r>
              <a:rPr lang="en-US" dirty="0">
                <a:solidFill>
                  <a:schemeClr val="tx1"/>
                </a:solidFill>
              </a:rPr>
              <a:t>the widely used Visual Dialog </a:t>
            </a:r>
            <a:r>
              <a:rPr lang="en-US" dirty="0" smtClean="0">
                <a:solidFill>
                  <a:schemeClr val="tx1"/>
                </a:solidFill>
              </a:rPr>
              <a:t>dataset. This </a:t>
            </a:r>
            <a:r>
              <a:rPr lang="en-US" dirty="0">
                <a:solidFill>
                  <a:schemeClr val="tx1"/>
                </a:solidFill>
              </a:rPr>
              <a:t>method uses a Late Fusion encoder with a discriminative decoder.  </a:t>
            </a:r>
            <a:r>
              <a:rPr lang="en-US" dirty="0" smtClean="0">
                <a:solidFill>
                  <a:schemeClr val="tx1"/>
                </a:solidFill>
              </a:rPr>
              <a:t>Since the memory limitation, we decrease </a:t>
            </a:r>
            <a:r>
              <a:rPr lang="en-US" dirty="0">
                <a:solidFill>
                  <a:schemeClr val="tx1"/>
                </a:solidFill>
              </a:rPr>
              <a:t>the model size and still obtain comparable </a:t>
            </a:r>
            <a:r>
              <a:rPr lang="en-US" dirty="0" smtClean="0">
                <a:solidFill>
                  <a:schemeClr val="tx1"/>
                </a:solidFill>
              </a:rPr>
              <a:t>results. We further introduce the sequential matching network </a:t>
            </a:r>
            <a:r>
              <a:rPr lang="mr-IN" dirty="0" smtClean="0">
                <a:solidFill>
                  <a:schemeClr val="tx1"/>
                </a:solidFill>
              </a:rPr>
              <a:t>–</a:t>
            </a:r>
            <a:r>
              <a:rPr lang="en-US" dirty="0" smtClean="0">
                <a:solidFill>
                  <a:schemeClr val="tx1"/>
                </a:solidFill>
              </a:rPr>
              <a:t> a new architecture for multi-turn response selection in retrieval-based visual dialog. </a:t>
            </a:r>
            <a:r>
              <a:rPr lang="en-US" dirty="0">
                <a:solidFill>
                  <a:schemeClr val="tx1"/>
                </a:solidFill>
              </a:rPr>
              <a:t>Finally, we </a:t>
            </a:r>
            <a:r>
              <a:rPr lang="en-US" dirty="0" smtClean="0">
                <a:solidFill>
                  <a:schemeClr val="tx1"/>
                </a:solidFill>
              </a:rPr>
              <a:t>explore deeply into the generative model with attentions, which can achieve the conversation based on given image </a:t>
            </a:r>
            <a:r>
              <a:rPr lang="en-US" dirty="0">
                <a:solidFill>
                  <a:schemeClr val="tx1"/>
                </a:solidFill>
              </a:rPr>
              <a:t>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2182" y="9881976"/>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96601"/>
            <a:ext cx="12955929" cy="2789340"/>
          </a:xfrm>
        </p:spPr>
        <p:txBody>
          <a:bodyPr/>
          <a:lstStyle/>
          <a:p>
            <a:pPr algn="just"/>
            <a:r>
              <a:rPr lang="en-US" b="1" dirty="0" smtClean="0">
                <a:solidFill>
                  <a:schemeClr val="tx1"/>
                </a:solidFill>
              </a:rPr>
              <a:t>Metrics</a:t>
            </a:r>
            <a:r>
              <a:rPr lang="en-US" dirty="0" smtClean="0">
                <a:solidFill>
                  <a:schemeClr val="tx1"/>
                </a:solidFill>
              </a:rPr>
              <a:t>: </a:t>
            </a:r>
            <a:r>
              <a:rPr lang="en-US" dirty="0" smtClean="0">
                <a:solidFill>
                  <a:schemeClr val="tx1"/>
                </a:solidFill>
              </a:rPr>
              <a:t>We conduct the experiments on the retrieval task, which is evaluated with Mean Reciprocal Rank (MRR) and Recall at N (R@N). Mean Reciprocal Rank will essentially look at what rank the model gave the correct response, and take the mean of all the reciprocals of the ranks given. The higher this value, the better the model performed. Recall at N, the other evaluation metric, looks at whether the correct response exists within the top N ranked responses given by the model. </a:t>
            </a:r>
          </a:p>
          <a:p>
            <a:pPr algn="just"/>
            <a:r>
              <a:rPr lang="en-US" b="1" dirty="0" smtClean="0">
                <a:solidFill>
                  <a:schemeClr val="tx1"/>
                </a:solidFill>
              </a:rPr>
              <a:t>Constraints</a:t>
            </a:r>
            <a:r>
              <a:rPr lang="en-US" dirty="0" smtClean="0">
                <a:solidFill>
                  <a:schemeClr val="tx1"/>
                </a:solidFill>
              </a:rPr>
              <a:t>: Due to hardware constraints, we use smaller hidden size (200) and word embedding size (200) as opposed to 512 and 300 in Das et al.. We are able to get results that are close to what were reported by the author.</a:t>
            </a:r>
          </a:p>
        </p:txBody>
      </p:sp>
      <p:sp>
        <p:nvSpPr>
          <p:cNvPr id="88" name="Text Placeholder 87"/>
          <p:cNvSpPr>
            <a:spLocks noGrp="1"/>
          </p:cNvSpPr>
          <p:nvPr>
            <p:ph type="body" sz="quarter" idx="27"/>
          </p:nvPr>
        </p:nvSpPr>
        <p:spPr>
          <a:xfrm>
            <a:off x="13846682" y="19225715"/>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012622"/>
            <a:ext cx="12947298" cy="4517826"/>
          </a:xfrm>
        </p:spPr>
        <p:txBody>
          <a:bodyPr/>
          <a:lstStyle/>
          <a:p>
            <a:pPr algn="just"/>
            <a:r>
              <a:rPr lang="en-US" dirty="0">
                <a:solidFill>
                  <a:schemeClr val="tx1"/>
                </a:solidFill>
              </a:rPr>
              <a:t>To summarize, we reproduce an AI task – Visual Dialog, where an AI agent </a:t>
            </a:r>
            <a:r>
              <a:rPr lang="en-US" dirty="0" smtClean="0">
                <a:solidFill>
                  <a:schemeClr val="tx1"/>
                </a:solidFill>
              </a:rPr>
              <a:t>must </a:t>
            </a:r>
            <a:r>
              <a:rPr lang="en-US" dirty="0">
                <a:solidFill>
                  <a:schemeClr val="tx1"/>
                </a:solidFill>
              </a:rPr>
              <a:t>hold a dialog with a human about visual content. Based on </a:t>
            </a:r>
            <a:r>
              <a:rPr lang="en-US" dirty="0" smtClean="0">
                <a:solidFill>
                  <a:schemeClr val="tx1"/>
                </a:solidFill>
              </a:rPr>
              <a:t>the Late </a:t>
            </a:r>
            <a:r>
              <a:rPr lang="en-US" dirty="0">
                <a:solidFill>
                  <a:schemeClr val="tx1"/>
                </a:solidFill>
              </a:rPr>
              <a:t>Fusion encoder, we first </a:t>
            </a:r>
            <a:r>
              <a:rPr lang="en-US" dirty="0" smtClean="0">
                <a:solidFill>
                  <a:schemeClr val="tx1"/>
                </a:solidFill>
              </a:rPr>
              <a:t>implemented </a:t>
            </a:r>
            <a:r>
              <a:rPr lang="en-US" dirty="0">
                <a:solidFill>
                  <a:schemeClr val="tx1"/>
                </a:solidFill>
              </a:rPr>
              <a:t>the </a:t>
            </a:r>
            <a:r>
              <a:rPr lang="en-US" dirty="0" smtClean="0">
                <a:solidFill>
                  <a:schemeClr val="tx1"/>
                </a:solidFill>
              </a:rPr>
              <a:t>discriminative and generative models </a:t>
            </a:r>
            <a:r>
              <a:rPr lang="en-US" dirty="0">
                <a:solidFill>
                  <a:schemeClr val="tx1"/>
                </a:solidFill>
              </a:rPr>
              <a:t>as our baselines. Then we </a:t>
            </a:r>
            <a:r>
              <a:rPr lang="en-US" dirty="0" smtClean="0">
                <a:solidFill>
                  <a:schemeClr val="tx1"/>
                </a:solidFill>
              </a:rPr>
              <a:t>came </a:t>
            </a:r>
            <a:r>
              <a:rPr lang="en-US" dirty="0">
                <a:solidFill>
                  <a:schemeClr val="tx1"/>
                </a:solidFill>
              </a:rPr>
              <a:t>up with methods focusing on improving the performance. For example, we </a:t>
            </a:r>
            <a:r>
              <a:rPr lang="en-US" dirty="0" smtClean="0">
                <a:solidFill>
                  <a:schemeClr val="tx1"/>
                </a:solidFill>
              </a:rPr>
              <a:t>applied a </a:t>
            </a:r>
            <a:r>
              <a:rPr lang="en-US" dirty="0">
                <a:solidFill>
                  <a:schemeClr val="tx1"/>
                </a:solidFill>
              </a:rPr>
              <a:t>sequential matching network into the discriminative model and </a:t>
            </a:r>
            <a:r>
              <a:rPr lang="en-US" dirty="0" smtClean="0">
                <a:solidFill>
                  <a:schemeClr val="tx1"/>
                </a:solidFill>
              </a:rPr>
              <a:t>implemented </a:t>
            </a:r>
            <a:r>
              <a:rPr lang="en-US" dirty="0">
                <a:solidFill>
                  <a:schemeClr val="tx1"/>
                </a:solidFill>
              </a:rPr>
              <a:t>question &amp; image attention in the generative model. </a:t>
            </a:r>
            <a:endParaRPr lang="en-US" dirty="0" smtClean="0">
              <a:solidFill>
                <a:schemeClr val="tx1"/>
              </a:solidFill>
            </a:endParaRPr>
          </a:p>
          <a:p>
            <a:pPr algn="just"/>
            <a:r>
              <a:rPr lang="en-US" dirty="0" smtClean="0">
                <a:solidFill>
                  <a:schemeClr val="tx1"/>
                </a:solidFill>
              </a:rPr>
              <a:t>Our </a:t>
            </a:r>
            <a:r>
              <a:rPr lang="en-US" dirty="0">
                <a:solidFill>
                  <a:schemeClr val="tx1"/>
                </a:solidFill>
              </a:rPr>
              <a:t>baseline models are comparable to the results in the paper, since we </a:t>
            </a:r>
            <a:r>
              <a:rPr lang="en-US" dirty="0" smtClean="0">
                <a:solidFill>
                  <a:schemeClr val="tx1"/>
                </a:solidFill>
              </a:rPr>
              <a:t>used </a:t>
            </a:r>
            <a:r>
              <a:rPr lang="en-US" dirty="0">
                <a:solidFill>
                  <a:schemeClr val="tx1"/>
                </a:solidFill>
              </a:rPr>
              <a:t>smaller hidden size and word embedding size. The sequential matching network in the discriminative model can slightly improve the performance, both on MRR and </a:t>
            </a:r>
            <a:r>
              <a:rPr lang="en-US" dirty="0" smtClean="0">
                <a:solidFill>
                  <a:schemeClr val="tx1"/>
                </a:solidFill>
              </a:rPr>
              <a:t>@N</a:t>
            </a:r>
            <a:r>
              <a:rPr lang="en-US" dirty="0" smtClean="0">
                <a:solidFill>
                  <a:schemeClr val="tx1"/>
                </a:solidFill>
              </a:rPr>
              <a:t>. The </a:t>
            </a:r>
            <a:r>
              <a:rPr lang="en-US" dirty="0">
                <a:solidFill>
                  <a:schemeClr val="tx1"/>
                </a:solidFill>
              </a:rPr>
              <a:t>attention model takes in the concatenation context of the question and image, which greatly </a:t>
            </a:r>
            <a:r>
              <a:rPr lang="en-US" dirty="0" smtClean="0">
                <a:solidFill>
                  <a:schemeClr val="tx1"/>
                </a:solidFill>
              </a:rPr>
              <a:t>improves </a:t>
            </a:r>
            <a:r>
              <a:rPr lang="en-US" dirty="0">
                <a:solidFill>
                  <a:schemeClr val="tx1"/>
                </a:solidFill>
              </a:rPr>
              <a:t>the performance. Furthermore, we </a:t>
            </a:r>
            <a:r>
              <a:rPr lang="en-US" dirty="0" smtClean="0">
                <a:solidFill>
                  <a:schemeClr val="tx1"/>
                </a:solidFill>
              </a:rPr>
              <a:t>attempted to add </a:t>
            </a:r>
            <a:r>
              <a:rPr lang="en-US" dirty="0">
                <a:solidFill>
                  <a:schemeClr val="tx1"/>
                </a:solidFill>
              </a:rPr>
              <a:t>non-linear functions for the context, but the </a:t>
            </a:r>
            <a:r>
              <a:rPr lang="en-US" dirty="0" smtClean="0">
                <a:solidFill>
                  <a:schemeClr val="tx1"/>
                </a:solidFill>
              </a:rPr>
              <a:t>improvement was not significant.</a:t>
            </a:r>
          </a:p>
          <a:p>
            <a:pPr algn="just"/>
            <a:r>
              <a:rPr lang="en-US" dirty="0" smtClean="0">
                <a:solidFill>
                  <a:schemeClr val="tx1"/>
                </a:solidFill>
              </a:rPr>
              <a:t>In </a:t>
            </a:r>
            <a:r>
              <a:rPr lang="en-US" dirty="0">
                <a:solidFill>
                  <a:schemeClr val="tx1"/>
                </a:solidFill>
              </a:rPr>
              <a:t>conclusion, our project demonstrates that sequential matching and attention </a:t>
            </a:r>
            <a:r>
              <a:rPr lang="en-US" dirty="0" smtClean="0">
                <a:solidFill>
                  <a:schemeClr val="tx1"/>
                </a:solidFill>
              </a:rPr>
              <a:t>mechanisms can improve performance on the Visual Dialog dataset according to the MRR and R@N metrics. </a:t>
            </a:r>
            <a:endParaRPr lang="en-US" dirty="0">
              <a:solidFill>
                <a:schemeClr val="tx1"/>
              </a:solidFill>
            </a:endParaRPr>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8" y="10457839"/>
            <a:ext cx="12957406" cy="1393252"/>
          </a:xfrm>
        </p:spPr>
        <p:txBody>
          <a:bodyPr/>
          <a:lstStyle/>
          <a:p>
            <a:r>
              <a:rPr lang="en-US" dirty="0" smtClean="0">
                <a:solidFill>
                  <a:schemeClr val="tx1"/>
                </a:solidFill>
              </a:rPr>
              <a:t>In this project, we introduce a family of neural encoder-decoder models for Visual Dialog with 2 encoders </a:t>
            </a:r>
            <a:r>
              <a:rPr lang="mr-IN" dirty="0" smtClean="0">
                <a:solidFill>
                  <a:schemeClr val="tx1"/>
                </a:solidFill>
              </a:rPr>
              <a:t>–</a:t>
            </a:r>
            <a:r>
              <a:rPr lang="en-US" dirty="0" smtClean="0">
                <a:solidFill>
                  <a:schemeClr val="tx1"/>
                </a:solidFill>
              </a:rPr>
              <a:t> Late Fusion, Sequential Matching </a:t>
            </a:r>
            <a:r>
              <a:rPr lang="mr-IN" dirty="0" smtClean="0">
                <a:solidFill>
                  <a:schemeClr val="tx1"/>
                </a:solidFill>
              </a:rPr>
              <a:t>–</a:t>
            </a:r>
            <a:r>
              <a:rPr lang="en-US" dirty="0" smtClean="0">
                <a:solidFill>
                  <a:schemeClr val="tx1"/>
                </a:solidFill>
              </a:rPr>
              <a:t> and 2 decoders (generative and discriminative), which are comparable to a number of sophisticated baselines.</a:t>
            </a:r>
            <a:endParaRPr lang="en-US" dirty="0">
              <a:solidFill>
                <a:schemeClr val="tx1"/>
              </a:solidFill>
            </a:endParaRPr>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51627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306048"/>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dirty="0">
                <a:solidFill>
                  <a:schemeClr val="tx1"/>
                </a:solidFill>
              </a:rPr>
              <a:t>Our Visual Dialog system involves in deep learning approaches such as CNNs and RNNs with </a:t>
            </a:r>
            <a:r>
              <a:rPr lang="en-US" dirty="0" smtClean="0">
                <a:solidFill>
                  <a:schemeClr val="tx1"/>
                </a:solidFill>
              </a:rPr>
              <a:t>attention </a:t>
            </a:r>
            <a:r>
              <a:rPr lang="en-US" dirty="0">
                <a:solidFill>
                  <a:schemeClr val="tx1"/>
                </a:solidFill>
              </a:rPr>
              <a:t>to better understanding 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pPr algn="just"/>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pPr algn="just"/>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of hidden layer in </a:t>
            </a:r>
            <a:r>
              <a:rPr lang="en-US" dirty="0" err="1">
                <a:solidFill>
                  <a:schemeClr val="tx1"/>
                </a:solidFill>
              </a:rPr>
              <a:t>GRUCell</a:t>
            </a:r>
            <a:r>
              <a:rPr lang="en-US" dirty="0">
                <a:solidFill>
                  <a:schemeClr val="tx1"/>
                </a:solidFill>
              </a:rPr>
              <a:t>, aiming to produce the same comparable results with less parameters and further </a:t>
            </a:r>
            <a:r>
              <a:rPr lang="en-US" dirty="0" smtClean="0">
                <a:solidFill>
                  <a:schemeClr val="tx1"/>
                </a:solidFill>
              </a:rPr>
              <a:t>improvements</a:t>
            </a:r>
            <a:r>
              <a:rPr lang="en-US" dirty="0">
                <a:solidFill>
                  <a:schemeClr val="tx1"/>
                </a:solidFill>
              </a:rPr>
              <a:t>. </a:t>
            </a:r>
          </a:p>
        </p:txBody>
      </p:sp>
      <p:sp>
        <p:nvSpPr>
          <p:cNvPr id="17" name="Text Placeholder 89"/>
          <p:cNvSpPr txBox="1">
            <a:spLocks/>
          </p:cNvSpPr>
          <p:nvPr/>
        </p:nvSpPr>
        <p:spPr>
          <a:xfrm>
            <a:off x="13856718" y="28663290"/>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ECE, </a:t>
            </a:r>
            <a:r>
              <a:rPr lang="en-US" dirty="0"/>
              <a:t>CIT,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85310" y="12333007"/>
            <a:ext cx="10393182" cy="3472633"/>
          </a:xfrm>
          <a:prstGeom prst="rect">
            <a:avLst/>
          </a:prstGeom>
        </p:spPr>
      </p:pic>
      <p:sp>
        <p:nvSpPr>
          <p:cNvPr id="23" name="Text Placeholder 84"/>
          <p:cNvSpPr txBox="1">
            <a:spLocks/>
          </p:cNvSpPr>
          <p:nvPr/>
        </p:nvSpPr>
        <p:spPr>
          <a:xfrm>
            <a:off x="535618" y="11652455"/>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 Discriminative</a:t>
            </a:r>
          </a:p>
        </p:txBody>
      </p:sp>
      <p:sp>
        <p:nvSpPr>
          <p:cNvPr id="25" name="Text Placeholder 84"/>
          <p:cNvSpPr txBox="1">
            <a:spLocks/>
          </p:cNvSpPr>
          <p:nvPr/>
        </p:nvSpPr>
        <p:spPr>
          <a:xfrm>
            <a:off x="535618" y="17663471"/>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607807" y="2432457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369634"/>
            <a:ext cx="12422541" cy="4273800"/>
          </a:xfrm>
          <a:prstGeom prst="rect">
            <a:avLst/>
          </a:prstGeom>
        </p:spPr>
      </p:pic>
      <p:pic>
        <p:nvPicPr>
          <p:cNvPr id="5" name="Picture 4"/>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31824" y="25004923"/>
            <a:ext cx="12300154" cy="4353671"/>
          </a:xfrm>
          <a:prstGeom prst="rect">
            <a:avLst/>
          </a:prstGeom>
        </p:spPr>
      </p:pic>
      <p:sp>
        <p:nvSpPr>
          <p:cNvPr id="2" name="TextBox 1"/>
          <p:cNvSpPr txBox="1"/>
          <p:nvPr/>
        </p:nvSpPr>
        <p:spPr>
          <a:xfrm>
            <a:off x="896717" y="15905148"/>
            <a:ext cx="12300153" cy="1754326"/>
          </a:xfrm>
          <a:prstGeom prst="rect">
            <a:avLst/>
          </a:prstGeom>
          <a:noFill/>
        </p:spPr>
        <p:txBody>
          <a:bodyPr wrap="square" rtlCol="0">
            <a:spAutoFit/>
          </a:bodyPr>
          <a:lstStyle/>
          <a:p>
            <a:pPr algn="just"/>
            <a:r>
              <a:rPr lang="en-US" sz="2160" dirty="0" smtClean="0">
                <a:latin typeface="Times New Roman" panose="02020603050405020304" pitchFamily="18" charset="0"/>
                <a:cs typeface="Times New Roman" panose="02020603050405020304" pitchFamily="18" charset="0"/>
              </a:rPr>
              <a:t>We first decided to use a Late Fusion Discriminative model as one of the baselines 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GRU encoding of the answer options to get an evaluation metric.</a:t>
            </a:r>
          </a:p>
        </p:txBody>
      </p:sp>
      <p:sp>
        <p:nvSpPr>
          <p:cNvPr id="6" name="TextBox 5"/>
          <p:cNvSpPr txBox="1"/>
          <p:nvPr/>
        </p:nvSpPr>
        <p:spPr>
          <a:xfrm>
            <a:off x="896717" y="29482288"/>
            <a:ext cx="12300154" cy="2086725"/>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a:t>
            </a:r>
            <a:r>
              <a:rPr lang="en-US" sz="2160" dirty="0" smtClean="0">
                <a:latin typeface="Times New Roman" charset="0"/>
                <a:ea typeface="Times New Roman" charset="0"/>
                <a:cs typeface="Times New Roman" charset="0"/>
              </a:rPr>
              <a:t>where the </a:t>
            </a:r>
            <a:r>
              <a:rPr lang="en-US" sz="2160" dirty="0">
                <a:latin typeface="Times New Roman" charset="0"/>
                <a:ea typeface="Times New Roman" charset="0"/>
                <a:cs typeface="Times New Roman" charset="0"/>
              </a:rPr>
              <a:t>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a:t>
            </a:r>
            <a:r>
              <a:rPr lang="en-US" sz="2160" dirty="0" smtClean="0">
                <a:latin typeface="Times New Roman" charset="0"/>
                <a:ea typeface="Times New Roman" charset="0"/>
                <a:cs typeface="Times New Roman" charset="0"/>
              </a:rPr>
              <a:t>distribution.</a:t>
            </a:r>
          </a:p>
        </p:txBody>
      </p:sp>
      <p:sp>
        <p:nvSpPr>
          <p:cNvPr id="34" name="TextBox 33"/>
          <p:cNvSpPr txBox="1"/>
          <p:nvPr/>
        </p:nvSpPr>
        <p:spPr>
          <a:xfrm>
            <a:off x="881761" y="22630720"/>
            <a:ext cx="12300153" cy="1754326"/>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The sequential matching network is a new idea in turn-based dialog, whereby questions and answer options are matched in terms of how appropriate the response is to that particular question and image. The model first embeds and passes all three components through an </a:t>
            </a:r>
            <a:r>
              <a:rPr lang="en-US" sz="2160" dirty="0" smtClean="0">
                <a:latin typeface="Times New Roman" charset="0"/>
                <a:ea typeface="Times New Roman" charset="0"/>
                <a:cs typeface="Times New Roman" charset="0"/>
              </a:rPr>
              <a:t>GRU to </a:t>
            </a:r>
            <a:r>
              <a:rPr lang="en-US" sz="2160" dirty="0">
                <a:latin typeface="Times New Roman" charset="0"/>
                <a:ea typeface="Times New Roman" charset="0"/>
                <a:cs typeface="Times New Roman" charset="0"/>
              </a:rPr>
              <a:t>get a feature representation, then matches each answer to a question and image and scores how appropriate that answer is, after convolving, pooling, and concatenation</a:t>
            </a:r>
            <a:r>
              <a:rPr lang="en-US" sz="2160" dirty="0" smtClean="0">
                <a:latin typeface="Times New Roman" charset="0"/>
                <a:ea typeface="Times New Roman" charset="0"/>
                <a:cs typeface="Times New Roman" charset="0"/>
              </a:rPr>
              <a:t>.</a:t>
            </a:r>
            <a:endParaRPr lang="en-US" sz="2160" dirty="0">
              <a:latin typeface="Times New Roman" charset="0"/>
              <a:ea typeface="Times New Roman" charset="0"/>
              <a:cs typeface="Times New Roman" charset="0"/>
            </a:endParaRPr>
          </a:p>
        </p:txBody>
      </p:sp>
      <p:pic>
        <p:nvPicPr>
          <p:cNvPr id="11" name="Picture 10"/>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44657" y="8252586"/>
            <a:ext cx="12031101" cy="6271532"/>
          </a:xfrm>
          <a:prstGeom prst="rect">
            <a:avLst/>
          </a:prstGeom>
        </p:spPr>
      </p:pic>
      <p:sp>
        <p:nvSpPr>
          <p:cNvPr id="32" name="Text Placeholder 86"/>
          <p:cNvSpPr txBox="1">
            <a:spLocks/>
          </p:cNvSpPr>
          <p:nvPr/>
        </p:nvSpPr>
        <p:spPr>
          <a:xfrm>
            <a:off x="13856717" y="14044299"/>
            <a:ext cx="12955929" cy="139325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b="1" dirty="0" smtClean="0">
                <a:solidFill>
                  <a:schemeClr val="tx1"/>
                </a:solidFill>
              </a:rPr>
              <a:t>Evaluation</a:t>
            </a:r>
            <a:r>
              <a:rPr lang="en-US" dirty="0" smtClean="0">
                <a:solidFill>
                  <a:schemeClr val="tx1"/>
                </a:solidFill>
              </a:rPr>
              <a:t>: </a:t>
            </a:r>
            <a:r>
              <a:rPr lang="en-US" dirty="0">
                <a:solidFill>
                  <a:schemeClr val="tx1"/>
                </a:solidFill>
              </a:rPr>
              <a:t>Our baselines are based on Late Fusion, with the representation of questions and image. Compared to the </a:t>
            </a:r>
            <a:r>
              <a:rPr lang="en-US" dirty="0" smtClean="0">
                <a:solidFill>
                  <a:schemeClr val="tx1"/>
                </a:solidFill>
              </a:rPr>
              <a:t>discriminative baseline, our SMN method improves MRR by 0.18% and R@N by 0.31% on average. In the generative models, our best one improves MRR by 4.04% </a:t>
            </a:r>
            <a:r>
              <a:rPr lang="en-US" smtClean="0">
                <a:solidFill>
                  <a:schemeClr val="tx1"/>
                </a:solidFill>
              </a:rPr>
              <a:t>and R@N </a:t>
            </a:r>
            <a:r>
              <a:rPr lang="en-US" dirty="0" smtClean="0">
                <a:solidFill>
                  <a:schemeClr val="tx1"/>
                </a:solidFill>
              </a:rPr>
              <a:t>by 4.15%.</a:t>
            </a:r>
          </a:p>
        </p:txBody>
      </p:sp>
      <p:sp>
        <p:nvSpPr>
          <p:cNvPr id="7" name="TextBox 6"/>
          <p:cNvSpPr txBox="1"/>
          <p:nvPr/>
        </p:nvSpPr>
        <p:spPr>
          <a:xfrm>
            <a:off x="17664545" y="14713527"/>
            <a:ext cx="184731" cy="461665"/>
          </a:xfrm>
          <a:prstGeom prst="rect">
            <a:avLst/>
          </a:prstGeom>
          <a:noFill/>
        </p:spPr>
        <p:txBody>
          <a:bodyPr wrap="none" rtlCol="0">
            <a:spAutoFit/>
          </a:bodyPr>
          <a:lstStyle/>
          <a:p>
            <a:endParaRPr lang="en-US" sz="2400" dirty="0" smtClean="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1550</TotalTime>
  <Words>1232</Words>
  <Application>Microsoft Macintosh PowerPoint</Application>
  <PresentationFormat>Custom</PresentationFormat>
  <Paragraphs>40</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Calibri</vt:lpstr>
      <vt:lpstr>Times New Roman</vt:lpstr>
      <vt:lpstr>Trebuchet MS</vt:lpstr>
      <vt:lpstr>宋体</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Zhang Hanfu</cp:lastModifiedBy>
  <cp:revision>55</cp:revision>
  <dcterms:created xsi:type="dcterms:W3CDTF">2012-02-10T00:10:15Z</dcterms:created>
  <dcterms:modified xsi:type="dcterms:W3CDTF">2018-05-07T01:59:42Z</dcterms:modified>
</cp:coreProperties>
</file>