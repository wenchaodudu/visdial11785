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28" autoAdjust="0"/>
    <p:restoredTop sz="94830" autoAdjust="0"/>
  </p:normalViewPr>
  <p:slideViewPr>
    <p:cSldViewPr snapToGrid="0" snapToObjects="1" showGuides="1">
      <p:cViewPr>
        <p:scale>
          <a:sx n="62" d="100"/>
          <a:sy n="62" d="100"/>
        </p:scale>
        <p:origin x="-144" y="-1784"/>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5/6/18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5/6/18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12078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287"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288"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289"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290"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311"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312"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313"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314"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enchaod@andrew.cmu.edu" TargetMode="External"/><Relationship Id="rId4" Type="http://schemas.openxmlformats.org/officeDocument/2006/relationships/hyperlink" Target="mailto:hanfuz@andrew.cmu.edu" TargetMode="External"/><Relationship Id="rId5" Type="http://schemas.openxmlformats.org/officeDocument/2006/relationships/hyperlink" Target="mailto:parunapu@andrew.cmu.edu" TargetMode="External"/><Relationship Id="rId6" Type="http://schemas.openxmlformats.org/officeDocument/2006/relationships/hyperlink" Target="mailto:tianhaol@andrew.cmu.edu"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76461" y="5875821"/>
            <a:ext cx="12944945" cy="4118935"/>
          </a:xfrm>
        </p:spPr>
        <p:txBody>
          <a:bodyPr/>
          <a:lstStyle/>
          <a:p>
            <a:pPr algn="just"/>
            <a:r>
              <a:rPr lang="en-US" dirty="0">
                <a:solidFill>
                  <a:schemeClr val="tx1"/>
                </a:solidFill>
              </a:rPr>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t>
            </a:r>
            <a:r>
              <a:rPr lang="en-US" dirty="0" smtClean="0">
                <a:solidFill>
                  <a:schemeClr val="tx1"/>
                </a:solidFill>
              </a:rPr>
              <a:t>answer.</a:t>
            </a:r>
          </a:p>
          <a:p>
            <a:pPr algn="just"/>
            <a:r>
              <a:rPr lang="en-US" dirty="0" smtClean="0">
                <a:solidFill>
                  <a:schemeClr val="tx1"/>
                </a:solidFill>
              </a:rPr>
              <a:t>In </a:t>
            </a:r>
            <a:r>
              <a:rPr lang="en-US" dirty="0">
                <a:solidFill>
                  <a:schemeClr val="tx1"/>
                </a:solidFill>
              </a:rPr>
              <a:t>our project, we </a:t>
            </a:r>
            <a:r>
              <a:rPr lang="en-US" dirty="0" smtClean="0">
                <a:solidFill>
                  <a:schemeClr val="tx1"/>
                </a:solidFill>
              </a:rPr>
              <a:t>first attempt to </a:t>
            </a:r>
            <a:r>
              <a:rPr lang="en-US" dirty="0">
                <a:solidFill>
                  <a:schemeClr val="tx1"/>
                </a:solidFill>
              </a:rPr>
              <a:t>reproduce the state-of-the-art </a:t>
            </a:r>
            <a:r>
              <a:rPr lang="en-US" dirty="0" smtClean="0">
                <a:solidFill>
                  <a:schemeClr val="tx1"/>
                </a:solidFill>
              </a:rPr>
              <a:t>method in </a:t>
            </a:r>
            <a:r>
              <a:rPr lang="en-US" dirty="0">
                <a:solidFill>
                  <a:schemeClr val="tx1"/>
                </a:solidFill>
              </a:rPr>
              <a:t>the widely used Visual Dialog </a:t>
            </a:r>
            <a:r>
              <a:rPr lang="en-US" dirty="0" smtClean="0">
                <a:solidFill>
                  <a:schemeClr val="tx1"/>
                </a:solidFill>
              </a:rPr>
              <a:t>dataset. This </a:t>
            </a:r>
            <a:r>
              <a:rPr lang="en-US" dirty="0">
                <a:solidFill>
                  <a:schemeClr val="tx1"/>
                </a:solidFill>
              </a:rPr>
              <a:t>method uses a Late Fusion encoder with a discriminative decoder.  </a:t>
            </a:r>
            <a:r>
              <a:rPr lang="en-US" dirty="0" smtClean="0">
                <a:solidFill>
                  <a:schemeClr val="tx1"/>
                </a:solidFill>
              </a:rPr>
              <a:t>Because of the memory limitation, we decreased </a:t>
            </a:r>
            <a:r>
              <a:rPr lang="en-US" dirty="0">
                <a:solidFill>
                  <a:schemeClr val="tx1"/>
                </a:solidFill>
              </a:rPr>
              <a:t>the model size and still </a:t>
            </a:r>
            <a:r>
              <a:rPr lang="en-US" dirty="0" smtClean="0">
                <a:solidFill>
                  <a:schemeClr val="tx1"/>
                </a:solidFill>
              </a:rPr>
              <a:t>obtained </a:t>
            </a:r>
            <a:r>
              <a:rPr lang="en-US" dirty="0">
                <a:solidFill>
                  <a:schemeClr val="tx1"/>
                </a:solidFill>
              </a:rPr>
              <a:t>comparable </a:t>
            </a:r>
            <a:r>
              <a:rPr lang="en-US" dirty="0" smtClean="0">
                <a:solidFill>
                  <a:schemeClr val="tx1"/>
                </a:solidFill>
              </a:rPr>
              <a:t>results. We further introduce the sequential matching network </a:t>
            </a:r>
            <a:r>
              <a:rPr lang="mr-IN" dirty="0" smtClean="0">
                <a:solidFill>
                  <a:schemeClr val="tx1"/>
                </a:solidFill>
              </a:rPr>
              <a:t>–</a:t>
            </a:r>
            <a:r>
              <a:rPr lang="en-US" dirty="0" smtClean="0">
                <a:solidFill>
                  <a:schemeClr val="tx1"/>
                </a:solidFill>
              </a:rPr>
              <a:t> a new architecture for multi-turn response selection in retrieval-based visual dialog. </a:t>
            </a:r>
            <a:r>
              <a:rPr lang="en-US" dirty="0">
                <a:solidFill>
                  <a:schemeClr val="tx1"/>
                </a:solidFill>
              </a:rPr>
              <a:t>Finally, we </a:t>
            </a:r>
            <a:r>
              <a:rPr lang="en-US" dirty="0" smtClean="0">
                <a:solidFill>
                  <a:schemeClr val="tx1"/>
                </a:solidFill>
              </a:rPr>
              <a:t>explore a generative model with attention, which can achieve the conversation based on a given image </a:t>
            </a:r>
            <a:r>
              <a:rPr lang="en-US" dirty="0">
                <a:solidFill>
                  <a:schemeClr val="tx1"/>
                </a:solidFill>
              </a:rPr>
              <a:t>and outperform the existing methods.</a:t>
            </a:r>
          </a:p>
        </p:txBody>
      </p:sp>
      <p:sp>
        <p:nvSpPr>
          <p:cNvPr id="84" name="Text Placeholder 83"/>
          <p:cNvSpPr>
            <a:spLocks noGrp="1"/>
          </p:cNvSpPr>
          <p:nvPr>
            <p:ph type="body" sz="quarter" idx="11"/>
          </p:nvPr>
        </p:nvSpPr>
        <p:spPr/>
        <p:txBody>
          <a:bodyPr/>
          <a:lstStyle/>
          <a:p>
            <a:r>
              <a:rPr lang="en-US" dirty="0" smtClean="0"/>
              <a:t>Overview</a:t>
            </a:r>
            <a:endParaRPr lang="en-US" dirty="0"/>
          </a:p>
        </p:txBody>
      </p:sp>
      <p:sp>
        <p:nvSpPr>
          <p:cNvPr id="85" name="Text Placeholder 84"/>
          <p:cNvSpPr>
            <a:spLocks noGrp="1"/>
          </p:cNvSpPr>
          <p:nvPr>
            <p:ph type="body" sz="quarter" idx="20"/>
          </p:nvPr>
        </p:nvSpPr>
        <p:spPr>
          <a:xfrm>
            <a:off x="572182" y="9881976"/>
            <a:ext cx="12949224" cy="643172"/>
          </a:xfrm>
        </p:spPr>
        <p:txBody>
          <a:bodyPr/>
          <a:lstStyle/>
          <a:p>
            <a:r>
              <a:rPr lang="en-US" dirty="0" smtClean="0"/>
              <a:t>Models</a:t>
            </a:r>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a:xfrm>
            <a:off x="13846682" y="5896601"/>
            <a:ext cx="12955929" cy="2789340"/>
          </a:xfrm>
        </p:spPr>
        <p:txBody>
          <a:bodyPr/>
          <a:lstStyle/>
          <a:p>
            <a:pPr algn="just"/>
            <a:r>
              <a:rPr lang="en-US" b="1" dirty="0" smtClean="0">
                <a:solidFill>
                  <a:schemeClr val="tx1"/>
                </a:solidFill>
              </a:rPr>
              <a:t>Metrics</a:t>
            </a:r>
            <a:r>
              <a:rPr lang="en-US" dirty="0" smtClean="0">
                <a:solidFill>
                  <a:schemeClr val="tx1"/>
                </a:solidFill>
              </a:rPr>
              <a:t>: We conduct the experiments on the retrieval task, which is evaluated with Mean Reciprocal Rank (MRR) and Recall at N (R@N). Mean Reciprocal Rank will essentially look at what rank the model gave the correct response, and take the mean of all the reciprocals of the ranks given. The higher this value, the better the model performed. Recall at N, the other evaluation metric, looks at whether the correct response exists within the top N ranked responses given by the model. </a:t>
            </a:r>
          </a:p>
          <a:p>
            <a:pPr algn="just"/>
            <a:r>
              <a:rPr lang="en-US" b="1" dirty="0" smtClean="0">
                <a:solidFill>
                  <a:schemeClr val="tx1"/>
                </a:solidFill>
              </a:rPr>
              <a:t>Constraints</a:t>
            </a:r>
            <a:r>
              <a:rPr lang="en-US" dirty="0" smtClean="0">
                <a:solidFill>
                  <a:schemeClr val="tx1"/>
                </a:solidFill>
              </a:rPr>
              <a:t>: Due to hardware constraints, we use smaller hidden size (200) and word embedding size (200) as opposed to 512 and 300 in Das et al.. We are able to get results that are close to what were reported by the author.</a:t>
            </a:r>
          </a:p>
        </p:txBody>
      </p:sp>
      <p:sp>
        <p:nvSpPr>
          <p:cNvPr id="88" name="Text Placeholder 87"/>
          <p:cNvSpPr>
            <a:spLocks noGrp="1"/>
          </p:cNvSpPr>
          <p:nvPr>
            <p:ph type="body" sz="quarter" idx="27"/>
          </p:nvPr>
        </p:nvSpPr>
        <p:spPr>
          <a:xfrm>
            <a:off x="13846682" y="19225715"/>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012622"/>
            <a:ext cx="12947298" cy="4517826"/>
          </a:xfrm>
        </p:spPr>
        <p:txBody>
          <a:bodyPr/>
          <a:lstStyle/>
          <a:p>
            <a:pPr algn="just"/>
            <a:r>
              <a:rPr lang="en-US" dirty="0">
                <a:solidFill>
                  <a:schemeClr val="tx1"/>
                </a:solidFill>
              </a:rPr>
              <a:t>To summarize, we </a:t>
            </a:r>
            <a:r>
              <a:rPr lang="en-US" dirty="0" smtClean="0">
                <a:solidFill>
                  <a:schemeClr val="tx1"/>
                </a:solidFill>
              </a:rPr>
              <a:t>reproduced </a:t>
            </a:r>
            <a:r>
              <a:rPr lang="en-US" dirty="0">
                <a:solidFill>
                  <a:schemeClr val="tx1"/>
                </a:solidFill>
              </a:rPr>
              <a:t>an AI task – Visual Dialog, where an AI agent </a:t>
            </a:r>
            <a:r>
              <a:rPr lang="en-US" dirty="0" smtClean="0">
                <a:solidFill>
                  <a:schemeClr val="tx1"/>
                </a:solidFill>
              </a:rPr>
              <a:t>must </a:t>
            </a:r>
            <a:r>
              <a:rPr lang="en-US" dirty="0">
                <a:solidFill>
                  <a:schemeClr val="tx1"/>
                </a:solidFill>
              </a:rPr>
              <a:t>hold a dialog with a human about visual content. Based on </a:t>
            </a:r>
            <a:r>
              <a:rPr lang="en-US" dirty="0" smtClean="0">
                <a:solidFill>
                  <a:schemeClr val="tx1"/>
                </a:solidFill>
              </a:rPr>
              <a:t>the Late </a:t>
            </a:r>
            <a:r>
              <a:rPr lang="en-US" dirty="0">
                <a:solidFill>
                  <a:schemeClr val="tx1"/>
                </a:solidFill>
              </a:rPr>
              <a:t>Fusion encoder, we first </a:t>
            </a:r>
            <a:r>
              <a:rPr lang="en-US" dirty="0" smtClean="0">
                <a:solidFill>
                  <a:schemeClr val="tx1"/>
                </a:solidFill>
              </a:rPr>
              <a:t>implemented </a:t>
            </a:r>
            <a:r>
              <a:rPr lang="en-US" dirty="0">
                <a:solidFill>
                  <a:schemeClr val="tx1"/>
                </a:solidFill>
              </a:rPr>
              <a:t>the </a:t>
            </a:r>
            <a:r>
              <a:rPr lang="en-US" dirty="0" smtClean="0">
                <a:solidFill>
                  <a:schemeClr val="tx1"/>
                </a:solidFill>
              </a:rPr>
              <a:t>discriminative and generative models </a:t>
            </a:r>
            <a:r>
              <a:rPr lang="en-US" dirty="0">
                <a:solidFill>
                  <a:schemeClr val="tx1"/>
                </a:solidFill>
              </a:rPr>
              <a:t>as our baselines. Then we </a:t>
            </a:r>
            <a:r>
              <a:rPr lang="en-US" dirty="0" smtClean="0">
                <a:solidFill>
                  <a:schemeClr val="tx1"/>
                </a:solidFill>
              </a:rPr>
              <a:t>came </a:t>
            </a:r>
            <a:r>
              <a:rPr lang="en-US" dirty="0">
                <a:solidFill>
                  <a:schemeClr val="tx1"/>
                </a:solidFill>
              </a:rPr>
              <a:t>up with methods focusing on improving the performance. For example, we </a:t>
            </a:r>
            <a:r>
              <a:rPr lang="en-US" dirty="0" smtClean="0">
                <a:solidFill>
                  <a:schemeClr val="tx1"/>
                </a:solidFill>
              </a:rPr>
              <a:t>applied a </a:t>
            </a:r>
            <a:r>
              <a:rPr lang="en-US" dirty="0">
                <a:solidFill>
                  <a:schemeClr val="tx1"/>
                </a:solidFill>
              </a:rPr>
              <a:t>sequential matching network into the discriminative model and </a:t>
            </a:r>
            <a:r>
              <a:rPr lang="en-US" dirty="0" smtClean="0">
                <a:solidFill>
                  <a:schemeClr val="tx1"/>
                </a:solidFill>
              </a:rPr>
              <a:t>implemented </a:t>
            </a:r>
            <a:r>
              <a:rPr lang="en-US" dirty="0">
                <a:solidFill>
                  <a:schemeClr val="tx1"/>
                </a:solidFill>
              </a:rPr>
              <a:t>question &amp; image attention in the generative model. </a:t>
            </a:r>
            <a:endParaRPr lang="en-US" dirty="0" smtClean="0">
              <a:solidFill>
                <a:schemeClr val="tx1"/>
              </a:solidFill>
            </a:endParaRPr>
          </a:p>
          <a:p>
            <a:pPr algn="just"/>
            <a:r>
              <a:rPr lang="en-US" dirty="0" smtClean="0">
                <a:solidFill>
                  <a:schemeClr val="tx1"/>
                </a:solidFill>
              </a:rPr>
              <a:t>Our </a:t>
            </a:r>
            <a:r>
              <a:rPr lang="en-US" dirty="0">
                <a:solidFill>
                  <a:schemeClr val="tx1"/>
                </a:solidFill>
              </a:rPr>
              <a:t>baseline models are comparable to the results in the paper, since we </a:t>
            </a:r>
            <a:r>
              <a:rPr lang="en-US" dirty="0" smtClean="0">
                <a:solidFill>
                  <a:schemeClr val="tx1"/>
                </a:solidFill>
              </a:rPr>
              <a:t>used </a:t>
            </a:r>
            <a:r>
              <a:rPr lang="en-US" dirty="0">
                <a:solidFill>
                  <a:schemeClr val="tx1"/>
                </a:solidFill>
              </a:rPr>
              <a:t>smaller hidden size and word embedding size. The sequential matching network in the discriminative model can slightly improve the performance, both on MRR </a:t>
            </a:r>
            <a:r>
              <a:rPr lang="en-US">
                <a:solidFill>
                  <a:schemeClr val="tx1"/>
                </a:solidFill>
              </a:rPr>
              <a:t>and </a:t>
            </a:r>
            <a:r>
              <a:rPr lang="en-US" smtClean="0">
                <a:solidFill>
                  <a:schemeClr val="tx1"/>
                </a:solidFill>
              </a:rPr>
              <a:t>R@N</a:t>
            </a:r>
            <a:r>
              <a:rPr lang="en-US" dirty="0" smtClean="0">
                <a:solidFill>
                  <a:schemeClr val="tx1"/>
                </a:solidFill>
              </a:rPr>
              <a:t>. The </a:t>
            </a:r>
            <a:r>
              <a:rPr lang="en-US" dirty="0">
                <a:solidFill>
                  <a:schemeClr val="tx1"/>
                </a:solidFill>
              </a:rPr>
              <a:t>attention model takes in the concatenation context of the question and image, which greatly </a:t>
            </a:r>
            <a:r>
              <a:rPr lang="en-US" dirty="0" smtClean="0">
                <a:solidFill>
                  <a:schemeClr val="tx1"/>
                </a:solidFill>
              </a:rPr>
              <a:t>improves </a:t>
            </a:r>
            <a:r>
              <a:rPr lang="en-US" dirty="0">
                <a:solidFill>
                  <a:schemeClr val="tx1"/>
                </a:solidFill>
              </a:rPr>
              <a:t>the performance. Furthermore, we </a:t>
            </a:r>
            <a:r>
              <a:rPr lang="en-US" dirty="0" smtClean="0">
                <a:solidFill>
                  <a:schemeClr val="tx1"/>
                </a:solidFill>
              </a:rPr>
              <a:t>attempted to add </a:t>
            </a:r>
            <a:r>
              <a:rPr lang="en-US" dirty="0">
                <a:solidFill>
                  <a:schemeClr val="tx1"/>
                </a:solidFill>
              </a:rPr>
              <a:t>non-linear functions for the context, but the </a:t>
            </a:r>
            <a:r>
              <a:rPr lang="en-US" dirty="0" smtClean="0">
                <a:solidFill>
                  <a:schemeClr val="tx1"/>
                </a:solidFill>
              </a:rPr>
              <a:t>improvement was not significant.</a:t>
            </a:r>
          </a:p>
          <a:p>
            <a:pPr algn="just"/>
            <a:r>
              <a:rPr lang="en-US" dirty="0" smtClean="0">
                <a:solidFill>
                  <a:schemeClr val="tx1"/>
                </a:solidFill>
              </a:rPr>
              <a:t>In </a:t>
            </a:r>
            <a:r>
              <a:rPr lang="en-US" dirty="0">
                <a:solidFill>
                  <a:schemeClr val="tx1"/>
                </a:solidFill>
              </a:rPr>
              <a:t>conclusion, our project demonstrates that sequential matching and attention </a:t>
            </a:r>
            <a:r>
              <a:rPr lang="en-US" dirty="0" smtClean="0">
                <a:solidFill>
                  <a:schemeClr val="tx1"/>
                </a:solidFill>
              </a:rPr>
              <a:t>mechanisms can improve performance on the Visual Dialog dataset according to the MRR and R@N metrics. </a:t>
            </a:r>
            <a:endParaRPr lang="en-US" dirty="0">
              <a:solidFill>
                <a:schemeClr val="tx1"/>
              </a:solidFill>
            </a:endParaRPr>
          </a:p>
        </p:txBody>
      </p:sp>
      <p:sp>
        <p:nvSpPr>
          <p:cNvPr id="90" name="Text Placeholder 89"/>
          <p:cNvSpPr>
            <a:spLocks noGrp="1"/>
          </p:cNvSpPr>
          <p:nvPr>
            <p:ph type="body" sz="quarter" idx="29"/>
          </p:nvPr>
        </p:nvSpPr>
        <p:spPr>
          <a:xfrm>
            <a:off x="13856718" y="27207296"/>
            <a:ext cx="12935857" cy="643172"/>
          </a:xfrm>
        </p:spPr>
        <p:txBody>
          <a:bodyPr/>
          <a:lstStyle/>
          <a:p>
            <a:r>
              <a:rPr lang="en-US" dirty="0" smtClean="0"/>
              <a:t>Acknowledgement</a:t>
            </a:r>
            <a:endParaRPr lang="en-US" dirty="0"/>
          </a:p>
        </p:txBody>
      </p:sp>
      <p:sp>
        <p:nvSpPr>
          <p:cNvPr id="91" name="Text Placeholder 90"/>
          <p:cNvSpPr>
            <a:spLocks noGrp="1"/>
          </p:cNvSpPr>
          <p:nvPr>
            <p:ph type="body" sz="quarter" idx="30"/>
          </p:nvPr>
        </p:nvSpPr>
        <p:spPr>
          <a:xfrm>
            <a:off x="13856717" y="27854261"/>
            <a:ext cx="12935858" cy="1060854"/>
          </a:xfrm>
        </p:spPr>
        <p:txBody>
          <a:bodyPr/>
          <a:lstStyle/>
          <a:p>
            <a:r>
              <a:rPr lang="en-US" dirty="0" smtClean="0"/>
              <a:t>We would like to thank Professor </a:t>
            </a:r>
            <a:r>
              <a:rPr lang="en-US" dirty="0" err="1"/>
              <a:t>Bhiksha</a:t>
            </a:r>
            <a:r>
              <a:rPr lang="en-US" dirty="0"/>
              <a:t> </a:t>
            </a:r>
            <a:r>
              <a:rPr lang="en-US" dirty="0" smtClean="0"/>
              <a:t>Raj</a:t>
            </a:r>
            <a:r>
              <a:rPr lang="en-US" dirty="0"/>
              <a:t> </a:t>
            </a:r>
            <a:r>
              <a:rPr lang="en-US" dirty="0" smtClean="0"/>
              <a:t>and all teaching assistants, for all the supports and suggestions during this semester.</a:t>
            </a:r>
          </a:p>
        </p:txBody>
      </p:sp>
      <p:sp>
        <p:nvSpPr>
          <p:cNvPr id="92" name="Text Placeholder 91"/>
          <p:cNvSpPr>
            <a:spLocks noGrp="1"/>
          </p:cNvSpPr>
          <p:nvPr>
            <p:ph type="body" sz="quarter" idx="96"/>
          </p:nvPr>
        </p:nvSpPr>
        <p:spPr>
          <a:xfrm>
            <a:off x="614328" y="10457839"/>
            <a:ext cx="12957406" cy="1393252"/>
          </a:xfrm>
        </p:spPr>
        <p:txBody>
          <a:bodyPr/>
          <a:lstStyle/>
          <a:p>
            <a:r>
              <a:rPr lang="en-US" dirty="0" smtClean="0">
                <a:solidFill>
                  <a:schemeClr val="tx1"/>
                </a:solidFill>
              </a:rPr>
              <a:t>In this project, we introduce a family of neural encoder-decoder models for Visual Dialog with 2 encoders </a:t>
            </a:r>
            <a:r>
              <a:rPr lang="mr-IN" dirty="0" smtClean="0">
                <a:solidFill>
                  <a:schemeClr val="tx1"/>
                </a:solidFill>
              </a:rPr>
              <a:t>–</a:t>
            </a:r>
            <a:r>
              <a:rPr lang="en-US" dirty="0" smtClean="0">
                <a:solidFill>
                  <a:schemeClr val="tx1"/>
                </a:solidFill>
              </a:rPr>
              <a:t> Late Fusion, Sequential Matching </a:t>
            </a:r>
            <a:r>
              <a:rPr lang="mr-IN" dirty="0" smtClean="0">
                <a:solidFill>
                  <a:schemeClr val="tx1"/>
                </a:solidFill>
              </a:rPr>
              <a:t>–</a:t>
            </a:r>
            <a:r>
              <a:rPr lang="en-US" dirty="0" smtClean="0">
                <a:solidFill>
                  <a:schemeClr val="tx1"/>
                </a:solidFill>
              </a:rPr>
              <a:t> and 2 decoders (generative and discriminative), which are comparable to a number of sophisticated baselines.</a:t>
            </a:r>
            <a:endParaRPr lang="en-US" dirty="0">
              <a:solidFill>
                <a:schemeClr val="tx1"/>
              </a:solidFill>
            </a:endParaRPr>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Du, </a:t>
            </a:r>
            <a:r>
              <a:rPr lang="en-US" dirty="0" err="1" smtClean="0"/>
              <a:t>Hanfu</a:t>
            </a:r>
            <a:r>
              <a:rPr lang="en-US" dirty="0" smtClean="0"/>
              <a:t> Zhang, Prashant </a:t>
            </a:r>
            <a:r>
              <a:rPr lang="en-US" dirty="0" err="1" smtClean="0"/>
              <a:t>Arunapuram</a:t>
            </a:r>
            <a:r>
              <a:rPr lang="en-US" dirty="0"/>
              <a:t>, </a:t>
            </a:r>
            <a:r>
              <a:rPr lang="en-US" dirty="0" err="1" smtClean="0"/>
              <a:t>Tianhao</a:t>
            </a:r>
            <a:r>
              <a:rPr lang="en-US" dirty="0" smtClean="0"/>
              <a:t>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516275"/>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306048"/>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dirty="0">
                <a:solidFill>
                  <a:schemeClr val="tx1"/>
                </a:solidFill>
              </a:rPr>
              <a:t>Our Visual Dialog system </a:t>
            </a:r>
            <a:r>
              <a:rPr lang="en-US" dirty="0" smtClean="0">
                <a:solidFill>
                  <a:schemeClr val="tx1"/>
                </a:solidFill>
              </a:rPr>
              <a:t>involves </a:t>
            </a:r>
            <a:r>
              <a:rPr lang="en-US" dirty="0">
                <a:solidFill>
                  <a:schemeClr val="tx1"/>
                </a:solidFill>
              </a:rPr>
              <a:t>deep learning approaches such as CNNs and RNNs with </a:t>
            </a:r>
            <a:r>
              <a:rPr lang="en-US" dirty="0" smtClean="0">
                <a:solidFill>
                  <a:schemeClr val="tx1"/>
                </a:solidFill>
              </a:rPr>
              <a:t>attention </a:t>
            </a:r>
            <a:r>
              <a:rPr lang="en-US" dirty="0">
                <a:solidFill>
                  <a:schemeClr val="tx1"/>
                </a:solidFill>
              </a:rPr>
              <a:t>to better </a:t>
            </a:r>
            <a:r>
              <a:rPr lang="en-US" dirty="0" smtClean="0">
                <a:solidFill>
                  <a:schemeClr val="tx1"/>
                </a:solidFill>
              </a:rPr>
              <a:t>understand </a:t>
            </a:r>
            <a:r>
              <a:rPr lang="en-US" dirty="0">
                <a:solidFill>
                  <a:schemeClr val="tx1"/>
                </a:solidFill>
              </a:rPr>
              <a:t>the images and questions. Therefore, also based on literature research, we decide to deploy the network based on </a:t>
            </a:r>
            <a:r>
              <a:rPr lang="en-US" dirty="0" err="1">
                <a:solidFill>
                  <a:schemeClr val="tx1"/>
                </a:solidFill>
              </a:rPr>
              <a:t>Pytorch</a:t>
            </a:r>
            <a:r>
              <a:rPr lang="en-US" dirty="0">
                <a:solidFill>
                  <a:schemeClr val="tx1"/>
                </a:solidFill>
              </a:rPr>
              <a:t> with GPUs on Amazon Web Service. </a:t>
            </a:r>
          </a:p>
          <a:p>
            <a:pPr algn="just"/>
            <a:r>
              <a:rPr lang="en-US" dirty="0">
                <a:solidFill>
                  <a:schemeClr val="tx1"/>
                </a:solidFill>
              </a:rPr>
              <a:t>In this project, we use </a:t>
            </a:r>
            <a:r>
              <a:rPr lang="en-US" dirty="0" err="1">
                <a:solidFill>
                  <a:schemeClr val="tx1"/>
                </a:solidFill>
              </a:rPr>
              <a:t>VisDial</a:t>
            </a:r>
            <a:r>
              <a:rPr lang="en-US" dirty="0">
                <a:solidFill>
                  <a:schemeClr val="tx1"/>
                </a:solidFill>
              </a:rPr>
              <a:t> v0.9 dataset, which contains 83k dialogs on COCO-train and 40K on COCO-</a:t>
            </a:r>
            <a:r>
              <a:rPr lang="en-US" dirty="0" err="1">
                <a:solidFill>
                  <a:schemeClr val="tx1"/>
                </a:solidFill>
              </a:rPr>
              <a:t>val</a:t>
            </a:r>
            <a:r>
              <a:rPr lang="en-US" dirty="0">
                <a:solidFill>
                  <a:schemeClr val="tx1"/>
                </a:solidFill>
              </a:rPr>
              <a:t> images. We use the 83k as training and split the 40K into 5k for validation and 35k for test. </a:t>
            </a:r>
          </a:p>
          <a:p>
            <a:pPr algn="just"/>
            <a:r>
              <a:rPr lang="en-US" dirty="0">
                <a:solidFill>
                  <a:schemeClr val="tx1"/>
                </a:solidFill>
              </a:rPr>
              <a:t>Our work is based on </a:t>
            </a:r>
            <a:r>
              <a:rPr lang="en-US" dirty="0" err="1">
                <a:solidFill>
                  <a:schemeClr val="tx1"/>
                </a:solidFill>
              </a:rPr>
              <a:t>Pytorch</a:t>
            </a:r>
            <a:r>
              <a:rPr lang="en-US" dirty="0">
                <a:solidFill>
                  <a:schemeClr val="tx1"/>
                </a:solidFill>
              </a:rPr>
              <a:t>, due to GPU memory limitation, we reduce the size </a:t>
            </a:r>
            <a:r>
              <a:rPr lang="en-US">
                <a:solidFill>
                  <a:schemeClr val="tx1"/>
                </a:solidFill>
              </a:rPr>
              <a:t>of </a:t>
            </a:r>
            <a:r>
              <a:rPr lang="en-US" smtClean="0">
                <a:solidFill>
                  <a:schemeClr val="tx1"/>
                </a:solidFill>
              </a:rPr>
              <a:t>the hidden </a:t>
            </a:r>
            <a:r>
              <a:rPr lang="en-US" dirty="0">
                <a:solidFill>
                  <a:schemeClr val="tx1"/>
                </a:solidFill>
              </a:rPr>
              <a:t>layer in </a:t>
            </a:r>
            <a:r>
              <a:rPr lang="en-US" dirty="0" err="1">
                <a:solidFill>
                  <a:schemeClr val="tx1"/>
                </a:solidFill>
              </a:rPr>
              <a:t>GRUCell</a:t>
            </a:r>
            <a:r>
              <a:rPr lang="en-US" dirty="0">
                <a:solidFill>
                  <a:schemeClr val="tx1"/>
                </a:solidFill>
              </a:rPr>
              <a:t>, aiming to produce the same comparable results with less parameters and further </a:t>
            </a:r>
            <a:r>
              <a:rPr lang="en-US" dirty="0" smtClean="0">
                <a:solidFill>
                  <a:schemeClr val="tx1"/>
                </a:solidFill>
              </a:rPr>
              <a:t>improvements</a:t>
            </a:r>
            <a:r>
              <a:rPr lang="en-US" dirty="0">
                <a:solidFill>
                  <a:schemeClr val="tx1"/>
                </a:solidFill>
              </a:rPr>
              <a:t>. </a:t>
            </a:r>
          </a:p>
        </p:txBody>
      </p:sp>
      <p:sp>
        <p:nvSpPr>
          <p:cNvPr id="17" name="Text Placeholder 89"/>
          <p:cNvSpPr txBox="1">
            <a:spLocks/>
          </p:cNvSpPr>
          <p:nvPr/>
        </p:nvSpPr>
        <p:spPr>
          <a:xfrm>
            <a:off x="13856718" y="28663290"/>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Author</a:t>
            </a:r>
            <a:endParaRPr lang="en-US" dirty="0"/>
          </a:p>
        </p:txBody>
      </p:sp>
      <p:sp>
        <p:nvSpPr>
          <p:cNvPr id="18" name="Text Placeholder 90"/>
          <p:cNvSpPr txBox="1">
            <a:spLocks/>
          </p:cNvSpPr>
          <p:nvPr/>
        </p:nvSpPr>
        <p:spPr>
          <a:xfrm>
            <a:off x="16651743" y="29247468"/>
            <a:ext cx="7352283" cy="1925129"/>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err="1" smtClean="0"/>
              <a:t>Wenchao</a:t>
            </a:r>
            <a:r>
              <a:rPr lang="en-US" dirty="0" smtClean="0"/>
              <a:t> Du, LTI, SCS, </a:t>
            </a:r>
            <a:r>
              <a:rPr lang="en-US" dirty="0" smtClean="0">
                <a:hlinkClick r:id="rId3"/>
              </a:rPr>
              <a:t>wenchaod@andrew.cmu.edu</a:t>
            </a:r>
            <a:endParaRPr lang="en-US" dirty="0" smtClean="0"/>
          </a:p>
          <a:p>
            <a:r>
              <a:rPr lang="en-US" dirty="0" err="1" smtClean="0"/>
              <a:t>Hanfu</a:t>
            </a:r>
            <a:r>
              <a:rPr lang="en-US" dirty="0" smtClean="0"/>
              <a:t> Zhang, ISR, SCS, </a:t>
            </a:r>
            <a:r>
              <a:rPr lang="en-US" dirty="0" smtClean="0">
                <a:hlinkClick r:id="rId4"/>
              </a:rPr>
              <a:t>hanfuz@andrew.cmu.edu</a:t>
            </a:r>
            <a:endParaRPr lang="en-US" dirty="0" smtClean="0"/>
          </a:p>
          <a:p>
            <a:r>
              <a:rPr lang="en-US" dirty="0"/>
              <a:t>Prashant </a:t>
            </a:r>
            <a:r>
              <a:rPr lang="en-US" dirty="0" err="1" smtClean="0"/>
              <a:t>Arunapuram</a:t>
            </a:r>
            <a:r>
              <a:rPr lang="en-US" dirty="0" smtClean="0"/>
              <a:t>, ECE, </a:t>
            </a:r>
            <a:r>
              <a:rPr lang="en-US" dirty="0"/>
              <a:t>CIT, </a:t>
            </a:r>
            <a:r>
              <a:rPr lang="en-US" dirty="0" smtClean="0">
                <a:hlinkClick r:id="rId5"/>
              </a:rPr>
              <a:t>parunapu@andrew.cmu.edu</a:t>
            </a:r>
            <a:endParaRPr lang="en-US" dirty="0"/>
          </a:p>
          <a:p>
            <a:r>
              <a:rPr lang="en-US" dirty="0" err="1" smtClean="0"/>
              <a:t>Tianhao</a:t>
            </a:r>
            <a:r>
              <a:rPr lang="en-US" dirty="0" smtClean="0"/>
              <a:t> Li, ISR, SCS, </a:t>
            </a:r>
            <a:r>
              <a:rPr lang="en-US" dirty="0" smtClean="0">
                <a:hlinkClick r:id="rId6"/>
              </a:rPr>
              <a:t>tianhaol@andrew.cmu.edu</a:t>
            </a:r>
            <a:endParaRPr lang="en-US" dirty="0" smtClean="0"/>
          </a:p>
        </p:txBody>
      </p:sp>
      <p:sp>
        <p:nvSpPr>
          <p:cNvPr id="19" name="Text Placeholder 89"/>
          <p:cNvSpPr txBox="1">
            <a:spLocks/>
          </p:cNvSpPr>
          <p:nvPr/>
        </p:nvSpPr>
        <p:spPr>
          <a:xfrm>
            <a:off x="13856718" y="245148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Related Work</a:t>
            </a:r>
            <a:endParaRPr lang="en-US" dirty="0"/>
          </a:p>
        </p:txBody>
      </p:sp>
      <p:sp>
        <p:nvSpPr>
          <p:cNvPr id="20" name="Text Placeholder 90"/>
          <p:cNvSpPr txBox="1">
            <a:spLocks/>
          </p:cNvSpPr>
          <p:nvPr/>
        </p:nvSpPr>
        <p:spPr>
          <a:xfrm>
            <a:off x="13856717" y="25161861"/>
            <a:ext cx="12935858" cy="2796714"/>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zh-CN" altLang="en-US" sz="2000" dirty="0" smtClean="0"/>
              <a:t>  </a:t>
            </a:r>
            <a:r>
              <a:rPr lang="en-US" sz="2000" dirty="0" err="1" smtClean="0"/>
              <a:t>Akshay</a:t>
            </a:r>
            <a:r>
              <a:rPr lang="en-US" sz="2000" dirty="0" smtClean="0"/>
              <a:t> </a:t>
            </a:r>
            <a:r>
              <a:rPr lang="en-US" sz="2000" dirty="0"/>
              <a:t>Kumar Gupta. </a:t>
            </a:r>
            <a:r>
              <a:rPr lang="en-US" sz="2000" b="1" i="1" dirty="0"/>
              <a:t>Survey of visual question answering: Datasets and techniques.</a:t>
            </a:r>
            <a:r>
              <a:rPr lang="en-US" sz="2000" b="1" dirty="0"/>
              <a:t> </a:t>
            </a:r>
            <a:r>
              <a:rPr lang="en-US" sz="2000" i="1" dirty="0" err="1" smtClean="0"/>
              <a:t>CoRR</a:t>
            </a:r>
            <a:r>
              <a:rPr lang="en-US" sz="2000" dirty="0" smtClean="0"/>
              <a:t>,</a:t>
            </a:r>
            <a:r>
              <a:rPr lang="zh-CN" altLang="en-US" sz="2000" dirty="0" smtClean="0"/>
              <a:t> </a:t>
            </a:r>
            <a:r>
              <a:rPr lang="en-US" sz="2000" dirty="0" smtClean="0"/>
              <a:t>abs/1705.03865</a:t>
            </a:r>
            <a:r>
              <a:rPr lang="en-US" sz="2000" dirty="0"/>
              <a:t>, 2017</a:t>
            </a:r>
            <a:r>
              <a:rPr lang="en-US" sz="2000" dirty="0" smtClean="0"/>
              <a:t>.</a:t>
            </a:r>
            <a:endParaRPr lang="zh-CN" altLang="en-US" sz="2000" dirty="0" smtClean="0"/>
          </a:p>
          <a:p>
            <a:pPr algn="just"/>
            <a:r>
              <a:rPr lang="zh-CN" altLang="en-US" sz="2000" dirty="0" smtClean="0"/>
              <a:t>  </a:t>
            </a:r>
            <a:r>
              <a:rPr lang="en-US" sz="2000" dirty="0" smtClean="0"/>
              <a:t>Abhishek </a:t>
            </a:r>
            <a:r>
              <a:rPr lang="en-US" sz="2000" dirty="0"/>
              <a:t>Das, </a:t>
            </a:r>
            <a:r>
              <a:rPr lang="en-US" sz="2000" dirty="0" err="1"/>
              <a:t>Satwik</a:t>
            </a:r>
            <a:r>
              <a:rPr lang="en-US" sz="2000" dirty="0"/>
              <a:t> </a:t>
            </a:r>
            <a:r>
              <a:rPr lang="en-US" sz="2000" dirty="0" err="1"/>
              <a:t>Kottur</a:t>
            </a:r>
            <a:r>
              <a:rPr lang="en-US" sz="2000" dirty="0"/>
              <a:t>, </a:t>
            </a:r>
            <a:r>
              <a:rPr lang="en-US" sz="2000" dirty="0" err="1"/>
              <a:t>Khushi</a:t>
            </a:r>
            <a:r>
              <a:rPr lang="en-US" sz="2000" dirty="0"/>
              <a:t> Gupta, </a:t>
            </a:r>
            <a:r>
              <a:rPr lang="en-US" sz="2000" dirty="0" err="1"/>
              <a:t>Avi</a:t>
            </a:r>
            <a:r>
              <a:rPr lang="en-US" sz="2000" dirty="0"/>
              <a:t> Singh, </a:t>
            </a:r>
            <a:r>
              <a:rPr lang="en-US" sz="2000" dirty="0" err="1"/>
              <a:t>Deshraj</a:t>
            </a:r>
            <a:r>
              <a:rPr lang="en-US" sz="2000" dirty="0"/>
              <a:t> Yadav, Jose ́ M. F. </a:t>
            </a:r>
            <a:r>
              <a:rPr lang="en-US" sz="2000" dirty="0" err="1"/>
              <a:t>Moura</a:t>
            </a:r>
            <a:r>
              <a:rPr lang="en-US" sz="2000" dirty="0"/>
              <a:t>, Devi Parikh, and </a:t>
            </a:r>
            <a:r>
              <a:rPr lang="en-US" sz="2000" dirty="0" err="1"/>
              <a:t>Dhruv</a:t>
            </a:r>
            <a:r>
              <a:rPr lang="en-US" sz="2000" dirty="0"/>
              <a:t> </a:t>
            </a:r>
            <a:r>
              <a:rPr lang="en-US" sz="2000" dirty="0" err="1" smtClean="0"/>
              <a:t>Batra</a:t>
            </a:r>
            <a:r>
              <a:rPr lang="en-US" sz="2000" dirty="0" smtClean="0"/>
              <a:t>. </a:t>
            </a:r>
            <a:r>
              <a:rPr lang="en-US" sz="2000" b="1" i="1" dirty="0" smtClean="0"/>
              <a:t>Visual </a:t>
            </a:r>
            <a:r>
              <a:rPr lang="en-US" sz="2000" b="1" i="1" dirty="0"/>
              <a:t>dialog.</a:t>
            </a:r>
            <a:r>
              <a:rPr lang="en-US" sz="2000" dirty="0"/>
              <a:t> </a:t>
            </a:r>
            <a:r>
              <a:rPr lang="en-US" sz="2000" i="1" dirty="0" smtClean="0"/>
              <a:t>IEEE </a:t>
            </a:r>
            <a:r>
              <a:rPr lang="en-US" sz="2000" i="1" dirty="0"/>
              <a:t>Conference on Computer Vision and Pattern Recognition, CVPR 2017</a:t>
            </a:r>
            <a:r>
              <a:rPr lang="en-US" sz="2000" dirty="0" smtClean="0"/>
              <a:t>.</a:t>
            </a:r>
          </a:p>
          <a:p>
            <a:r>
              <a:rPr lang="en-US" sz="2000" dirty="0" smtClean="0"/>
              <a:t>  Yu </a:t>
            </a:r>
            <a:r>
              <a:rPr lang="en-US" sz="2000" dirty="0"/>
              <a:t>Wu, Wei Wu, Ming Zhou, and </a:t>
            </a:r>
            <a:r>
              <a:rPr lang="en-US" sz="2000" dirty="0" err="1"/>
              <a:t>Zhoujun</a:t>
            </a:r>
            <a:r>
              <a:rPr lang="en-US" sz="2000" dirty="0"/>
              <a:t> Li. </a:t>
            </a:r>
            <a:r>
              <a:rPr lang="en-US" sz="2000" b="1" i="1" dirty="0"/>
              <a:t>Sequential match network: A new architecture for </a:t>
            </a:r>
            <a:r>
              <a:rPr lang="en-US" sz="2000" b="1" i="1" dirty="0" smtClean="0"/>
              <a:t>multi-turn </a:t>
            </a:r>
            <a:r>
              <a:rPr lang="en-US" sz="2000" b="1" i="1" dirty="0"/>
              <a:t>response selection in retrieval-based </a:t>
            </a:r>
            <a:r>
              <a:rPr lang="en-US" sz="2000" b="1" i="1" dirty="0" err="1"/>
              <a:t>chatbots</a:t>
            </a:r>
            <a:r>
              <a:rPr lang="en-US" sz="2000" b="1" i="1" dirty="0"/>
              <a:t>. </a:t>
            </a:r>
            <a:r>
              <a:rPr lang="en-US" sz="2000" i="1" dirty="0" err="1"/>
              <a:t>CoRR</a:t>
            </a:r>
            <a:r>
              <a:rPr lang="en-US" sz="2000" dirty="0"/>
              <a:t>, abs/1612.01627, 2016. </a:t>
            </a:r>
          </a:p>
          <a:p>
            <a:pPr algn="just"/>
            <a:r>
              <a:rPr lang="en-US" sz="2000" dirty="0" smtClean="0"/>
              <a:t> </a:t>
            </a:r>
            <a:endParaRPr lang="en-US" sz="2000" dirty="0"/>
          </a:p>
          <a:p>
            <a:pPr algn="just"/>
            <a:r>
              <a:rPr lang="en-US" sz="2000" dirty="0" smtClean="0"/>
              <a:t> </a:t>
            </a:r>
            <a:endParaRPr lang="en-US" sz="2000" dirty="0"/>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785310" y="12333007"/>
            <a:ext cx="10393182" cy="3472633"/>
          </a:xfrm>
          <a:prstGeom prst="rect">
            <a:avLst/>
          </a:prstGeom>
        </p:spPr>
      </p:pic>
      <p:sp>
        <p:nvSpPr>
          <p:cNvPr id="23" name="Text Placeholder 84"/>
          <p:cNvSpPr txBox="1">
            <a:spLocks/>
          </p:cNvSpPr>
          <p:nvPr/>
        </p:nvSpPr>
        <p:spPr>
          <a:xfrm>
            <a:off x="535618" y="11652455"/>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 Discriminative</a:t>
            </a:r>
          </a:p>
        </p:txBody>
      </p:sp>
      <p:sp>
        <p:nvSpPr>
          <p:cNvPr id="25" name="Text Placeholder 84"/>
          <p:cNvSpPr txBox="1">
            <a:spLocks/>
          </p:cNvSpPr>
          <p:nvPr/>
        </p:nvSpPr>
        <p:spPr>
          <a:xfrm>
            <a:off x="535618" y="17663471"/>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Sequential Matching - Discriminative</a:t>
            </a:r>
          </a:p>
        </p:txBody>
      </p:sp>
      <p:sp>
        <p:nvSpPr>
          <p:cNvPr id="26" name="Text Placeholder 84"/>
          <p:cNvSpPr txBox="1">
            <a:spLocks/>
          </p:cNvSpPr>
          <p:nvPr/>
        </p:nvSpPr>
        <p:spPr>
          <a:xfrm>
            <a:off x="607807" y="24324574"/>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with Attention - Generative</a:t>
            </a:r>
          </a:p>
        </p:txBody>
      </p:sp>
      <p:pic>
        <p:nvPicPr>
          <p:cNvPr id="4" name="Picture 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81761" y="18369634"/>
            <a:ext cx="12422541" cy="4273800"/>
          </a:xfrm>
          <a:prstGeom prst="rect">
            <a:avLst/>
          </a:prstGeom>
        </p:spPr>
      </p:pic>
      <p:sp>
        <p:nvSpPr>
          <p:cNvPr id="2" name="TextBox 1"/>
          <p:cNvSpPr txBox="1"/>
          <p:nvPr/>
        </p:nvSpPr>
        <p:spPr>
          <a:xfrm>
            <a:off x="896717" y="15905148"/>
            <a:ext cx="12300153" cy="1754326"/>
          </a:xfrm>
          <a:prstGeom prst="rect">
            <a:avLst/>
          </a:prstGeom>
          <a:noFill/>
        </p:spPr>
        <p:txBody>
          <a:bodyPr wrap="square" rtlCol="0">
            <a:spAutoFit/>
          </a:bodyPr>
          <a:lstStyle/>
          <a:p>
            <a:pPr algn="just"/>
            <a:r>
              <a:rPr lang="en-US" sz="2160" dirty="0" smtClean="0">
                <a:latin typeface="Times New Roman" panose="02020603050405020304" pitchFamily="18" charset="0"/>
                <a:cs typeface="Times New Roman" panose="02020603050405020304" pitchFamily="18" charset="0"/>
              </a:rPr>
              <a:t>We first decided to use a Late Fusion Discriminative model as one of the baselines with which we would compare our other models to in terms of performance. This model has an LF Encoder which concatenates the individual representations of the questions and the images, and linearly transforms this input to a desired joint representation of features. The discriminative decoder computes the similarity between the input encoding and the GRU encoding of the answer options to get an evaluation metric.</a:t>
            </a:r>
          </a:p>
        </p:txBody>
      </p:sp>
      <p:sp>
        <p:nvSpPr>
          <p:cNvPr id="6" name="TextBox 5"/>
          <p:cNvSpPr txBox="1"/>
          <p:nvPr/>
        </p:nvSpPr>
        <p:spPr>
          <a:xfrm>
            <a:off x="896717" y="29482288"/>
            <a:ext cx="12300154" cy="2086725"/>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In this part, we implement the generative model with the attention-based word decoder. At every output step, the model produces a probability distribution over the next word conditioned on all the words seen previously. The context vector is produced by an attention mechanism, </a:t>
            </a:r>
            <a:r>
              <a:rPr lang="en-US" sz="2160" dirty="0" smtClean="0">
                <a:latin typeface="Times New Roman" charset="0"/>
                <a:ea typeface="Times New Roman" charset="0"/>
                <a:cs typeface="Times New Roman" charset="0"/>
              </a:rPr>
              <a:t>where the </a:t>
            </a:r>
            <a:r>
              <a:rPr lang="en-US" sz="2160" dirty="0">
                <a:latin typeface="Times New Roman" charset="0"/>
                <a:ea typeface="Times New Roman" charset="0"/>
                <a:cs typeface="Times New Roman" charset="0"/>
              </a:rPr>
              <a:t>question is converted with GRU and MLP while the image is segmented first then converted with MLP. With keys and values, and the transformation of encoder features, the contexts can be created. Then we concatenate these two parts and input them along with the hidden vector into the projection to get the final </a:t>
            </a:r>
            <a:r>
              <a:rPr lang="en-US" sz="2160" dirty="0" smtClean="0">
                <a:latin typeface="Times New Roman" charset="0"/>
                <a:ea typeface="Times New Roman" charset="0"/>
                <a:cs typeface="Times New Roman" charset="0"/>
              </a:rPr>
              <a:t>distribution.</a:t>
            </a:r>
          </a:p>
        </p:txBody>
      </p:sp>
      <p:sp>
        <p:nvSpPr>
          <p:cNvPr id="34" name="TextBox 33"/>
          <p:cNvSpPr txBox="1"/>
          <p:nvPr/>
        </p:nvSpPr>
        <p:spPr>
          <a:xfrm>
            <a:off x="881761" y="22630720"/>
            <a:ext cx="12300153" cy="1754326"/>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The sequential matching network is a new idea in turn-based dialog, whereby questions and answer options are matched in terms of how appropriate the response is to that particular question and image. The model first embeds and passes all three components through an </a:t>
            </a:r>
            <a:r>
              <a:rPr lang="en-US" sz="2160" dirty="0" smtClean="0">
                <a:latin typeface="Times New Roman" charset="0"/>
                <a:ea typeface="Times New Roman" charset="0"/>
                <a:cs typeface="Times New Roman" charset="0"/>
              </a:rPr>
              <a:t>GRU to </a:t>
            </a:r>
            <a:r>
              <a:rPr lang="en-US" sz="2160" dirty="0">
                <a:latin typeface="Times New Roman" charset="0"/>
                <a:ea typeface="Times New Roman" charset="0"/>
                <a:cs typeface="Times New Roman" charset="0"/>
              </a:rPr>
              <a:t>get a feature representation, then matches each answer to a question and image and scores how appropriate that answer is, after convolving, pooling, and concatenation</a:t>
            </a:r>
            <a:r>
              <a:rPr lang="en-US" sz="2160" dirty="0" smtClean="0">
                <a:latin typeface="Times New Roman" charset="0"/>
                <a:ea typeface="Times New Roman" charset="0"/>
                <a:cs typeface="Times New Roman" charset="0"/>
              </a:rPr>
              <a:t>.</a:t>
            </a:r>
            <a:endParaRPr lang="en-US" sz="2160" dirty="0">
              <a:latin typeface="Times New Roman" charset="0"/>
              <a:ea typeface="Times New Roman" charset="0"/>
              <a:cs typeface="Times New Roman" charset="0"/>
            </a:endParaRPr>
          </a:p>
        </p:txBody>
      </p:sp>
      <p:pic>
        <p:nvPicPr>
          <p:cNvPr id="11" name="Picture 10"/>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044657" y="8252586"/>
            <a:ext cx="12031101" cy="6271532"/>
          </a:xfrm>
          <a:prstGeom prst="rect">
            <a:avLst/>
          </a:prstGeom>
        </p:spPr>
      </p:pic>
      <p:sp>
        <p:nvSpPr>
          <p:cNvPr id="32" name="Text Placeholder 86"/>
          <p:cNvSpPr txBox="1">
            <a:spLocks/>
          </p:cNvSpPr>
          <p:nvPr/>
        </p:nvSpPr>
        <p:spPr>
          <a:xfrm>
            <a:off x="13856717" y="14044299"/>
            <a:ext cx="12955929" cy="139325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b="1" dirty="0" smtClean="0">
                <a:solidFill>
                  <a:schemeClr val="tx1"/>
                </a:solidFill>
              </a:rPr>
              <a:t>Evaluation</a:t>
            </a:r>
            <a:r>
              <a:rPr lang="en-US" dirty="0" smtClean="0">
                <a:solidFill>
                  <a:schemeClr val="tx1"/>
                </a:solidFill>
              </a:rPr>
              <a:t>: </a:t>
            </a:r>
            <a:r>
              <a:rPr lang="en-US" dirty="0">
                <a:solidFill>
                  <a:schemeClr val="tx1"/>
                </a:solidFill>
              </a:rPr>
              <a:t>Our baselines are based on Late Fusion, with the representation of questions and image. Compared to the </a:t>
            </a:r>
            <a:r>
              <a:rPr lang="en-US" dirty="0" smtClean="0">
                <a:solidFill>
                  <a:schemeClr val="tx1"/>
                </a:solidFill>
              </a:rPr>
              <a:t>discriminative baseline, our SMN method improves MRR by 0.18% and R@N by 0.31% on average. In the generative models, our best one improves MRR by 4.04% </a:t>
            </a:r>
            <a:r>
              <a:rPr lang="en-US" smtClean="0">
                <a:solidFill>
                  <a:schemeClr val="tx1"/>
                </a:solidFill>
              </a:rPr>
              <a:t>and R@N </a:t>
            </a:r>
            <a:r>
              <a:rPr lang="en-US" dirty="0" smtClean="0">
                <a:solidFill>
                  <a:schemeClr val="tx1"/>
                </a:solidFill>
              </a:rPr>
              <a:t>by 4.15%.</a:t>
            </a:r>
          </a:p>
        </p:txBody>
      </p:sp>
      <p:sp>
        <p:nvSpPr>
          <p:cNvPr id="7" name="TextBox 6"/>
          <p:cNvSpPr txBox="1"/>
          <p:nvPr/>
        </p:nvSpPr>
        <p:spPr>
          <a:xfrm>
            <a:off x="17664545" y="14713527"/>
            <a:ext cx="184731" cy="461665"/>
          </a:xfrm>
          <a:prstGeom prst="rect">
            <a:avLst/>
          </a:prstGeom>
          <a:noFill/>
        </p:spPr>
        <p:txBody>
          <a:bodyPr wrap="none" rtlCol="0">
            <a:spAutoFit/>
          </a:bodyPr>
          <a:lstStyle/>
          <a:p>
            <a:endParaRPr lang="en-US" sz="2400" dirty="0" smtClean="0">
              <a:latin typeface="Times New Roman" panose="02020603050405020304" pitchFamily="18" charset="0"/>
              <a:cs typeface="Times New Roman" panose="02020603050405020304" pitchFamily="18" charset="0"/>
            </a:endParaRPr>
          </a:p>
        </p:txBody>
      </p:sp>
      <p:pic>
        <p:nvPicPr>
          <p:cNvPr id="8" name="Picture 7"/>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288820" y="25197312"/>
            <a:ext cx="11325744" cy="4019967"/>
          </a:xfrm>
          <a:prstGeom prst="rect">
            <a:avLst/>
          </a:prstGeom>
        </p:spPr>
      </p:pic>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1555</TotalTime>
  <Words>1231</Words>
  <Application>Microsoft Macintosh PowerPoint</Application>
  <PresentationFormat>Custom</PresentationFormat>
  <Paragraphs>40</Paragraphs>
  <Slides>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9" baseType="lpstr">
      <vt:lpstr>Arial</vt:lpstr>
      <vt:lpstr>Calibri</vt:lpstr>
      <vt:lpstr>Times New Roman</vt:lpstr>
      <vt:lpstr>Trebuchet MS</vt:lpstr>
      <vt:lpstr>宋体</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Zhang Hanfu</cp:lastModifiedBy>
  <cp:revision>62</cp:revision>
  <dcterms:created xsi:type="dcterms:W3CDTF">2012-02-10T00:10:15Z</dcterms:created>
  <dcterms:modified xsi:type="dcterms:W3CDTF">2018-05-07T03:37:37Z</dcterms:modified>
</cp:coreProperties>
</file>